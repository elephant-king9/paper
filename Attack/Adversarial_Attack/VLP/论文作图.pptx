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9"/>
  </p:handoutMasterIdLst>
  <p:sldIdLst>
    <p:sldId id="258" r:id="rId3"/>
    <p:sldId id="256" r:id="rId4"/>
    <p:sldId id="257" r:id="rId6"/>
    <p:sldId id="259" r:id="rId7"/>
    <p:sldId id="260" r:id="rId8"/>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handoutMaster" Target="handoutMasters/handoutMaster1.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4.png"/><Relationship Id="rId7" Type="http://schemas.openxmlformats.org/officeDocument/2006/relationships/tags" Target="../tags/tag4.xml"/><Relationship Id="rId6" Type="http://schemas.openxmlformats.org/officeDocument/2006/relationships/image" Target="../media/image3.png"/><Relationship Id="rId5" Type="http://schemas.openxmlformats.org/officeDocument/2006/relationships/tags" Target="../tags/tag3.xml"/><Relationship Id="rId46" Type="http://schemas.openxmlformats.org/officeDocument/2006/relationships/slideLayout" Target="../slideLayouts/slideLayout1.xml"/><Relationship Id="rId45" Type="http://schemas.openxmlformats.org/officeDocument/2006/relationships/tags" Target="../tags/tag34.xml"/><Relationship Id="rId44" Type="http://schemas.openxmlformats.org/officeDocument/2006/relationships/tags" Target="../tags/tag33.xml"/><Relationship Id="rId43" Type="http://schemas.openxmlformats.org/officeDocument/2006/relationships/image" Target="../media/image11.png"/><Relationship Id="rId42" Type="http://schemas.openxmlformats.org/officeDocument/2006/relationships/tags" Target="../tags/tag32.xml"/><Relationship Id="rId41" Type="http://schemas.openxmlformats.org/officeDocument/2006/relationships/tags" Target="../tags/tag31.xml"/><Relationship Id="rId40" Type="http://schemas.openxmlformats.org/officeDocument/2006/relationships/image" Target="../media/image10.png"/><Relationship Id="rId4" Type="http://schemas.openxmlformats.org/officeDocument/2006/relationships/image" Target="../media/image2.png"/><Relationship Id="rId39" Type="http://schemas.openxmlformats.org/officeDocument/2006/relationships/tags" Target="../tags/tag30.xml"/><Relationship Id="rId38" Type="http://schemas.openxmlformats.org/officeDocument/2006/relationships/tags" Target="../tags/tag29.xml"/><Relationship Id="rId37" Type="http://schemas.openxmlformats.org/officeDocument/2006/relationships/image" Target="../media/image9.png"/><Relationship Id="rId36" Type="http://schemas.openxmlformats.org/officeDocument/2006/relationships/tags" Target="../tags/tag28.xml"/><Relationship Id="rId35" Type="http://schemas.openxmlformats.org/officeDocument/2006/relationships/tags" Target="../tags/tag27.xml"/><Relationship Id="rId34" Type="http://schemas.openxmlformats.org/officeDocument/2006/relationships/tags" Target="../tags/tag26.xml"/><Relationship Id="rId33" Type="http://schemas.openxmlformats.org/officeDocument/2006/relationships/tags" Target="../tags/tag25.xml"/><Relationship Id="rId32" Type="http://schemas.openxmlformats.org/officeDocument/2006/relationships/tags" Target="../tags/tag24.xml"/><Relationship Id="rId31" Type="http://schemas.openxmlformats.org/officeDocument/2006/relationships/image" Target="../media/image8.png"/><Relationship Id="rId30" Type="http://schemas.openxmlformats.org/officeDocument/2006/relationships/tags" Target="../tags/tag23.xml"/><Relationship Id="rId3" Type="http://schemas.openxmlformats.org/officeDocument/2006/relationships/tags" Target="../tags/tag2.xml"/><Relationship Id="rId29" Type="http://schemas.openxmlformats.org/officeDocument/2006/relationships/tags" Target="../tags/tag22.xml"/><Relationship Id="rId28" Type="http://schemas.openxmlformats.org/officeDocument/2006/relationships/tags" Target="../tags/tag21.xml"/><Relationship Id="rId27" Type="http://schemas.openxmlformats.org/officeDocument/2006/relationships/tags" Target="../tags/tag20.xml"/><Relationship Id="rId26" Type="http://schemas.openxmlformats.org/officeDocument/2006/relationships/tags" Target="../tags/tag19.xml"/><Relationship Id="rId25" Type="http://schemas.openxmlformats.org/officeDocument/2006/relationships/tags" Target="../tags/tag18.xml"/><Relationship Id="rId24" Type="http://schemas.openxmlformats.org/officeDocument/2006/relationships/tags" Target="../tags/tag17.xml"/><Relationship Id="rId23" Type="http://schemas.openxmlformats.org/officeDocument/2006/relationships/tags" Target="../tags/tag16.xml"/><Relationship Id="rId22" Type="http://schemas.openxmlformats.org/officeDocument/2006/relationships/tags" Target="../tags/tag15.xml"/><Relationship Id="rId21" Type="http://schemas.openxmlformats.org/officeDocument/2006/relationships/tags" Target="../tags/tag14.xml"/><Relationship Id="rId20" Type="http://schemas.openxmlformats.org/officeDocument/2006/relationships/tags" Target="../tags/tag13.xml"/><Relationship Id="rId2" Type="http://schemas.openxmlformats.org/officeDocument/2006/relationships/image" Target="../media/image1.png"/><Relationship Id="rId19" Type="http://schemas.openxmlformats.org/officeDocument/2006/relationships/tags" Target="../tags/tag12.xml"/><Relationship Id="rId18" Type="http://schemas.openxmlformats.org/officeDocument/2006/relationships/image" Target="../media/image7.png"/><Relationship Id="rId17" Type="http://schemas.openxmlformats.org/officeDocument/2006/relationships/tags" Target="../tags/tag11.xml"/><Relationship Id="rId16" Type="http://schemas.openxmlformats.org/officeDocument/2006/relationships/tags" Target="../tags/tag10.xml"/><Relationship Id="rId15" Type="http://schemas.openxmlformats.org/officeDocument/2006/relationships/tags" Target="../tags/tag9.xml"/><Relationship Id="rId14" Type="http://schemas.openxmlformats.org/officeDocument/2006/relationships/image" Target="../media/image6.png"/><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tags" Target="../tags/tag6.xml"/><Relationship Id="rId10" Type="http://schemas.openxmlformats.org/officeDocument/2006/relationships/image" Target="../media/image5.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7" Type="http://schemas.openxmlformats.org/officeDocument/2006/relationships/notesSlide" Target="../notesSlides/notesSlide2.xml"/><Relationship Id="rId36" Type="http://schemas.openxmlformats.org/officeDocument/2006/relationships/slideLayout" Target="../slideLayouts/slideLayout1.xml"/><Relationship Id="rId35" Type="http://schemas.openxmlformats.org/officeDocument/2006/relationships/tags" Target="../tags/tag64.xml"/><Relationship Id="rId34" Type="http://schemas.openxmlformats.org/officeDocument/2006/relationships/tags" Target="../tags/tag63.xml"/><Relationship Id="rId33" Type="http://schemas.openxmlformats.org/officeDocument/2006/relationships/tags" Target="../tags/tag62.xml"/><Relationship Id="rId32" Type="http://schemas.openxmlformats.org/officeDocument/2006/relationships/tags" Target="../tags/tag61.xml"/><Relationship Id="rId31" Type="http://schemas.openxmlformats.org/officeDocument/2006/relationships/tags" Target="../tags/tag60.xml"/><Relationship Id="rId30" Type="http://schemas.openxmlformats.org/officeDocument/2006/relationships/tags" Target="../tags/tag59.xml"/><Relationship Id="rId3" Type="http://schemas.openxmlformats.org/officeDocument/2006/relationships/tags" Target="../tags/tag36.xml"/><Relationship Id="rId29" Type="http://schemas.openxmlformats.org/officeDocument/2006/relationships/tags" Target="../tags/tag58.xml"/><Relationship Id="rId28" Type="http://schemas.openxmlformats.org/officeDocument/2006/relationships/tags" Target="../tags/tag57.xml"/><Relationship Id="rId27" Type="http://schemas.openxmlformats.org/officeDocument/2006/relationships/tags" Target="../tags/tag56.xml"/><Relationship Id="rId26" Type="http://schemas.openxmlformats.org/officeDocument/2006/relationships/tags" Target="../tags/tag55.xml"/><Relationship Id="rId25" Type="http://schemas.openxmlformats.org/officeDocument/2006/relationships/tags" Target="../tags/tag54.xml"/><Relationship Id="rId24" Type="http://schemas.openxmlformats.org/officeDocument/2006/relationships/tags" Target="../tags/tag53.xml"/><Relationship Id="rId23" Type="http://schemas.openxmlformats.org/officeDocument/2006/relationships/tags" Target="../tags/tag52.xml"/><Relationship Id="rId22" Type="http://schemas.openxmlformats.org/officeDocument/2006/relationships/tags" Target="../tags/tag51.xml"/><Relationship Id="rId21" Type="http://schemas.openxmlformats.org/officeDocument/2006/relationships/tags" Target="../tags/tag50.xml"/><Relationship Id="rId20" Type="http://schemas.openxmlformats.org/officeDocument/2006/relationships/tags" Target="../tags/tag49.xml"/><Relationship Id="rId2" Type="http://schemas.openxmlformats.org/officeDocument/2006/relationships/image" Target="../media/image12.png"/><Relationship Id="rId19" Type="http://schemas.openxmlformats.org/officeDocument/2006/relationships/image" Target="../media/image16.png"/><Relationship Id="rId18" Type="http://schemas.openxmlformats.org/officeDocument/2006/relationships/tags" Target="../tags/tag48.xml"/><Relationship Id="rId17" Type="http://schemas.openxmlformats.org/officeDocument/2006/relationships/image" Target="../media/image15.png"/><Relationship Id="rId16" Type="http://schemas.openxmlformats.org/officeDocument/2006/relationships/tags" Target="../tags/tag47.xml"/><Relationship Id="rId15" Type="http://schemas.openxmlformats.org/officeDocument/2006/relationships/image" Target="../media/image14.png"/><Relationship Id="rId14" Type="http://schemas.openxmlformats.org/officeDocument/2006/relationships/tags" Target="../tags/tag46.xml"/><Relationship Id="rId13" Type="http://schemas.openxmlformats.org/officeDocument/2006/relationships/image" Target="../media/image13.png"/><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image" Target="../media/image19.png"/><Relationship Id="rId5" Type="http://schemas.openxmlformats.org/officeDocument/2006/relationships/tags" Target="../tags/tag67.xml"/><Relationship Id="rId4" Type="http://schemas.openxmlformats.org/officeDocument/2006/relationships/image" Target="../media/image18.png"/><Relationship Id="rId3" Type="http://schemas.openxmlformats.org/officeDocument/2006/relationships/tags" Target="../tags/tag66.xml"/><Relationship Id="rId22" Type="http://schemas.openxmlformats.org/officeDocument/2006/relationships/slideLayout" Target="../slideLayouts/slideLayout1.xml"/><Relationship Id="rId21" Type="http://schemas.openxmlformats.org/officeDocument/2006/relationships/tags" Target="../tags/tag80.xml"/><Relationship Id="rId20" Type="http://schemas.openxmlformats.org/officeDocument/2006/relationships/tags" Target="../tags/tag79.xml"/><Relationship Id="rId2" Type="http://schemas.openxmlformats.org/officeDocument/2006/relationships/image" Target="../media/image17.png"/><Relationship Id="rId19" Type="http://schemas.openxmlformats.org/officeDocument/2006/relationships/tags" Target="../tags/tag78.xml"/><Relationship Id="rId18" Type="http://schemas.openxmlformats.org/officeDocument/2006/relationships/tags" Target="../tags/tag77.xml"/><Relationship Id="rId17" Type="http://schemas.openxmlformats.org/officeDocument/2006/relationships/tags" Target="../tags/tag76.xml"/><Relationship Id="rId16" Type="http://schemas.openxmlformats.org/officeDocument/2006/relationships/tags" Target="../tags/tag75.xml"/><Relationship Id="rId15" Type="http://schemas.openxmlformats.org/officeDocument/2006/relationships/tags" Target="../tags/tag74.xml"/><Relationship Id="rId14" Type="http://schemas.openxmlformats.org/officeDocument/2006/relationships/tags" Target="../tags/tag73.xml"/><Relationship Id="rId13" Type="http://schemas.openxmlformats.org/officeDocument/2006/relationships/tags" Target="../tags/tag72.xml"/><Relationship Id="rId12" Type="http://schemas.openxmlformats.org/officeDocument/2006/relationships/image" Target="../media/image21.png"/><Relationship Id="rId11" Type="http://schemas.openxmlformats.org/officeDocument/2006/relationships/tags" Target="../tags/tag71.xml"/><Relationship Id="rId10" Type="http://schemas.openxmlformats.org/officeDocument/2006/relationships/image" Target="../media/image20.png"/><Relationship Id="rId1" Type="http://schemas.openxmlformats.org/officeDocument/2006/relationships/tags" Target="../tags/tag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stretch>
            <a:fillRect/>
          </a:stretch>
        </p:blipFill>
        <p:spPr>
          <a:xfrm>
            <a:off x="7620" y="5715"/>
            <a:ext cx="685800" cy="43180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20" y="379095"/>
            <a:ext cx="698500" cy="406400"/>
          </a:xfrm>
          <a:prstGeom prst="rect">
            <a:avLst/>
          </a:prstGeom>
        </p:spPr>
      </p:pic>
      <p:pic>
        <p:nvPicPr>
          <p:cNvPr id="6" name="图片 5"/>
          <p:cNvPicPr>
            <a:picLocks noChangeAspect="1"/>
          </p:cNvPicPr>
          <p:nvPr>
            <p:custDataLst>
              <p:tags r:id="rId5"/>
            </p:custDataLst>
          </p:nvPr>
        </p:nvPicPr>
        <p:blipFill>
          <a:blip r:embed="rId6"/>
          <a:stretch>
            <a:fillRect/>
          </a:stretch>
        </p:blipFill>
        <p:spPr>
          <a:xfrm>
            <a:off x="7620" y="1737995"/>
            <a:ext cx="749300" cy="393700"/>
          </a:xfrm>
          <a:prstGeom prst="rect">
            <a:avLst/>
          </a:prstGeom>
        </p:spPr>
      </p:pic>
      <p:pic>
        <p:nvPicPr>
          <p:cNvPr id="7" name="图片 6"/>
          <p:cNvPicPr>
            <a:picLocks noChangeAspect="1"/>
          </p:cNvPicPr>
          <p:nvPr>
            <p:custDataLst>
              <p:tags r:id="rId7"/>
            </p:custDataLst>
          </p:nvPr>
        </p:nvPicPr>
        <p:blipFill>
          <a:blip r:embed="rId8"/>
          <a:stretch>
            <a:fillRect/>
          </a:stretch>
        </p:blipFill>
        <p:spPr>
          <a:xfrm>
            <a:off x="7620" y="1306195"/>
            <a:ext cx="749300" cy="330200"/>
          </a:xfrm>
          <a:prstGeom prst="rect">
            <a:avLst/>
          </a:prstGeom>
        </p:spPr>
      </p:pic>
      <p:pic>
        <p:nvPicPr>
          <p:cNvPr id="8" name="图片 7"/>
          <p:cNvPicPr>
            <a:picLocks noChangeAspect="1"/>
          </p:cNvPicPr>
          <p:nvPr>
            <p:custDataLst>
              <p:tags r:id="rId9"/>
            </p:custDataLst>
          </p:nvPr>
        </p:nvPicPr>
        <p:blipFill>
          <a:blip r:embed="rId10"/>
          <a:stretch>
            <a:fillRect/>
          </a:stretch>
        </p:blipFill>
        <p:spPr>
          <a:xfrm>
            <a:off x="7620" y="856615"/>
            <a:ext cx="800100" cy="381000"/>
          </a:xfrm>
          <a:prstGeom prst="rect">
            <a:avLst/>
          </a:prstGeom>
        </p:spPr>
      </p:pic>
      <p:sp>
        <p:nvSpPr>
          <p:cNvPr id="9" name="文本框 8"/>
          <p:cNvSpPr txBox="1"/>
          <p:nvPr>
            <p:custDataLst>
              <p:tags r:id="rId11"/>
            </p:custDataLst>
          </p:nvPr>
        </p:nvSpPr>
        <p:spPr>
          <a:xfrm>
            <a:off x="17145" y="348615"/>
            <a:ext cx="5424805" cy="548640"/>
          </a:xfrm>
          <a:prstGeom prst="rect">
            <a:avLst/>
          </a:prstGeom>
          <a:noFill/>
        </p:spPr>
        <p:txBody>
          <a:bodyPr wrap="square" rtlCol="0">
            <a:noAutofit/>
          </a:bodyPr>
          <a:p>
            <a:pPr algn="ctr"/>
            <a:r>
              <a:rPr lang="zh-CN" altLang="en-US" sz="1200" b="1">
                <a:latin typeface="微软雅黑" charset="0"/>
                <a:ea typeface="微软雅黑" charset="0"/>
                <a:cs typeface="微软雅黑" charset="0"/>
              </a:rPr>
              <a:t>我们认为对潜变量</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的先验假设</a:t>
            </a:r>
            <a:r>
              <a:rPr lang="en-US" altLang="zh-CN" sz="1200" b="1">
                <a:latin typeface="微软雅黑" charset="0"/>
                <a:ea typeface="微软雅黑" charset="0"/>
                <a:cs typeface="微软雅黑" charset="0"/>
              </a:rPr>
              <a:t>(</a:t>
            </a:r>
            <a:r>
              <a:rPr lang="zh-CN" altLang="en-US" sz="1200" b="1">
                <a:latin typeface="微软雅黑" charset="0"/>
                <a:ea typeface="微软雅黑" charset="0"/>
                <a:cs typeface="微软雅黑" charset="0"/>
              </a:rPr>
              <a:t>在我不知道</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的时候先猜一个</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出来</a:t>
            </a:r>
            <a:r>
              <a:rPr lang="en-US" altLang="zh-CN" sz="1200" b="1">
                <a:latin typeface="微软雅黑" charset="0"/>
                <a:ea typeface="微软雅黑" charset="0"/>
                <a:cs typeface="微软雅黑" charset="0"/>
              </a:rPr>
              <a:t>)</a:t>
            </a:r>
            <a:br>
              <a:rPr lang="en-US" altLang="zh-CN" sz="1200" b="1">
                <a:latin typeface="微软雅黑" charset="0"/>
                <a:ea typeface="微软雅黑" charset="0"/>
                <a:cs typeface="微软雅黑" charset="0"/>
              </a:rPr>
            </a:br>
            <a:r>
              <a:rPr lang="zh-CN" altLang="en-US" sz="1200" b="1">
                <a:latin typeface="微软雅黑" charset="0"/>
                <a:ea typeface="微软雅黑" charset="0"/>
                <a:cs typeface="微软雅黑" charset="0"/>
              </a:rPr>
              <a:t>通常是标准的正态分布</a:t>
            </a:r>
            <a:endParaRPr lang="zh-CN" altLang="en-US" sz="1200" b="1">
              <a:latin typeface="微软雅黑" charset="0"/>
              <a:ea typeface="微软雅黑" charset="0"/>
              <a:cs typeface="微软雅黑" charset="0"/>
            </a:endParaRPr>
          </a:p>
        </p:txBody>
      </p:sp>
      <p:sp>
        <p:nvSpPr>
          <p:cNvPr id="10" name="文本框 9"/>
          <p:cNvSpPr txBox="1"/>
          <p:nvPr>
            <p:custDataLst>
              <p:tags r:id="rId12"/>
            </p:custDataLst>
          </p:nvPr>
        </p:nvSpPr>
        <p:spPr>
          <a:xfrm>
            <a:off x="201295" y="102235"/>
            <a:ext cx="4068445" cy="548640"/>
          </a:xfrm>
          <a:prstGeom prst="rect">
            <a:avLst/>
          </a:prstGeom>
          <a:noFill/>
        </p:spPr>
        <p:txBody>
          <a:bodyPr wrap="square" rtlCol="0">
            <a:noAutofit/>
          </a:bodyPr>
          <a:p>
            <a:pPr algn="ctr"/>
            <a:r>
              <a:rPr lang="zh-CN" altLang="en-US" sz="1200" b="1">
                <a:latin typeface="微软雅黑" charset="0"/>
                <a:ea typeface="微软雅黑" charset="0"/>
                <a:cs typeface="微软雅黑" charset="0"/>
              </a:rPr>
              <a:t>整张图像 x 在你学习的生成模型中出现的可能性</a:t>
            </a:r>
            <a:endParaRPr lang="zh-CN" altLang="en-US" sz="1200" b="1">
              <a:latin typeface="微软雅黑" charset="0"/>
              <a:ea typeface="微软雅黑" charset="0"/>
              <a:cs typeface="微软雅黑" charset="0"/>
            </a:endParaRPr>
          </a:p>
        </p:txBody>
      </p:sp>
      <p:pic>
        <p:nvPicPr>
          <p:cNvPr id="14" name="图片 13"/>
          <p:cNvPicPr>
            <a:picLocks noChangeAspect="1"/>
          </p:cNvPicPr>
          <p:nvPr>
            <p:custDataLst>
              <p:tags r:id="rId13"/>
            </p:custDataLst>
          </p:nvPr>
        </p:nvPicPr>
        <p:blipFill>
          <a:blip r:embed="rId14"/>
          <a:stretch>
            <a:fillRect/>
          </a:stretch>
        </p:blipFill>
        <p:spPr>
          <a:xfrm>
            <a:off x="5015865" y="172085"/>
            <a:ext cx="2413000" cy="355600"/>
          </a:xfrm>
          <a:prstGeom prst="rect">
            <a:avLst/>
          </a:prstGeom>
        </p:spPr>
      </p:pic>
      <p:sp>
        <p:nvSpPr>
          <p:cNvPr id="15" name="文本框 14"/>
          <p:cNvSpPr txBox="1"/>
          <p:nvPr>
            <p:custDataLst>
              <p:tags r:id="rId15"/>
            </p:custDataLst>
          </p:nvPr>
        </p:nvSpPr>
        <p:spPr>
          <a:xfrm>
            <a:off x="7174865" y="84455"/>
            <a:ext cx="5037455" cy="548640"/>
          </a:xfrm>
          <a:prstGeom prst="rect">
            <a:avLst/>
          </a:prstGeom>
          <a:noFill/>
        </p:spPr>
        <p:txBody>
          <a:bodyPr wrap="square" rtlCol="0">
            <a:noAutofit/>
          </a:bodyPr>
          <a:p>
            <a:pPr algn="ctr"/>
            <a:r>
              <a:rPr lang="zh-CN" altLang="en-US" sz="1200" b="1">
                <a:latin typeface="微软雅黑" charset="0"/>
                <a:ea typeface="微软雅黑" charset="0"/>
                <a:cs typeface="微软雅黑" charset="0"/>
              </a:rPr>
              <a:t>图像</a:t>
            </a:r>
            <a:r>
              <a:rPr lang="en-US" altLang="zh-CN" sz="1200" b="1">
                <a:latin typeface="微软雅黑" charset="0"/>
                <a:ea typeface="微软雅黑" charset="0"/>
                <a:cs typeface="微软雅黑" charset="0"/>
              </a:rPr>
              <a:t>x</a:t>
            </a:r>
            <a:r>
              <a:rPr lang="zh-CN" altLang="en-US" sz="1200" b="1">
                <a:latin typeface="微软雅黑" charset="0"/>
                <a:ea typeface="微软雅黑" charset="0"/>
                <a:cs typeface="微软雅黑" charset="0"/>
              </a:rPr>
              <a:t>生成的概率根据所有的</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生成</a:t>
            </a:r>
            <a:r>
              <a:rPr lang="en-US" altLang="zh-CN" sz="1200" b="1">
                <a:latin typeface="微软雅黑" charset="0"/>
                <a:ea typeface="微软雅黑" charset="0"/>
                <a:cs typeface="微软雅黑" charset="0"/>
              </a:rPr>
              <a:t>x</a:t>
            </a:r>
            <a:r>
              <a:rPr lang="zh-CN" altLang="en-US" sz="1200" b="1">
                <a:latin typeface="微软雅黑" charset="0"/>
                <a:ea typeface="微软雅黑" charset="0"/>
                <a:cs typeface="微软雅黑" charset="0"/>
              </a:rPr>
              <a:t>的概率的积分</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遍历所有可能的</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灰色，坐着</a:t>
            </a:r>
            <a:r>
              <a:rPr lang="en-US" altLang="zh-CN" sz="1200" b="1">
                <a:latin typeface="微软雅黑" charset="0"/>
                <a:ea typeface="微软雅黑" charset="0"/>
                <a:cs typeface="微软雅黑" charset="0"/>
              </a:rPr>
              <a:t>],[</a:t>
            </a:r>
            <a:r>
              <a:rPr lang="zh-CN" altLang="en-US" sz="1200" b="1">
                <a:latin typeface="微软雅黑" charset="0"/>
                <a:ea typeface="微软雅黑" charset="0"/>
                <a:cs typeface="微软雅黑" charset="0"/>
              </a:rPr>
              <a:t>灰色，站着</a:t>
            </a:r>
            <a:r>
              <a:rPr lang="en-US" altLang="zh-CN" sz="1200" b="1">
                <a:latin typeface="微软雅黑" charset="0"/>
                <a:ea typeface="微软雅黑" charset="0"/>
                <a:cs typeface="微软雅黑" charset="0"/>
              </a:rPr>
              <a:t>]...</a:t>
            </a:r>
            <a:r>
              <a:rPr lang="zh-CN" altLang="en-US" sz="1200" b="1">
                <a:latin typeface="微软雅黑" charset="0"/>
                <a:ea typeface="微软雅黑" charset="0"/>
                <a:cs typeface="微软雅黑" charset="0"/>
              </a:rPr>
              <a:t>看看这些</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哪些有概率能生成当前的图像</a:t>
            </a:r>
            <a:r>
              <a:rPr lang="en-US" altLang="zh-CN" sz="1200" b="1">
                <a:latin typeface="微软雅黑" charset="0"/>
                <a:ea typeface="微软雅黑" charset="0"/>
                <a:cs typeface="微软雅黑" charset="0"/>
              </a:rPr>
              <a:t>x</a:t>
            </a:r>
            <a:r>
              <a:rPr lang="zh-CN" altLang="en-US" sz="1200" b="1">
                <a:latin typeface="微软雅黑" charset="0"/>
                <a:ea typeface="微软雅黑" charset="0"/>
                <a:cs typeface="微软雅黑" charset="0"/>
              </a:rPr>
              <a:t>，求所有能生成的概率的积分</a:t>
            </a:r>
            <a:endParaRPr lang="zh-CN" altLang="en-US" sz="1200" b="1">
              <a:latin typeface="微软雅黑" charset="0"/>
              <a:ea typeface="微软雅黑" charset="0"/>
              <a:cs typeface="微软雅黑" charset="0"/>
            </a:endParaRPr>
          </a:p>
        </p:txBody>
      </p:sp>
      <p:sp>
        <p:nvSpPr>
          <p:cNvPr id="16" name="文本框 15"/>
          <p:cNvSpPr txBox="1"/>
          <p:nvPr>
            <p:custDataLst>
              <p:tags r:id="rId16"/>
            </p:custDataLst>
          </p:nvPr>
        </p:nvSpPr>
        <p:spPr>
          <a:xfrm>
            <a:off x="8705850" y="838835"/>
            <a:ext cx="3463290" cy="355600"/>
          </a:xfrm>
          <a:prstGeom prst="rect">
            <a:avLst/>
          </a:prstGeom>
          <a:noFill/>
        </p:spPr>
        <p:txBody>
          <a:bodyPr wrap="square" rtlCol="0">
            <a:noAutofit/>
          </a:bodyPr>
          <a:p>
            <a:pPr algn="ctr"/>
            <a:r>
              <a:rPr lang="zh-CN" altLang="en-US" sz="1200" b="1">
                <a:latin typeface="微软雅黑" charset="0"/>
                <a:ea typeface="微软雅黑" charset="0"/>
                <a:cs typeface="微软雅黑" charset="0"/>
              </a:rPr>
              <a:t>给定潜变量 z，生成图像 x 的概率 </a:t>
            </a:r>
            <a:r>
              <a:rPr lang="en-US" altLang="zh-CN" sz="1200" b="1">
                <a:latin typeface="微软雅黑" charset="0"/>
                <a:ea typeface="微软雅黑" charset="0"/>
                <a:cs typeface="微软雅黑" charset="0"/>
              </a:rPr>
              <a:t>*</a:t>
            </a:r>
            <a:r>
              <a:rPr lang="zh-CN" altLang="en-US" sz="1200" b="1">
                <a:latin typeface="微软雅黑" charset="0"/>
                <a:ea typeface="微软雅黑" charset="0"/>
                <a:cs typeface="微软雅黑" charset="0"/>
              </a:rPr>
              <a:t> 这个潜变量本身出现的概率</a:t>
            </a:r>
            <a:endParaRPr lang="zh-CN" altLang="en-US" sz="1200" b="1">
              <a:latin typeface="微软雅黑" charset="0"/>
              <a:ea typeface="微软雅黑" charset="0"/>
              <a:cs typeface="微软雅黑" charset="0"/>
            </a:endParaRPr>
          </a:p>
        </p:txBody>
      </p:sp>
      <p:pic>
        <p:nvPicPr>
          <p:cNvPr id="17" name="图片 16"/>
          <p:cNvPicPr>
            <a:picLocks noChangeAspect="1"/>
          </p:cNvPicPr>
          <p:nvPr>
            <p:custDataLst>
              <p:tags r:id="rId17"/>
            </p:custDataLst>
          </p:nvPr>
        </p:nvPicPr>
        <p:blipFill>
          <a:blip r:embed="rId18"/>
          <a:stretch>
            <a:fillRect/>
          </a:stretch>
        </p:blipFill>
        <p:spPr>
          <a:xfrm>
            <a:off x="6647815" y="874395"/>
            <a:ext cx="2057400" cy="355600"/>
          </a:xfrm>
          <a:prstGeom prst="rect">
            <a:avLst/>
          </a:prstGeom>
        </p:spPr>
      </p:pic>
      <p:sp>
        <p:nvSpPr>
          <p:cNvPr id="18" name="文本框 17"/>
          <p:cNvSpPr txBox="1"/>
          <p:nvPr>
            <p:custDataLst>
              <p:tags r:id="rId19"/>
            </p:custDataLst>
          </p:nvPr>
        </p:nvSpPr>
        <p:spPr>
          <a:xfrm>
            <a:off x="539115" y="901065"/>
            <a:ext cx="5857875" cy="548640"/>
          </a:xfrm>
          <a:prstGeom prst="rect">
            <a:avLst/>
          </a:prstGeom>
          <a:noFill/>
        </p:spPr>
        <p:txBody>
          <a:bodyPr wrap="square" rtlCol="0">
            <a:noAutofit/>
          </a:bodyPr>
          <a:p>
            <a:pPr algn="ctr"/>
            <a:r>
              <a:rPr lang="zh-CN" altLang="en-US" sz="1200" b="1">
                <a:latin typeface="微软雅黑" charset="0"/>
                <a:ea typeface="微软雅黑" charset="0"/>
                <a:cs typeface="微软雅黑" charset="0"/>
              </a:rPr>
              <a:t>图像</a:t>
            </a:r>
            <a:r>
              <a:rPr lang="en-US" altLang="zh-CN" sz="1200" b="1">
                <a:latin typeface="微软雅黑" charset="0"/>
                <a:ea typeface="微软雅黑" charset="0"/>
                <a:cs typeface="微软雅黑" charset="0"/>
              </a:rPr>
              <a:t>x</a:t>
            </a:r>
            <a:r>
              <a:rPr lang="zh-CN" altLang="en-US" sz="1200" b="1">
                <a:latin typeface="微软雅黑" charset="0"/>
                <a:ea typeface="微软雅黑" charset="0"/>
                <a:cs typeface="微软雅黑" charset="0"/>
              </a:rPr>
              <a:t>和潜变量</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的联合发生概率，描述同时出现</a:t>
            </a:r>
            <a:r>
              <a:rPr lang="en-US" altLang="zh-CN" sz="1200" b="1">
                <a:latin typeface="微软雅黑" charset="0"/>
                <a:ea typeface="微软雅黑" charset="0"/>
                <a:cs typeface="微软雅黑" charset="0"/>
              </a:rPr>
              <a:t>x</a:t>
            </a:r>
            <a:r>
              <a:rPr lang="zh-CN" altLang="en-US" sz="1200" b="1">
                <a:latin typeface="微软雅黑" charset="0"/>
                <a:ea typeface="微软雅黑" charset="0"/>
                <a:cs typeface="微软雅黑" charset="0"/>
              </a:rPr>
              <a:t>和</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这</a:t>
            </a:r>
            <a:r>
              <a:rPr lang="zh-CN" altLang="en-US" sz="1200" b="1">
                <a:latin typeface="微软雅黑" charset="0"/>
                <a:ea typeface="微软雅黑" charset="0"/>
                <a:cs typeface="微软雅黑" charset="0"/>
              </a:rPr>
              <a:t>对组合的</a:t>
            </a:r>
            <a:r>
              <a:rPr lang="zh-CN" altLang="en-US" sz="1200" b="1">
                <a:latin typeface="微软雅黑" charset="0"/>
                <a:ea typeface="微软雅黑" charset="0"/>
                <a:cs typeface="微软雅黑" charset="0"/>
              </a:rPr>
              <a:t>可能性</a:t>
            </a:r>
            <a:endParaRPr lang="zh-CN" altLang="en-US" sz="1200" b="1">
              <a:latin typeface="微软雅黑" charset="0"/>
              <a:ea typeface="微软雅黑" charset="0"/>
              <a:cs typeface="微软雅黑" charset="0"/>
            </a:endParaRPr>
          </a:p>
        </p:txBody>
      </p:sp>
      <p:sp>
        <p:nvSpPr>
          <p:cNvPr id="19" name="矩形: 圆角 36"/>
          <p:cNvSpPr/>
          <p:nvPr>
            <p:custDataLst>
              <p:tags r:id="rId20"/>
            </p:custDataLst>
          </p:nvPr>
        </p:nvSpPr>
        <p:spPr>
          <a:xfrm rot="10800000" flipV="1">
            <a:off x="28575" y="387985"/>
            <a:ext cx="4987290" cy="39370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矩形: 圆角 36"/>
          <p:cNvSpPr/>
          <p:nvPr>
            <p:custDataLst>
              <p:tags r:id="rId21"/>
            </p:custDataLst>
          </p:nvPr>
        </p:nvSpPr>
        <p:spPr>
          <a:xfrm rot="10800000" flipV="1">
            <a:off x="28575" y="6985"/>
            <a:ext cx="4987290" cy="39370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7" name="组合 26"/>
          <p:cNvGrpSpPr/>
          <p:nvPr/>
        </p:nvGrpSpPr>
        <p:grpSpPr>
          <a:xfrm>
            <a:off x="28575" y="1258570"/>
            <a:ext cx="7143115" cy="548640"/>
            <a:chOff x="45" y="1182"/>
            <a:chExt cx="11249" cy="864"/>
          </a:xfrm>
        </p:grpSpPr>
        <p:sp>
          <p:nvSpPr>
            <p:cNvPr id="11" name="文本框 10"/>
            <p:cNvSpPr txBox="1"/>
            <p:nvPr>
              <p:custDataLst>
                <p:tags r:id="rId22"/>
              </p:custDataLst>
            </p:nvPr>
          </p:nvSpPr>
          <p:spPr>
            <a:xfrm>
              <a:off x="252" y="1182"/>
              <a:ext cx="11042" cy="864"/>
            </a:xfrm>
            <a:prstGeom prst="rect">
              <a:avLst/>
            </a:prstGeom>
            <a:noFill/>
          </p:spPr>
          <p:txBody>
            <a:bodyPr wrap="square" rtlCol="0">
              <a:noAutofit/>
            </a:bodyPr>
            <a:p>
              <a:pPr algn="ctr"/>
              <a:r>
                <a:rPr sz="1200" b="1">
                  <a:latin typeface="微软雅黑" charset="0"/>
                  <a:ea typeface="微软雅黑" charset="0"/>
                  <a:cs typeface="微软雅黑" charset="0"/>
                </a:rPr>
                <a:t>给定图像 x，在当前生成模型下，某个潜在变量 z 是“解释”这张图像的可能性的大小。</a:t>
              </a:r>
              <a:endParaRPr sz="1200" b="1">
                <a:latin typeface="微软雅黑" charset="0"/>
                <a:ea typeface="微软雅黑" charset="0"/>
                <a:cs typeface="微软雅黑" charset="0"/>
              </a:endParaRPr>
            </a:p>
            <a:p>
              <a:pPr algn="ctr"/>
              <a:r>
                <a:rPr sz="1200" b="1">
                  <a:latin typeface="微软雅黑" charset="0"/>
                  <a:ea typeface="微软雅黑" charset="0"/>
                  <a:cs typeface="微软雅黑" charset="0"/>
                </a:rPr>
                <a:t>给定这张猫的图片 x，</a:t>
              </a:r>
              <a:r>
                <a:rPr lang="zh-CN" sz="1200" b="1">
                  <a:latin typeface="微软雅黑" charset="0"/>
                  <a:ea typeface="微软雅黑" charset="0"/>
                  <a:cs typeface="微软雅黑" charset="0"/>
                </a:rPr>
                <a:t>如果要生成这张图的</a:t>
              </a:r>
              <a:r>
                <a:rPr sz="1200" b="1">
                  <a:latin typeface="微软雅黑" charset="0"/>
                  <a:ea typeface="微软雅黑" charset="0"/>
                  <a:cs typeface="微软雅黑" charset="0"/>
                </a:rPr>
                <a:t>潜在特征是 z =[灰色, 坐着] 的概率有多大</a:t>
              </a:r>
              <a:endParaRPr sz="1200" b="1">
                <a:latin typeface="微软雅黑" charset="0"/>
                <a:ea typeface="微软雅黑" charset="0"/>
                <a:cs typeface="微软雅黑" charset="0"/>
              </a:endParaRPr>
            </a:p>
          </p:txBody>
        </p:sp>
        <p:sp>
          <p:nvSpPr>
            <p:cNvPr id="21" name="矩形: 圆角 36"/>
            <p:cNvSpPr/>
            <p:nvPr>
              <p:custDataLst>
                <p:tags r:id="rId23"/>
              </p:custDataLst>
            </p:nvPr>
          </p:nvSpPr>
          <p:spPr>
            <a:xfrm rot="10800000" flipV="1">
              <a:off x="45" y="1211"/>
              <a:ext cx="10424" cy="62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6" name="组合 25"/>
          <p:cNvGrpSpPr/>
          <p:nvPr/>
        </p:nvGrpSpPr>
        <p:grpSpPr>
          <a:xfrm>
            <a:off x="28575" y="1712595"/>
            <a:ext cx="7229475" cy="548640"/>
            <a:chOff x="45" y="1897"/>
            <a:chExt cx="11385" cy="864"/>
          </a:xfrm>
        </p:grpSpPr>
        <p:sp>
          <p:nvSpPr>
            <p:cNvPr id="12" name="文本框 11"/>
            <p:cNvSpPr txBox="1"/>
            <p:nvPr>
              <p:custDataLst>
                <p:tags r:id="rId24"/>
              </p:custDataLst>
            </p:nvPr>
          </p:nvSpPr>
          <p:spPr>
            <a:xfrm>
              <a:off x="52" y="1897"/>
              <a:ext cx="11379" cy="864"/>
            </a:xfrm>
            <a:prstGeom prst="rect">
              <a:avLst/>
            </a:prstGeom>
            <a:noFill/>
          </p:spPr>
          <p:txBody>
            <a:bodyPr wrap="square" rtlCol="0">
              <a:noAutofit/>
            </a:bodyPr>
            <a:p>
              <a:pPr algn="ctr"/>
              <a:r>
                <a:rPr sz="1200" b="1">
                  <a:latin typeface="微软雅黑" charset="0"/>
                  <a:ea typeface="微软雅黑" charset="0"/>
                  <a:cs typeface="微软雅黑" charset="0"/>
                </a:rPr>
                <a:t>给定了潜在变量z，x是对应潜在变量z的表示的可能性大小</a:t>
              </a:r>
              <a:br>
                <a:rPr sz="1200" b="1">
                  <a:latin typeface="微软雅黑" charset="0"/>
                  <a:ea typeface="微软雅黑" charset="0"/>
                  <a:cs typeface="微软雅黑" charset="0"/>
                </a:rPr>
              </a:br>
              <a:r>
                <a:rPr lang="zh-CN" sz="1200" b="1">
                  <a:latin typeface="微软雅黑" charset="0"/>
                  <a:ea typeface="微软雅黑" charset="0"/>
                  <a:cs typeface="微软雅黑" charset="0"/>
                </a:rPr>
                <a:t>对于生成猫，假设</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是毛色</a:t>
              </a:r>
              <a:r>
                <a:rPr lang="en-US" altLang="zh-CN" sz="1200" b="1">
                  <a:latin typeface="微软雅黑" charset="0"/>
                  <a:ea typeface="微软雅黑" charset="0"/>
                  <a:cs typeface="微软雅黑" charset="0"/>
                </a:rPr>
                <a:t>=</a:t>
              </a:r>
              <a:r>
                <a:rPr lang="zh-CN" altLang="en-US" sz="1200" b="1">
                  <a:latin typeface="微软雅黑" charset="0"/>
                  <a:ea typeface="微软雅黑" charset="0"/>
                  <a:cs typeface="微软雅黑" charset="0"/>
                </a:rPr>
                <a:t>灰色，姿势</a:t>
              </a:r>
              <a:r>
                <a:rPr lang="en-US" altLang="zh-CN" sz="1200" b="1">
                  <a:latin typeface="微软雅黑" charset="0"/>
                  <a:ea typeface="微软雅黑" charset="0"/>
                  <a:cs typeface="微软雅黑" charset="0"/>
                </a:rPr>
                <a:t>=</a:t>
              </a:r>
              <a:r>
                <a:rPr lang="zh-CN" altLang="en-US" sz="1200" b="1">
                  <a:latin typeface="微软雅黑" charset="0"/>
                  <a:ea typeface="微软雅黑" charset="0"/>
                  <a:cs typeface="微软雅黑" charset="0"/>
                </a:rPr>
                <a:t>坐着</a:t>
              </a:r>
              <a:r>
                <a:rPr lang="en-US" altLang="zh-CN" sz="1200" b="1">
                  <a:latin typeface="微软雅黑" charset="0"/>
                  <a:ea typeface="微软雅黑" charset="0"/>
                  <a:cs typeface="微软雅黑" charset="0"/>
                </a:rPr>
                <a:t>p(x|z)</a:t>
              </a:r>
              <a:r>
                <a:rPr lang="zh-CN" altLang="en-US" sz="1200" b="1">
                  <a:latin typeface="微软雅黑" charset="0"/>
                  <a:ea typeface="微软雅黑" charset="0"/>
                  <a:cs typeface="微软雅黑" charset="0"/>
                </a:rPr>
                <a:t>代表</a:t>
              </a:r>
              <a:r>
                <a:rPr lang="en-US" altLang="zh-CN" sz="1200" b="1">
                  <a:latin typeface="微软雅黑" charset="0"/>
                  <a:ea typeface="微软雅黑" charset="0"/>
                  <a:cs typeface="微软雅黑" charset="0"/>
                </a:rPr>
                <a:t>x</a:t>
              </a:r>
              <a:r>
                <a:rPr lang="zh-CN" altLang="en-US" sz="1200" b="1">
                  <a:latin typeface="微软雅黑" charset="0"/>
                  <a:ea typeface="微软雅黑" charset="0"/>
                  <a:cs typeface="微软雅黑" charset="0"/>
                </a:rPr>
                <a:t>这张图像是不是灰色坐着的猫</a:t>
              </a:r>
              <a:endParaRPr lang="zh-CN" altLang="en-US" sz="1200" b="1">
                <a:latin typeface="微软雅黑" charset="0"/>
                <a:ea typeface="微软雅黑" charset="0"/>
                <a:cs typeface="微软雅黑" charset="0"/>
              </a:endParaRPr>
            </a:p>
          </p:txBody>
        </p:sp>
        <p:sp>
          <p:nvSpPr>
            <p:cNvPr id="22" name="矩形: 圆角 36"/>
            <p:cNvSpPr/>
            <p:nvPr>
              <p:custDataLst>
                <p:tags r:id="rId25"/>
              </p:custDataLst>
            </p:nvPr>
          </p:nvSpPr>
          <p:spPr>
            <a:xfrm rot="10800000" flipV="1">
              <a:off x="45" y="1911"/>
              <a:ext cx="10424" cy="62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 name="矩形: 圆角 36"/>
          <p:cNvSpPr/>
          <p:nvPr>
            <p:custDataLst>
              <p:tags r:id="rId26"/>
            </p:custDataLst>
          </p:nvPr>
        </p:nvSpPr>
        <p:spPr>
          <a:xfrm rot="10800000" flipV="1">
            <a:off x="28575" y="840105"/>
            <a:ext cx="6619240" cy="39370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矩形: 圆角 36"/>
          <p:cNvSpPr/>
          <p:nvPr>
            <p:custDataLst>
              <p:tags r:id="rId27"/>
            </p:custDataLst>
          </p:nvPr>
        </p:nvSpPr>
        <p:spPr>
          <a:xfrm rot="10800000" flipV="1">
            <a:off x="5015865" y="85090"/>
            <a:ext cx="7175500" cy="696595"/>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矩形: 圆角 36"/>
          <p:cNvSpPr/>
          <p:nvPr>
            <p:custDataLst>
              <p:tags r:id="rId28"/>
            </p:custDataLst>
          </p:nvPr>
        </p:nvSpPr>
        <p:spPr>
          <a:xfrm rot="10800000" flipV="1">
            <a:off x="6632575" y="840105"/>
            <a:ext cx="5536565" cy="39370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文本框 27"/>
          <p:cNvSpPr txBox="1"/>
          <p:nvPr>
            <p:custDataLst>
              <p:tags r:id="rId29"/>
            </p:custDataLst>
          </p:nvPr>
        </p:nvSpPr>
        <p:spPr>
          <a:xfrm>
            <a:off x="4531995" y="2602865"/>
            <a:ext cx="7680325" cy="1057910"/>
          </a:xfrm>
          <a:prstGeom prst="rect">
            <a:avLst/>
          </a:prstGeom>
          <a:noFill/>
        </p:spPr>
        <p:txBody>
          <a:bodyPr wrap="square" rtlCol="0">
            <a:noAutofit/>
          </a:bodyPr>
          <a:p>
            <a:pPr algn="ctr"/>
            <a:r>
              <a:rPr lang="zh-CN" altLang="en-US" sz="1400" b="1">
                <a:solidFill>
                  <a:srgbClr val="C00000"/>
                </a:solidFill>
                <a:latin typeface="微软雅黑" charset="0"/>
                <a:ea typeface="微软雅黑" charset="0"/>
                <a:cs typeface="微软雅黑" charset="0"/>
              </a:rPr>
              <a:t>在模型的训练过程，我如果想根据</a:t>
            </a:r>
            <a:r>
              <a:rPr lang="en-US" altLang="zh-CN" sz="1400" b="1">
                <a:solidFill>
                  <a:srgbClr val="C00000"/>
                </a:solidFill>
                <a:latin typeface="微软雅黑" charset="0"/>
                <a:ea typeface="微软雅黑" charset="0"/>
                <a:cs typeface="微软雅黑" charset="0"/>
              </a:rPr>
              <a:t>p(z|x)</a:t>
            </a:r>
            <a:r>
              <a:rPr lang="zh-CN" altLang="en-US" sz="1400" b="1">
                <a:solidFill>
                  <a:srgbClr val="C00000"/>
                </a:solidFill>
                <a:latin typeface="微软雅黑" charset="0"/>
                <a:ea typeface="微软雅黑" charset="0"/>
                <a:cs typeface="微软雅黑" charset="0"/>
              </a:rPr>
              <a:t>（根据真实图像</a:t>
            </a:r>
            <a:r>
              <a:rPr lang="en-US" altLang="zh-CN" sz="1400" b="1">
                <a:solidFill>
                  <a:srgbClr val="C00000"/>
                </a:solidFill>
                <a:latin typeface="微软雅黑" charset="0"/>
                <a:ea typeface="微软雅黑" charset="0"/>
                <a:cs typeface="微软雅黑" charset="0"/>
              </a:rPr>
              <a:t>x</a:t>
            </a:r>
            <a:r>
              <a:rPr lang="zh-CN" altLang="en-US" sz="1400" b="1">
                <a:solidFill>
                  <a:srgbClr val="C00000"/>
                </a:solidFill>
                <a:latin typeface="微软雅黑" charset="0"/>
                <a:ea typeface="微软雅黑" charset="0"/>
                <a:cs typeface="微软雅黑" charset="0"/>
              </a:rPr>
              <a:t>取推断潜在变量</a:t>
            </a:r>
            <a:r>
              <a:rPr lang="en-US" altLang="zh-CN" sz="1400" b="1">
                <a:solidFill>
                  <a:srgbClr val="C00000"/>
                </a:solidFill>
                <a:latin typeface="微软雅黑" charset="0"/>
                <a:ea typeface="微软雅黑" charset="0"/>
                <a:cs typeface="微软雅黑" charset="0"/>
              </a:rPr>
              <a:t>z</a:t>
            </a:r>
            <a:r>
              <a:rPr lang="zh-CN" altLang="en-US" sz="1400" b="1">
                <a:solidFill>
                  <a:srgbClr val="C00000"/>
                </a:solidFill>
                <a:latin typeface="微软雅黑" charset="0"/>
                <a:ea typeface="微软雅黑" charset="0"/>
                <a:cs typeface="微软雅黑" charset="0"/>
              </a:rPr>
              <a:t>）是很困难的</a:t>
            </a:r>
            <a:br>
              <a:rPr lang="zh-CN" altLang="en-US" sz="1400" b="1">
                <a:solidFill>
                  <a:srgbClr val="C00000"/>
                </a:solidFill>
                <a:latin typeface="微软雅黑" charset="0"/>
                <a:ea typeface="微软雅黑" charset="0"/>
                <a:cs typeface="微软雅黑" charset="0"/>
              </a:rPr>
            </a:br>
            <a:r>
              <a:rPr lang="zh-CN" altLang="en-US" sz="1400" b="1">
                <a:solidFill>
                  <a:srgbClr val="C00000"/>
                </a:solidFill>
                <a:latin typeface="微软雅黑" charset="0"/>
                <a:ea typeface="微软雅黑" charset="0"/>
                <a:cs typeface="微软雅黑" charset="0"/>
              </a:rPr>
              <a:t>所以想到构建一个神经网络，用更简单的</a:t>
            </a:r>
            <a:r>
              <a:rPr lang="en-US" altLang="zh-CN" sz="1400" b="1">
                <a:solidFill>
                  <a:srgbClr val="C00000"/>
                </a:solidFill>
                <a:latin typeface="微软雅黑" charset="0"/>
                <a:ea typeface="微软雅黑" charset="0"/>
                <a:cs typeface="微软雅黑" charset="0"/>
              </a:rPr>
              <a:t>q(z|x)</a:t>
            </a:r>
            <a:r>
              <a:rPr lang="zh-CN" altLang="en-US" sz="1400" b="1">
                <a:solidFill>
                  <a:srgbClr val="C00000"/>
                </a:solidFill>
                <a:latin typeface="微软雅黑" charset="0"/>
                <a:ea typeface="微软雅黑" charset="0"/>
                <a:cs typeface="微软雅黑" charset="0"/>
              </a:rPr>
              <a:t>去拟合</a:t>
            </a:r>
            <a:r>
              <a:rPr lang="en-US" altLang="zh-CN" sz="1400" b="1">
                <a:solidFill>
                  <a:srgbClr val="C00000"/>
                </a:solidFill>
                <a:latin typeface="微软雅黑" charset="0"/>
                <a:ea typeface="微软雅黑" charset="0"/>
                <a:cs typeface="微软雅黑" charset="0"/>
              </a:rPr>
              <a:t>p(z|x)</a:t>
            </a:r>
            <a:r>
              <a:rPr lang="zh-CN" altLang="en-US" sz="1400" b="1">
                <a:solidFill>
                  <a:srgbClr val="C00000"/>
                </a:solidFill>
                <a:latin typeface="微软雅黑" charset="0"/>
                <a:ea typeface="微软雅黑" charset="0"/>
                <a:cs typeface="微软雅黑" charset="0"/>
              </a:rPr>
              <a:t>取简化问题</a:t>
            </a:r>
            <a:br>
              <a:rPr lang="zh-CN" altLang="en-US" sz="1400" b="1">
                <a:solidFill>
                  <a:srgbClr val="C00000"/>
                </a:solidFill>
                <a:latin typeface="微软雅黑" charset="0"/>
                <a:ea typeface="微软雅黑" charset="0"/>
                <a:cs typeface="微软雅黑" charset="0"/>
              </a:rPr>
            </a:br>
            <a:r>
              <a:rPr lang="zh-CN" altLang="en-US" sz="1400" b="1">
                <a:solidFill>
                  <a:srgbClr val="C00000"/>
                </a:solidFill>
                <a:latin typeface="微软雅黑" charset="0"/>
                <a:ea typeface="微软雅黑" charset="0"/>
                <a:cs typeface="微软雅黑" charset="0"/>
              </a:rPr>
              <a:t>我们使用</a:t>
            </a:r>
            <a:r>
              <a:rPr lang="en-US" altLang="zh-CN" sz="1400" b="1">
                <a:solidFill>
                  <a:srgbClr val="C00000"/>
                </a:solidFill>
                <a:latin typeface="微软雅黑" charset="0"/>
                <a:ea typeface="微软雅黑" charset="0"/>
                <a:cs typeface="微软雅黑" charset="0"/>
              </a:rPr>
              <a:t>KL</a:t>
            </a:r>
            <a:r>
              <a:rPr lang="zh-CN" altLang="en-US" sz="1400" b="1">
                <a:solidFill>
                  <a:srgbClr val="C00000"/>
                </a:solidFill>
                <a:latin typeface="微软雅黑" charset="0"/>
                <a:ea typeface="微软雅黑" charset="0"/>
                <a:cs typeface="微软雅黑" charset="0"/>
              </a:rPr>
              <a:t>散度来量化</a:t>
            </a:r>
            <a:r>
              <a:rPr lang="en-US" altLang="zh-CN" sz="1400" b="1">
                <a:solidFill>
                  <a:srgbClr val="C00000"/>
                </a:solidFill>
                <a:latin typeface="微软雅黑" charset="0"/>
                <a:ea typeface="微软雅黑" charset="0"/>
                <a:cs typeface="微软雅黑" charset="0"/>
              </a:rPr>
              <a:t>q(z|x)</a:t>
            </a:r>
            <a:r>
              <a:rPr lang="zh-CN" altLang="en-US" sz="1400" b="1">
                <a:solidFill>
                  <a:srgbClr val="C00000"/>
                </a:solidFill>
                <a:latin typeface="微软雅黑" charset="0"/>
                <a:ea typeface="微软雅黑" charset="0"/>
                <a:cs typeface="微软雅黑" charset="0"/>
              </a:rPr>
              <a:t>和</a:t>
            </a:r>
            <a:r>
              <a:rPr lang="en-US" altLang="zh-CN" sz="1400" b="1">
                <a:solidFill>
                  <a:srgbClr val="C00000"/>
                </a:solidFill>
                <a:latin typeface="微软雅黑" charset="0"/>
                <a:ea typeface="微软雅黑" charset="0"/>
                <a:cs typeface="微软雅黑" charset="0"/>
              </a:rPr>
              <a:t>p(z|x)</a:t>
            </a:r>
            <a:r>
              <a:rPr lang="zh-CN" altLang="en-US" sz="1400" b="1">
                <a:solidFill>
                  <a:srgbClr val="C00000"/>
                </a:solidFill>
                <a:latin typeface="微软雅黑" charset="0"/>
                <a:ea typeface="微软雅黑" charset="0"/>
                <a:cs typeface="微软雅黑" charset="0"/>
              </a:rPr>
              <a:t>是否靠近</a:t>
            </a:r>
            <a:br>
              <a:rPr lang="zh-CN" altLang="en-US" sz="1400" b="1">
                <a:solidFill>
                  <a:srgbClr val="C00000"/>
                </a:solidFill>
                <a:latin typeface="微软雅黑" charset="0"/>
                <a:ea typeface="微软雅黑" charset="0"/>
                <a:cs typeface="微软雅黑" charset="0"/>
              </a:rPr>
            </a:br>
            <a:r>
              <a:rPr lang="en-US" altLang="zh-CN" sz="1400" b="1">
                <a:solidFill>
                  <a:srgbClr val="C00000"/>
                </a:solidFill>
                <a:latin typeface="微软雅黑" charset="0"/>
                <a:ea typeface="微软雅黑" charset="0"/>
                <a:cs typeface="微软雅黑" charset="0"/>
              </a:rPr>
              <a:t>KL</a:t>
            </a:r>
            <a:r>
              <a:rPr lang="zh-CN" altLang="en-US" sz="1400" b="1">
                <a:solidFill>
                  <a:srgbClr val="C00000"/>
                </a:solidFill>
                <a:latin typeface="微软雅黑" charset="0"/>
                <a:ea typeface="微软雅黑" charset="0"/>
                <a:cs typeface="微软雅黑" charset="0"/>
              </a:rPr>
              <a:t>散度：横梁两个概率分布之间的差异，</a:t>
            </a:r>
            <a:r>
              <a:rPr lang="en-US" altLang="zh-CN" sz="1400" b="1">
                <a:solidFill>
                  <a:srgbClr val="C00000"/>
                </a:solidFill>
                <a:latin typeface="微软雅黑" charset="0"/>
                <a:ea typeface="微软雅黑" charset="0"/>
                <a:cs typeface="微软雅黑" charset="0"/>
              </a:rPr>
              <a:t>KL=0</a:t>
            </a:r>
            <a:r>
              <a:rPr lang="zh-CN" altLang="en-US" sz="1400" b="1">
                <a:solidFill>
                  <a:srgbClr val="C00000"/>
                </a:solidFill>
                <a:latin typeface="微软雅黑" charset="0"/>
                <a:ea typeface="微软雅黑" charset="0"/>
                <a:cs typeface="微软雅黑" charset="0"/>
              </a:rPr>
              <a:t>代表完全匹配，差别越大</a:t>
            </a:r>
            <a:r>
              <a:rPr lang="en-US" altLang="zh-CN" sz="1400" b="1">
                <a:solidFill>
                  <a:srgbClr val="C00000"/>
                </a:solidFill>
                <a:latin typeface="微软雅黑" charset="0"/>
                <a:ea typeface="微软雅黑" charset="0"/>
                <a:cs typeface="微软雅黑" charset="0"/>
              </a:rPr>
              <a:t>KL</a:t>
            </a:r>
            <a:r>
              <a:rPr lang="zh-CN" altLang="en-US" sz="1400" b="1">
                <a:solidFill>
                  <a:srgbClr val="C00000"/>
                </a:solidFill>
                <a:latin typeface="微软雅黑" charset="0"/>
                <a:ea typeface="微软雅黑" charset="0"/>
                <a:cs typeface="微软雅黑" charset="0"/>
              </a:rPr>
              <a:t>越大</a:t>
            </a:r>
            <a:endParaRPr lang="zh-CN" altLang="en-US" sz="1400" b="1">
              <a:solidFill>
                <a:srgbClr val="C00000"/>
              </a:solidFill>
              <a:latin typeface="微软雅黑" charset="0"/>
              <a:ea typeface="微软雅黑" charset="0"/>
              <a:cs typeface="微软雅黑" charset="0"/>
            </a:endParaRPr>
          </a:p>
        </p:txBody>
      </p:sp>
      <p:pic>
        <p:nvPicPr>
          <p:cNvPr id="29" name="图片 28"/>
          <p:cNvPicPr>
            <a:picLocks noChangeAspect="1"/>
          </p:cNvPicPr>
          <p:nvPr>
            <p:custDataLst>
              <p:tags r:id="rId30"/>
            </p:custDataLst>
          </p:nvPr>
        </p:nvPicPr>
        <p:blipFill>
          <a:blip r:embed="rId31"/>
          <a:stretch>
            <a:fillRect/>
          </a:stretch>
        </p:blipFill>
        <p:spPr>
          <a:xfrm>
            <a:off x="33020" y="2303145"/>
            <a:ext cx="2171700" cy="2311400"/>
          </a:xfrm>
          <a:prstGeom prst="rect">
            <a:avLst/>
          </a:prstGeom>
        </p:spPr>
      </p:pic>
      <p:sp>
        <p:nvSpPr>
          <p:cNvPr id="30" name="文本框 29"/>
          <p:cNvSpPr txBox="1"/>
          <p:nvPr>
            <p:custDataLst>
              <p:tags r:id="rId32"/>
            </p:custDataLst>
          </p:nvPr>
        </p:nvSpPr>
        <p:spPr>
          <a:xfrm>
            <a:off x="1938020" y="2665095"/>
            <a:ext cx="2799715" cy="548640"/>
          </a:xfrm>
          <a:prstGeom prst="rect">
            <a:avLst/>
          </a:prstGeom>
          <a:noFill/>
        </p:spPr>
        <p:txBody>
          <a:bodyPr wrap="square" rtlCol="0">
            <a:noAutofit/>
          </a:bodyPr>
          <a:p>
            <a:pPr algn="ctr"/>
            <a:r>
              <a:rPr lang="zh-CN" altLang="en-US" sz="1200" b="1">
                <a:latin typeface="微软雅黑" charset="0"/>
                <a:ea typeface="微软雅黑" charset="0"/>
                <a:cs typeface="微软雅黑" charset="0"/>
              </a:rPr>
              <a:t>实线</a:t>
            </a:r>
            <a:r>
              <a:rPr lang="en-US" altLang="zh-CN" sz="1200" b="1">
                <a:latin typeface="微软雅黑" charset="0"/>
                <a:ea typeface="微软雅黑" charset="0"/>
                <a:cs typeface="微软雅黑" charset="0"/>
              </a:rPr>
              <a:t>Dncoder</a:t>
            </a:r>
            <a:r>
              <a:rPr lang="zh-CN" altLang="en-US" sz="1200" b="1">
                <a:latin typeface="微软雅黑" charset="0"/>
                <a:ea typeface="微软雅黑" charset="0"/>
                <a:cs typeface="微软雅黑" charset="0"/>
              </a:rPr>
              <a:t>部分</a:t>
            </a:r>
            <a:br>
              <a:rPr lang="zh-CN" altLang="en-US" sz="1200" b="1">
                <a:latin typeface="微软雅黑" charset="0"/>
                <a:ea typeface="微软雅黑" charset="0"/>
                <a:cs typeface="微软雅黑" charset="0"/>
              </a:rPr>
            </a:b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根据生成分布</a:t>
            </a:r>
            <a:r>
              <a:rPr lang="en-US" altLang="zh-CN" sz="1200" b="1">
                <a:latin typeface="微软雅黑" charset="0"/>
                <a:ea typeface="微软雅黑" charset="0"/>
                <a:cs typeface="微软雅黑" charset="0"/>
              </a:rPr>
              <a:t>p(x|z)</a:t>
            </a:r>
            <a:r>
              <a:rPr lang="zh-CN" altLang="en-US" sz="1200" b="1">
                <a:latin typeface="微软雅黑" charset="0"/>
                <a:ea typeface="微软雅黑" charset="0"/>
                <a:cs typeface="微软雅黑" charset="0"/>
              </a:rPr>
              <a:t>生成图像</a:t>
            </a:r>
            <a:r>
              <a:rPr lang="en-US" altLang="zh-CN" sz="1200" b="1">
                <a:latin typeface="微软雅黑" charset="0"/>
                <a:ea typeface="微软雅黑" charset="0"/>
                <a:cs typeface="微软雅黑" charset="0"/>
              </a:rPr>
              <a:t>x</a:t>
            </a:r>
            <a:endParaRPr lang="en-US" altLang="zh-CN" sz="1200" b="1">
              <a:latin typeface="微软雅黑" charset="0"/>
              <a:ea typeface="微软雅黑" charset="0"/>
              <a:cs typeface="微软雅黑" charset="0"/>
            </a:endParaRPr>
          </a:p>
        </p:txBody>
      </p:sp>
      <p:sp>
        <p:nvSpPr>
          <p:cNvPr id="31" name="文本框 30"/>
          <p:cNvSpPr txBox="1"/>
          <p:nvPr>
            <p:custDataLst>
              <p:tags r:id="rId33"/>
            </p:custDataLst>
          </p:nvPr>
        </p:nvSpPr>
        <p:spPr>
          <a:xfrm>
            <a:off x="1938020" y="3808095"/>
            <a:ext cx="2799715"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虚线</a:t>
            </a:r>
            <a:r>
              <a:rPr lang="en-US" altLang="zh-CN" sz="1200" b="1">
                <a:latin typeface="微软雅黑" charset="0"/>
                <a:ea typeface="微软雅黑" charset="0"/>
                <a:cs typeface="微软雅黑" charset="0"/>
              </a:rPr>
              <a:t>Encoder</a:t>
            </a:r>
            <a:r>
              <a:rPr lang="zh-CN" altLang="en-US" sz="1200" b="1">
                <a:latin typeface="微软雅黑" charset="0"/>
                <a:ea typeface="微软雅黑" charset="0"/>
                <a:cs typeface="微软雅黑" charset="0"/>
              </a:rPr>
              <a:t>部分</a:t>
            </a:r>
            <a:br>
              <a:rPr lang="zh-CN" altLang="en-US" sz="1200" b="1">
                <a:latin typeface="微软雅黑" charset="0"/>
                <a:ea typeface="微软雅黑" charset="0"/>
                <a:cs typeface="微软雅黑" charset="0"/>
              </a:rPr>
            </a:br>
            <a:r>
              <a:rPr lang="en-US" altLang="zh-CN" sz="1200" b="1">
                <a:latin typeface="微软雅黑" charset="0"/>
                <a:ea typeface="微软雅黑" charset="0"/>
                <a:cs typeface="微软雅黑" charset="0"/>
              </a:rPr>
              <a:t>x</a:t>
            </a:r>
            <a:r>
              <a:rPr lang="zh-CN" altLang="en-US" sz="1200" b="1">
                <a:latin typeface="微软雅黑" charset="0"/>
                <a:ea typeface="微软雅黑" charset="0"/>
                <a:cs typeface="微软雅黑" charset="0"/>
              </a:rPr>
              <a:t>根据模型训练的变分分布</a:t>
            </a:r>
            <a:r>
              <a:rPr lang="en-US" altLang="zh-CN" sz="1200" b="1">
                <a:latin typeface="微软雅黑" charset="0"/>
                <a:ea typeface="微软雅黑" charset="0"/>
                <a:cs typeface="微软雅黑" charset="0"/>
              </a:rPr>
              <a:t>q(z|x)</a:t>
            </a:r>
            <a:r>
              <a:rPr lang="zh-CN" altLang="en-US" sz="1200" b="1">
                <a:latin typeface="微软雅黑" charset="0"/>
                <a:ea typeface="微软雅黑" charset="0"/>
                <a:cs typeface="微软雅黑" charset="0"/>
              </a:rPr>
              <a:t>生成分布</a:t>
            </a:r>
            <a:r>
              <a:rPr lang="en-US" altLang="zh-CN" sz="1200" b="1">
                <a:latin typeface="微软雅黑" charset="0"/>
                <a:ea typeface="微软雅黑" charset="0"/>
                <a:cs typeface="微软雅黑" charset="0"/>
              </a:rPr>
              <a:t>x</a:t>
            </a:r>
            <a:endParaRPr lang="en-US" altLang="zh-CN" sz="1200" b="1">
              <a:latin typeface="微软雅黑" charset="0"/>
              <a:ea typeface="微软雅黑" charset="0"/>
              <a:cs typeface="微软雅黑" charset="0"/>
            </a:endParaRPr>
          </a:p>
        </p:txBody>
      </p:sp>
      <p:sp>
        <p:nvSpPr>
          <p:cNvPr id="32" name="文本框 31"/>
          <p:cNvSpPr txBox="1"/>
          <p:nvPr>
            <p:custDataLst>
              <p:tags r:id="rId34"/>
            </p:custDataLst>
          </p:nvPr>
        </p:nvSpPr>
        <p:spPr>
          <a:xfrm>
            <a:off x="6647815" y="1280160"/>
            <a:ext cx="5521325" cy="1057910"/>
          </a:xfrm>
          <a:prstGeom prst="rect">
            <a:avLst/>
          </a:prstGeom>
          <a:noFill/>
        </p:spPr>
        <p:txBody>
          <a:bodyPr wrap="square" rtlCol="0">
            <a:noAutofit/>
          </a:bodyPr>
          <a:p>
            <a:pPr algn="l"/>
            <a:r>
              <a:rPr lang="zh-CN" altLang="en-US" sz="1400" b="1">
                <a:solidFill>
                  <a:srgbClr val="C00000"/>
                </a:solidFill>
                <a:latin typeface="微软雅黑" charset="0"/>
                <a:ea typeface="微软雅黑" charset="0"/>
                <a:cs typeface="微软雅黑" charset="0"/>
              </a:rPr>
              <a:t>生成过程分为</a:t>
            </a:r>
            <a:r>
              <a:rPr lang="zh-CN" altLang="en-US" sz="1400" b="1">
                <a:solidFill>
                  <a:srgbClr val="C00000"/>
                </a:solidFill>
                <a:latin typeface="微软雅黑" charset="0"/>
                <a:ea typeface="微软雅黑" charset="0"/>
                <a:cs typeface="微软雅黑" charset="0"/>
              </a:rPr>
              <a:t>两步</a:t>
            </a:r>
            <a:endParaRPr lang="zh-CN" altLang="en-US" sz="1400" b="1">
              <a:solidFill>
                <a:srgbClr val="C00000"/>
              </a:solidFill>
              <a:latin typeface="微软雅黑" charset="0"/>
              <a:ea typeface="微软雅黑" charset="0"/>
              <a:cs typeface="微软雅黑" charset="0"/>
            </a:endParaRPr>
          </a:p>
          <a:p>
            <a:pPr algn="l"/>
            <a:r>
              <a:rPr lang="en-US" altLang="zh-CN" sz="1400" b="1">
                <a:solidFill>
                  <a:srgbClr val="C00000"/>
                </a:solidFill>
                <a:latin typeface="微软雅黑" charset="0"/>
                <a:ea typeface="微软雅黑" charset="0"/>
                <a:cs typeface="微软雅黑" charset="0"/>
              </a:rPr>
              <a:t>1. </a:t>
            </a:r>
            <a:r>
              <a:rPr lang="zh-CN" altLang="en-US" sz="1400" b="1">
                <a:solidFill>
                  <a:srgbClr val="C00000"/>
                </a:solidFill>
                <a:latin typeface="微软雅黑" charset="0"/>
                <a:ea typeface="微软雅黑" charset="0"/>
                <a:cs typeface="微软雅黑" charset="0"/>
              </a:rPr>
              <a:t>先从先验分布</a:t>
            </a:r>
            <a:r>
              <a:rPr lang="en-US" altLang="zh-CN" sz="1400" b="1">
                <a:solidFill>
                  <a:srgbClr val="C00000"/>
                </a:solidFill>
                <a:latin typeface="微软雅黑" charset="0"/>
                <a:ea typeface="微软雅黑" charset="0"/>
                <a:cs typeface="微软雅黑" charset="0"/>
              </a:rPr>
              <a:t>p(z)</a:t>
            </a:r>
            <a:r>
              <a:rPr lang="zh-CN" altLang="en-US" sz="1400" b="1">
                <a:solidFill>
                  <a:srgbClr val="C00000"/>
                </a:solidFill>
                <a:latin typeface="微软雅黑" charset="0"/>
                <a:ea typeface="微软雅黑" charset="0"/>
                <a:cs typeface="微软雅黑" charset="0"/>
              </a:rPr>
              <a:t>中随机采样一个</a:t>
            </a:r>
            <a:r>
              <a:rPr lang="en-US" altLang="zh-CN" sz="1400" b="1">
                <a:solidFill>
                  <a:srgbClr val="C00000"/>
                </a:solidFill>
                <a:latin typeface="微软雅黑" charset="0"/>
                <a:ea typeface="微软雅黑" charset="0"/>
                <a:cs typeface="微软雅黑" charset="0"/>
              </a:rPr>
              <a:t>z</a:t>
            </a:r>
            <a:endParaRPr lang="en-US" altLang="zh-CN" sz="1400" b="1">
              <a:solidFill>
                <a:srgbClr val="C00000"/>
              </a:solidFill>
              <a:latin typeface="微软雅黑" charset="0"/>
              <a:ea typeface="微软雅黑" charset="0"/>
              <a:cs typeface="微软雅黑" charset="0"/>
            </a:endParaRPr>
          </a:p>
          <a:p>
            <a:pPr algn="l"/>
            <a:r>
              <a:rPr lang="en-US" altLang="zh-CN" sz="1400" b="1">
                <a:solidFill>
                  <a:srgbClr val="C00000"/>
                </a:solidFill>
                <a:latin typeface="微软雅黑" charset="0"/>
                <a:ea typeface="微软雅黑" charset="0"/>
                <a:cs typeface="微软雅黑" charset="0"/>
              </a:rPr>
              <a:t>2.</a:t>
            </a:r>
            <a:r>
              <a:rPr lang="zh-CN" altLang="en-US" sz="1400" b="1">
                <a:solidFill>
                  <a:srgbClr val="C00000"/>
                </a:solidFill>
                <a:latin typeface="微软雅黑" charset="0"/>
                <a:ea typeface="微软雅黑" charset="0"/>
                <a:cs typeface="微软雅黑" charset="0"/>
              </a:rPr>
              <a:t>通过条件分布</a:t>
            </a:r>
            <a:r>
              <a:rPr lang="en-US" altLang="zh-CN" sz="1400" b="1">
                <a:solidFill>
                  <a:srgbClr val="C00000"/>
                </a:solidFill>
                <a:latin typeface="微软雅黑" charset="0"/>
                <a:ea typeface="微软雅黑" charset="0"/>
                <a:cs typeface="微软雅黑" charset="0"/>
              </a:rPr>
              <a:t>p(x|z)</a:t>
            </a:r>
            <a:r>
              <a:rPr lang="zh-CN" altLang="en-US" sz="1400" b="1">
                <a:solidFill>
                  <a:srgbClr val="C00000"/>
                </a:solidFill>
                <a:latin typeface="微软雅黑" charset="0"/>
                <a:ea typeface="微软雅黑" charset="0"/>
                <a:cs typeface="微软雅黑" charset="0"/>
              </a:rPr>
              <a:t>生成图像</a:t>
            </a:r>
            <a:r>
              <a:rPr lang="en-US" altLang="zh-CN" sz="1400" b="1">
                <a:solidFill>
                  <a:srgbClr val="C00000"/>
                </a:solidFill>
                <a:latin typeface="微软雅黑" charset="0"/>
                <a:ea typeface="微软雅黑" charset="0"/>
                <a:cs typeface="微软雅黑" charset="0"/>
              </a:rPr>
              <a:t>x</a:t>
            </a:r>
            <a:br>
              <a:rPr lang="en-US" altLang="zh-CN" sz="1400" b="1">
                <a:solidFill>
                  <a:srgbClr val="C00000"/>
                </a:solidFill>
                <a:latin typeface="微软雅黑" charset="0"/>
                <a:ea typeface="微软雅黑" charset="0"/>
                <a:cs typeface="微软雅黑" charset="0"/>
              </a:rPr>
            </a:br>
            <a:r>
              <a:rPr lang="en-US" altLang="zh-CN" sz="1400" b="1">
                <a:solidFill>
                  <a:srgbClr val="C00000"/>
                </a:solidFill>
                <a:latin typeface="微软雅黑" charset="0"/>
                <a:ea typeface="微软雅黑" charset="0"/>
                <a:cs typeface="微软雅黑" charset="0"/>
              </a:rPr>
              <a:t>真正控制生成过程的参数是未知的，</a:t>
            </a:r>
            <a:endParaRPr lang="en-US" altLang="zh-CN" sz="1400" b="1">
              <a:solidFill>
                <a:srgbClr val="C00000"/>
              </a:solidFill>
              <a:latin typeface="微软雅黑" charset="0"/>
              <a:ea typeface="微软雅黑" charset="0"/>
              <a:cs typeface="微软雅黑" charset="0"/>
            </a:endParaRPr>
          </a:p>
          <a:p>
            <a:pPr algn="l"/>
            <a:r>
              <a:rPr lang="en-US" altLang="zh-CN" sz="1400" b="1">
                <a:solidFill>
                  <a:srgbClr val="C00000"/>
                </a:solidFill>
                <a:latin typeface="微软雅黑" charset="0"/>
                <a:ea typeface="微软雅黑" charset="0"/>
                <a:cs typeface="微软雅黑" charset="0"/>
              </a:rPr>
              <a:t>每个样本背后的潜变量 z^{(i)} 也是看不见的。我们只能看到结果 x，这正是我们需要解决的 推断问题。</a:t>
            </a:r>
            <a:endParaRPr lang="en-US" altLang="zh-CN" sz="1400" b="1">
              <a:solidFill>
                <a:srgbClr val="C00000"/>
              </a:solidFill>
              <a:latin typeface="微软雅黑" charset="0"/>
              <a:ea typeface="微软雅黑" charset="0"/>
              <a:cs typeface="微软雅黑" charset="0"/>
            </a:endParaRPr>
          </a:p>
        </p:txBody>
      </p:sp>
      <p:sp>
        <p:nvSpPr>
          <p:cNvPr id="33" name="文本框 32"/>
          <p:cNvSpPr txBox="1"/>
          <p:nvPr>
            <p:custDataLst>
              <p:tags r:id="rId35"/>
            </p:custDataLst>
          </p:nvPr>
        </p:nvSpPr>
        <p:spPr>
          <a:xfrm>
            <a:off x="795020" y="4656455"/>
            <a:ext cx="2799715" cy="330200"/>
          </a:xfrm>
          <a:prstGeom prst="rect">
            <a:avLst/>
          </a:prstGeom>
          <a:noFill/>
        </p:spPr>
        <p:txBody>
          <a:bodyPr wrap="square" rtlCol="0">
            <a:noAutofit/>
          </a:bodyPr>
          <a:p>
            <a:pPr algn="ctr"/>
            <a:r>
              <a:rPr lang="zh-CN" altLang="en-US" sz="1200" b="1">
                <a:latin typeface="微软雅黑" charset="0"/>
                <a:ea typeface="微软雅黑" charset="0"/>
                <a:cs typeface="微软雅黑" charset="0"/>
              </a:rPr>
              <a:t>损失</a:t>
            </a:r>
            <a:r>
              <a:rPr lang="zh-CN" altLang="en-US" sz="1200" b="1">
                <a:latin typeface="微软雅黑" charset="0"/>
                <a:ea typeface="微软雅黑" charset="0"/>
                <a:cs typeface="微软雅黑" charset="0"/>
              </a:rPr>
              <a:t>函数</a:t>
            </a:r>
            <a:endParaRPr lang="zh-CN" altLang="en-US" sz="1200" b="1">
              <a:latin typeface="微软雅黑" charset="0"/>
              <a:ea typeface="微软雅黑" charset="0"/>
              <a:cs typeface="微软雅黑" charset="0"/>
            </a:endParaRPr>
          </a:p>
        </p:txBody>
      </p:sp>
      <p:pic>
        <p:nvPicPr>
          <p:cNvPr id="34" name="图片 33"/>
          <p:cNvPicPr>
            <a:picLocks noChangeAspect="1"/>
          </p:cNvPicPr>
          <p:nvPr>
            <p:custDataLst>
              <p:tags r:id="rId36"/>
            </p:custDataLst>
          </p:nvPr>
        </p:nvPicPr>
        <p:blipFill>
          <a:blip r:embed="rId37"/>
          <a:stretch>
            <a:fillRect/>
          </a:stretch>
        </p:blipFill>
        <p:spPr>
          <a:xfrm>
            <a:off x="33020" y="5097145"/>
            <a:ext cx="4000500" cy="342900"/>
          </a:xfrm>
          <a:prstGeom prst="rect">
            <a:avLst/>
          </a:prstGeom>
        </p:spPr>
      </p:pic>
      <p:sp>
        <p:nvSpPr>
          <p:cNvPr id="35" name="文本框 34"/>
          <p:cNvSpPr txBox="1"/>
          <p:nvPr>
            <p:custDataLst>
              <p:tags r:id="rId38"/>
            </p:custDataLst>
          </p:nvPr>
        </p:nvSpPr>
        <p:spPr>
          <a:xfrm>
            <a:off x="160020" y="5545455"/>
            <a:ext cx="4577715" cy="548005"/>
          </a:xfrm>
          <a:prstGeom prst="rect">
            <a:avLst/>
          </a:prstGeom>
          <a:noFill/>
        </p:spPr>
        <p:txBody>
          <a:bodyPr wrap="square" rtlCol="0">
            <a:noAutofit/>
          </a:bodyPr>
          <a:p>
            <a:pPr algn="ctr"/>
            <a:r>
              <a:rPr lang="zh-CN" altLang="en-US" sz="1200" b="1">
                <a:latin typeface="微软雅黑" charset="0"/>
                <a:ea typeface="微软雅黑" charset="0"/>
                <a:cs typeface="微软雅黑" charset="0"/>
              </a:rPr>
              <a:t>最大化整个数据集在生成模型下出现的概率</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由于样本独立同分布，可以把整体的</a:t>
            </a:r>
            <a:r>
              <a:rPr lang="en-US" altLang="zh-CN" sz="1200" b="1">
                <a:latin typeface="微软雅黑" charset="0"/>
                <a:ea typeface="微软雅黑" charset="0"/>
                <a:cs typeface="微软雅黑" charset="0"/>
              </a:rPr>
              <a:t>log</a:t>
            </a:r>
            <a:r>
              <a:rPr lang="zh-CN" altLang="en-US" sz="1200" b="1">
                <a:latin typeface="微软雅黑" charset="0"/>
                <a:ea typeface="微软雅黑" charset="0"/>
                <a:cs typeface="微软雅黑" charset="0"/>
              </a:rPr>
              <a:t>拆成对每个</a:t>
            </a:r>
            <a:r>
              <a:rPr lang="en-US" altLang="zh-CN" sz="1200" b="1">
                <a:latin typeface="微软雅黑" charset="0"/>
                <a:ea typeface="微软雅黑" charset="0"/>
                <a:cs typeface="微软雅黑" charset="0"/>
              </a:rPr>
              <a:t>log</a:t>
            </a:r>
            <a:r>
              <a:rPr lang="zh-CN" altLang="en-US" sz="1200" b="1">
                <a:latin typeface="微软雅黑" charset="0"/>
                <a:ea typeface="微软雅黑" charset="0"/>
                <a:cs typeface="微软雅黑" charset="0"/>
              </a:rPr>
              <a:t>之和</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总体概率</a:t>
            </a:r>
            <a:r>
              <a:rPr lang="en-US" altLang="zh-CN" sz="1200" b="1">
                <a:latin typeface="微软雅黑" charset="0"/>
                <a:ea typeface="微软雅黑" charset="0"/>
                <a:cs typeface="微软雅黑" charset="0"/>
              </a:rPr>
              <a:t>=</a:t>
            </a:r>
            <a:r>
              <a:rPr lang="zh-CN" altLang="en-US" sz="1200" b="1">
                <a:latin typeface="微软雅黑" charset="0"/>
                <a:ea typeface="微软雅黑" charset="0"/>
                <a:cs typeface="微软雅黑" charset="0"/>
              </a:rPr>
              <a:t>样本概率值积</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去</a:t>
            </a:r>
            <a:r>
              <a:rPr lang="en-US" altLang="zh-CN" sz="1200" b="1">
                <a:latin typeface="微软雅黑" charset="0"/>
                <a:ea typeface="微软雅黑" charset="0"/>
                <a:cs typeface="微软雅黑" charset="0"/>
              </a:rPr>
              <a:t>log</a:t>
            </a:r>
            <a:r>
              <a:rPr lang="zh-CN" altLang="en-US" sz="1200" b="1">
                <a:latin typeface="微软雅黑" charset="0"/>
                <a:ea typeface="微软雅黑" charset="0"/>
                <a:cs typeface="微软雅黑" charset="0"/>
              </a:rPr>
              <a:t>乘积变为</a:t>
            </a:r>
            <a:r>
              <a:rPr lang="zh-CN" altLang="en-US" sz="1200" b="1">
                <a:latin typeface="微软雅黑" charset="0"/>
                <a:ea typeface="微软雅黑" charset="0"/>
                <a:cs typeface="微软雅黑" charset="0"/>
              </a:rPr>
              <a:t>加和</a:t>
            </a:r>
            <a:endParaRPr lang="zh-CN" altLang="en-US" sz="1200" b="1">
              <a:latin typeface="微软雅黑" charset="0"/>
              <a:ea typeface="微软雅黑" charset="0"/>
              <a:cs typeface="微软雅黑" charset="0"/>
            </a:endParaRPr>
          </a:p>
        </p:txBody>
      </p:sp>
      <p:pic>
        <p:nvPicPr>
          <p:cNvPr id="36" name="图片 35"/>
          <p:cNvPicPr>
            <a:picLocks noChangeAspect="1"/>
          </p:cNvPicPr>
          <p:nvPr>
            <p:custDataLst>
              <p:tags r:id="rId39"/>
            </p:custDataLst>
          </p:nvPr>
        </p:nvPicPr>
        <p:blipFill>
          <a:blip r:embed="rId40"/>
          <a:stretch>
            <a:fillRect/>
          </a:stretch>
        </p:blipFill>
        <p:spPr>
          <a:xfrm>
            <a:off x="4848225" y="5095875"/>
            <a:ext cx="5384800" cy="406400"/>
          </a:xfrm>
          <a:prstGeom prst="rect">
            <a:avLst/>
          </a:prstGeom>
        </p:spPr>
      </p:pic>
      <p:sp>
        <p:nvSpPr>
          <p:cNvPr id="37" name="文本框 36"/>
          <p:cNvSpPr txBox="1"/>
          <p:nvPr>
            <p:custDataLst>
              <p:tags r:id="rId41"/>
            </p:custDataLst>
          </p:nvPr>
        </p:nvSpPr>
        <p:spPr>
          <a:xfrm>
            <a:off x="4986020" y="5545455"/>
            <a:ext cx="4577715" cy="548005"/>
          </a:xfrm>
          <a:prstGeom prst="rect">
            <a:avLst/>
          </a:prstGeom>
          <a:noFill/>
        </p:spPr>
        <p:txBody>
          <a:bodyPr wrap="square" rtlCol="0">
            <a:noAutofit/>
          </a:bodyPr>
          <a:p>
            <a:pPr algn="ctr"/>
            <a:r>
              <a:rPr lang="zh-CN" altLang="en-US" sz="1200" b="1">
                <a:latin typeface="微软雅黑" charset="0"/>
                <a:ea typeface="微软雅黑" charset="0"/>
                <a:cs typeface="微软雅黑" charset="0"/>
              </a:rPr>
              <a:t>单个样本出现的概率</a:t>
            </a:r>
            <a:r>
              <a:rPr lang="en-US" altLang="zh-CN" sz="1200" b="1">
                <a:latin typeface="微软雅黑" charset="0"/>
                <a:ea typeface="微软雅黑" charset="0"/>
                <a:cs typeface="微软雅黑" charset="0"/>
              </a:rPr>
              <a:t>=</a:t>
            </a:r>
            <a:r>
              <a:rPr lang="zh-CN" altLang="en-US" sz="1200" b="1">
                <a:latin typeface="微软雅黑" charset="0"/>
                <a:ea typeface="微软雅黑" charset="0"/>
                <a:cs typeface="微软雅黑" charset="0"/>
              </a:rPr>
              <a:t>变分（神经网络）由</a:t>
            </a:r>
            <a:r>
              <a:rPr lang="en-US" altLang="zh-CN" sz="1200" b="1">
                <a:latin typeface="微软雅黑" charset="0"/>
                <a:ea typeface="微软雅黑" charset="0"/>
                <a:cs typeface="微软雅黑" charset="0"/>
              </a:rPr>
              <a:t>x</a:t>
            </a:r>
            <a:r>
              <a:rPr lang="zh-CN" altLang="en-US" sz="1200" b="1">
                <a:latin typeface="微软雅黑" charset="0"/>
                <a:ea typeface="微软雅黑" charset="0"/>
                <a:cs typeface="微软雅黑" charset="0"/>
              </a:rPr>
              <a:t>恢复到</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和贝叶斯反推</a:t>
            </a:r>
            <a:r>
              <a:rPr lang="en-US" altLang="zh-CN" sz="1200" b="1">
                <a:latin typeface="微软雅黑" charset="0"/>
                <a:ea typeface="微软雅黑" charset="0"/>
                <a:cs typeface="微软雅黑" charset="0"/>
              </a:rPr>
              <a:t>x</a:t>
            </a:r>
            <a:r>
              <a:rPr lang="zh-CN" altLang="en-US" sz="1200" b="1">
                <a:latin typeface="微软雅黑" charset="0"/>
                <a:ea typeface="微软雅黑" charset="0"/>
                <a:cs typeface="微软雅黑" charset="0"/>
              </a:rPr>
              <a:t>恢复到</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的</a:t>
            </a:r>
            <a:r>
              <a:rPr lang="en-US" altLang="zh-CN" sz="1200" b="1">
                <a:latin typeface="微软雅黑" charset="0"/>
                <a:ea typeface="微软雅黑" charset="0"/>
                <a:cs typeface="微软雅黑" charset="0"/>
              </a:rPr>
              <a:t>KL</a:t>
            </a:r>
            <a:r>
              <a:rPr lang="zh-CN" altLang="en-US" sz="1200" b="1">
                <a:latin typeface="微软雅黑" charset="0"/>
                <a:ea typeface="微软雅黑" charset="0"/>
                <a:cs typeface="微软雅黑" charset="0"/>
              </a:rPr>
              <a:t>散度</a:t>
            </a:r>
            <a:r>
              <a:rPr lang="en-US" altLang="zh-CN" sz="1200" b="1">
                <a:latin typeface="微软雅黑" charset="0"/>
                <a:ea typeface="微软雅黑" charset="0"/>
                <a:cs typeface="微软雅黑" charset="0"/>
              </a:rPr>
              <a:t>+ELBO</a:t>
            </a:r>
            <a:r>
              <a:rPr lang="zh-CN" altLang="en-US" sz="1200" b="1">
                <a:latin typeface="微软雅黑" charset="0"/>
                <a:ea typeface="微软雅黑" charset="0"/>
                <a:cs typeface="微软雅黑" charset="0"/>
              </a:rPr>
              <a:t>下界</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用神经网络猜测</a:t>
            </a:r>
            <a:r>
              <a:rPr lang="zh-CN" altLang="en-US" sz="1200" b="1">
                <a:latin typeface="微软雅黑" charset="0"/>
                <a:ea typeface="微软雅黑" charset="0"/>
                <a:cs typeface="微软雅黑" charset="0"/>
              </a:rPr>
              <a:t>真实后验</a:t>
            </a:r>
            <a:endParaRPr lang="zh-CN" altLang="en-US" sz="1200" b="1">
              <a:latin typeface="微软雅黑" charset="0"/>
              <a:ea typeface="微软雅黑" charset="0"/>
              <a:cs typeface="微软雅黑" charset="0"/>
            </a:endParaRPr>
          </a:p>
        </p:txBody>
      </p:sp>
      <p:pic>
        <p:nvPicPr>
          <p:cNvPr id="39" name="图片 38"/>
          <p:cNvPicPr>
            <a:picLocks noChangeAspect="1"/>
          </p:cNvPicPr>
          <p:nvPr>
            <p:custDataLst>
              <p:tags r:id="rId42"/>
            </p:custDataLst>
          </p:nvPr>
        </p:nvPicPr>
        <p:blipFill>
          <a:blip r:embed="rId43"/>
          <a:stretch>
            <a:fillRect/>
          </a:stretch>
        </p:blipFill>
        <p:spPr>
          <a:xfrm>
            <a:off x="5015865" y="3557270"/>
            <a:ext cx="6451600" cy="546100"/>
          </a:xfrm>
          <a:prstGeom prst="rect">
            <a:avLst/>
          </a:prstGeom>
        </p:spPr>
      </p:pic>
      <p:sp>
        <p:nvSpPr>
          <p:cNvPr id="40" name="文本框 39"/>
          <p:cNvSpPr txBox="1"/>
          <p:nvPr>
            <p:custDataLst>
              <p:tags r:id="rId44"/>
            </p:custDataLst>
          </p:nvPr>
        </p:nvSpPr>
        <p:spPr>
          <a:xfrm>
            <a:off x="5621020" y="4021455"/>
            <a:ext cx="6283325" cy="548005"/>
          </a:xfrm>
          <a:prstGeom prst="rect">
            <a:avLst/>
          </a:prstGeom>
          <a:noFill/>
        </p:spPr>
        <p:txBody>
          <a:bodyPr wrap="square" rtlCol="0">
            <a:noAutofit/>
          </a:bodyPr>
          <a:p>
            <a:pPr algn="ctr"/>
            <a:r>
              <a:rPr lang="zh-CN" altLang="en-US" sz="1200" b="1">
                <a:latin typeface="微软雅黑" charset="0"/>
                <a:ea typeface="微软雅黑" charset="0"/>
                <a:cs typeface="微软雅黑" charset="0"/>
              </a:rPr>
              <a:t>第一项代表我们通过神经网络由图</a:t>
            </a:r>
            <a:r>
              <a:rPr lang="en-US" altLang="zh-CN" sz="1200" b="1">
                <a:latin typeface="微软雅黑" charset="0"/>
                <a:ea typeface="微软雅黑" charset="0"/>
                <a:cs typeface="微软雅黑" charset="0"/>
              </a:rPr>
              <a:t>x</a:t>
            </a:r>
            <a:r>
              <a:rPr lang="zh-CN" altLang="en-US" sz="1200" b="1">
                <a:latin typeface="微软雅黑" charset="0"/>
                <a:ea typeface="微软雅黑" charset="0"/>
                <a:cs typeface="微软雅黑" charset="0"/>
              </a:rPr>
              <a:t>恢复到</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和真实的</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之间的概率差距，越小</a:t>
            </a:r>
            <a:r>
              <a:rPr lang="zh-CN" altLang="en-US" sz="1200" b="1">
                <a:latin typeface="微软雅黑" charset="0"/>
                <a:ea typeface="微软雅黑" charset="0"/>
                <a:cs typeface="微软雅黑" charset="0"/>
              </a:rPr>
              <a:t>越接近</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第二项代表我们从</a:t>
            </a:r>
            <a:r>
              <a:rPr lang="en-US" altLang="zh-CN" sz="1200" b="1">
                <a:latin typeface="微软雅黑" charset="0"/>
                <a:ea typeface="微软雅黑" charset="0"/>
                <a:cs typeface="微软雅黑" charset="0"/>
              </a:rPr>
              <a:t>z</a:t>
            </a:r>
            <a:r>
              <a:rPr lang="zh-CN" altLang="en-US" sz="1200" b="1">
                <a:latin typeface="微软雅黑" charset="0"/>
                <a:ea typeface="微软雅黑" charset="0"/>
                <a:cs typeface="微软雅黑" charset="0"/>
              </a:rPr>
              <a:t>恢复出</a:t>
            </a:r>
            <a:r>
              <a:rPr lang="en-US" altLang="zh-CN" sz="1200" b="1">
                <a:latin typeface="微软雅黑" charset="0"/>
                <a:ea typeface="微软雅黑" charset="0"/>
                <a:cs typeface="微软雅黑" charset="0"/>
              </a:rPr>
              <a:t>x</a:t>
            </a:r>
            <a:r>
              <a:rPr lang="zh-CN" altLang="en-US" sz="1200" b="1">
                <a:latin typeface="微软雅黑" charset="0"/>
                <a:ea typeface="微软雅黑" charset="0"/>
                <a:cs typeface="微软雅黑" charset="0"/>
              </a:rPr>
              <a:t>等于真实的</a:t>
            </a:r>
            <a:r>
              <a:rPr lang="en-US" altLang="zh-CN" sz="1200" b="1">
                <a:latin typeface="微软雅黑" charset="0"/>
                <a:ea typeface="微软雅黑" charset="0"/>
                <a:cs typeface="微软雅黑" charset="0"/>
              </a:rPr>
              <a:t>x</a:t>
            </a:r>
            <a:r>
              <a:rPr lang="zh-CN" altLang="en-US" sz="1200" b="1">
                <a:latin typeface="微软雅黑" charset="0"/>
                <a:ea typeface="微软雅黑" charset="0"/>
                <a:cs typeface="微软雅黑" charset="0"/>
              </a:rPr>
              <a:t>的概率，</a:t>
            </a:r>
            <a:r>
              <a:rPr lang="zh-CN" altLang="en-US" sz="1200" b="1">
                <a:latin typeface="微软雅黑" charset="0"/>
                <a:ea typeface="微软雅黑" charset="0"/>
                <a:cs typeface="微软雅黑" charset="0"/>
              </a:rPr>
              <a:t>越大越接近</a:t>
            </a:r>
            <a:endParaRPr lang="zh-CN" altLang="en-US" sz="1200" b="1">
              <a:latin typeface="微软雅黑" charset="0"/>
              <a:ea typeface="微软雅黑" charset="0"/>
              <a:cs typeface="微软雅黑" charset="0"/>
            </a:endParaRPr>
          </a:p>
        </p:txBody>
      </p:sp>
      <p:sp>
        <p:nvSpPr>
          <p:cNvPr id="41" name="右箭头 40"/>
          <p:cNvSpPr/>
          <p:nvPr/>
        </p:nvSpPr>
        <p:spPr>
          <a:xfrm>
            <a:off x="4267200" y="5213985"/>
            <a:ext cx="410845" cy="2413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右箭头 41"/>
          <p:cNvSpPr/>
          <p:nvPr>
            <p:custDataLst>
              <p:tags r:id="rId45"/>
            </p:custDataLst>
          </p:nvPr>
        </p:nvSpPr>
        <p:spPr>
          <a:xfrm rot="16200000">
            <a:off x="7893050" y="4633595"/>
            <a:ext cx="410845" cy="2413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effectLst/>
              </a:rPr>
              <a:t>AttackVLM</a:t>
            </a:r>
            <a:endParaRPr lang="en-US" altLang="zh-CN" dirty="0">
              <a:effectLst/>
            </a:endParaRPr>
          </a:p>
        </p:txBody>
      </p:sp>
      <p:sp>
        <p:nvSpPr>
          <p:cNvPr id="5" name="副标题 4"/>
          <p:cNvSpPr>
            <a:spLocks noGrp="1"/>
          </p:cNvSpPr>
          <p:nvPr>
            <p:ph type="subTitle" idx="1"/>
          </p:nvPr>
        </p:nvSpPr>
        <p:spPr/>
        <p:txBody>
          <a:bodyPr/>
          <a:lstStyle/>
          <a:p>
            <a:endParaRPr lang="zh-CN" altLang="en-US" dirty="0">
              <a:latin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a:stretch>
            <a:fillRect/>
          </a:stretch>
        </p:blipFill>
        <p:spPr>
          <a:xfrm>
            <a:off x="1711960" y="455295"/>
            <a:ext cx="8767445" cy="4133850"/>
          </a:xfrm>
          <a:prstGeom prst="rect">
            <a:avLst/>
          </a:prstGeom>
        </p:spPr>
      </p:pic>
      <p:sp>
        <p:nvSpPr>
          <p:cNvPr id="31" name="文本框 30"/>
          <p:cNvSpPr txBox="1"/>
          <p:nvPr>
            <p:custDataLst>
              <p:tags r:id="rId3"/>
            </p:custDataLst>
          </p:nvPr>
        </p:nvSpPr>
        <p:spPr>
          <a:xfrm>
            <a:off x="2275840" y="283845"/>
            <a:ext cx="2799715"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使用</a:t>
            </a:r>
            <a:r>
              <a:rPr lang="en-US" altLang="zh-CN" sz="1200" b="1">
                <a:latin typeface="微软雅黑" charset="0"/>
                <a:ea typeface="微软雅黑" charset="0"/>
                <a:cs typeface="微软雅黑" charset="0"/>
              </a:rPr>
              <a:t>T2I</a:t>
            </a:r>
            <a:r>
              <a:rPr lang="zh-CN" altLang="en-US" sz="1200" b="1">
                <a:latin typeface="微软雅黑" charset="0"/>
                <a:ea typeface="微软雅黑" charset="0"/>
                <a:cs typeface="微软雅黑" charset="0"/>
              </a:rPr>
              <a:t>根据文本生成锚点</a:t>
            </a:r>
            <a:r>
              <a:rPr lang="zh-CN" altLang="en-US" sz="1200" b="1">
                <a:latin typeface="微软雅黑" charset="0"/>
                <a:ea typeface="微软雅黑" charset="0"/>
                <a:cs typeface="微软雅黑" charset="0"/>
              </a:rPr>
              <a:t>图像</a:t>
            </a:r>
            <a:endParaRPr lang="zh-CN" altLang="en-US" sz="1200" b="1">
              <a:latin typeface="微软雅黑" charset="0"/>
              <a:ea typeface="微软雅黑" charset="0"/>
              <a:cs typeface="微软雅黑" charset="0"/>
            </a:endParaRPr>
          </a:p>
        </p:txBody>
      </p:sp>
      <p:sp>
        <p:nvSpPr>
          <p:cNvPr id="7" name="文本框 6"/>
          <p:cNvSpPr txBox="1"/>
          <p:nvPr>
            <p:custDataLst>
              <p:tags r:id="rId4"/>
            </p:custDataLst>
          </p:nvPr>
        </p:nvSpPr>
        <p:spPr>
          <a:xfrm>
            <a:off x="-102870" y="2569845"/>
            <a:ext cx="2799715"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干净</a:t>
            </a:r>
            <a:r>
              <a:rPr lang="zh-CN" altLang="en-US" sz="1200" b="1">
                <a:latin typeface="微软雅黑" charset="0"/>
                <a:ea typeface="微软雅黑" charset="0"/>
                <a:cs typeface="微软雅黑" charset="0"/>
              </a:rPr>
              <a:t>待攻击图像</a:t>
            </a:r>
            <a:endParaRPr lang="zh-CN" altLang="en-US" sz="1200" b="1">
              <a:latin typeface="微软雅黑" charset="0"/>
              <a:ea typeface="微软雅黑" charset="0"/>
              <a:cs typeface="微软雅黑" charset="0"/>
            </a:endParaRPr>
          </a:p>
        </p:txBody>
      </p:sp>
      <p:sp>
        <p:nvSpPr>
          <p:cNvPr id="8" name="文本框 7"/>
          <p:cNvSpPr txBox="1"/>
          <p:nvPr>
            <p:custDataLst>
              <p:tags r:id="rId5"/>
            </p:custDataLst>
          </p:nvPr>
        </p:nvSpPr>
        <p:spPr>
          <a:xfrm>
            <a:off x="3588385" y="3232150"/>
            <a:ext cx="2799715"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通过</a:t>
            </a:r>
            <a:r>
              <a:rPr lang="en-US" altLang="zh-CN" sz="1200" b="1">
                <a:latin typeface="微软雅黑" charset="0"/>
                <a:ea typeface="微软雅黑" charset="0"/>
                <a:cs typeface="微软雅黑" charset="0"/>
              </a:rPr>
              <a:t>CLIP</a:t>
            </a:r>
            <a:r>
              <a:rPr lang="zh-CN" altLang="en-US" sz="1200" b="1">
                <a:latin typeface="微软雅黑" charset="0"/>
                <a:ea typeface="微软雅黑" charset="0"/>
                <a:cs typeface="微软雅黑" charset="0"/>
              </a:rPr>
              <a:t>等模型实现目标攻击</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将干净待攻击图像朝锚点图像</a:t>
            </a:r>
            <a:r>
              <a:rPr lang="zh-CN" altLang="en-US" sz="1200" b="1">
                <a:latin typeface="微软雅黑" charset="0"/>
                <a:ea typeface="微软雅黑" charset="0"/>
                <a:cs typeface="微软雅黑" charset="0"/>
              </a:rPr>
              <a:t>更新</a:t>
            </a:r>
            <a:endParaRPr lang="zh-CN" altLang="en-US" sz="1200" b="1">
              <a:latin typeface="微软雅黑" charset="0"/>
              <a:ea typeface="微软雅黑" charset="0"/>
              <a:cs typeface="微软雅黑" charset="0"/>
            </a:endParaRPr>
          </a:p>
        </p:txBody>
      </p:sp>
      <p:sp>
        <p:nvSpPr>
          <p:cNvPr id="9" name="文本框 8"/>
          <p:cNvSpPr txBox="1"/>
          <p:nvPr>
            <p:custDataLst>
              <p:tags r:id="rId6"/>
            </p:custDataLst>
          </p:nvPr>
        </p:nvSpPr>
        <p:spPr>
          <a:xfrm>
            <a:off x="6268720" y="3232150"/>
            <a:ext cx="1592580"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带扰动的</a:t>
            </a:r>
            <a:r>
              <a:rPr lang="zh-CN" altLang="en-US" sz="1200" b="1">
                <a:latin typeface="微软雅黑" charset="0"/>
                <a:ea typeface="微软雅黑" charset="0"/>
                <a:cs typeface="微软雅黑" charset="0"/>
              </a:rPr>
              <a:t>图像</a:t>
            </a:r>
            <a:endParaRPr lang="zh-CN" altLang="en-US" sz="1200" b="1">
              <a:latin typeface="微软雅黑" charset="0"/>
              <a:ea typeface="微软雅黑" charset="0"/>
              <a:cs typeface="微软雅黑" charset="0"/>
            </a:endParaRPr>
          </a:p>
        </p:txBody>
      </p:sp>
      <p:sp>
        <p:nvSpPr>
          <p:cNvPr id="10" name="文本框 9"/>
          <p:cNvSpPr txBox="1"/>
          <p:nvPr>
            <p:custDataLst>
              <p:tags r:id="rId7"/>
            </p:custDataLst>
          </p:nvPr>
        </p:nvSpPr>
        <p:spPr>
          <a:xfrm>
            <a:off x="7284720" y="438150"/>
            <a:ext cx="1592580"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根据黑盒模型输出的文本更新</a:t>
            </a:r>
            <a:r>
              <a:rPr lang="zh-CN" altLang="en-US" sz="1200" b="1">
                <a:latin typeface="微软雅黑" charset="0"/>
                <a:ea typeface="微软雅黑" charset="0"/>
                <a:cs typeface="微软雅黑" charset="0"/>
              </a:rPr>
              <a:t>图像</a:t>
            </a:r>
            <a:endParaRPr lang="zh-CN" altLang="en-US" sz="1200" b="1">
              <a:latin typeface="微软雅黑" charset="0"/>
              <a:ea typeface="微软雅黑" charset="0"/>
              <a:cs typeface="微软雅黑" charset="0"/>
            </a:endParaRPr>
          </a:p>
        </p:txBody>
      </p:sp>
      <p:sp>
        <p:nvSpPr>
          <p:cNvPr id="11" name="文本框 10"/>
          <p:cNvSpPr txBox="1"/>
          <p:nvPr>
            <p:custDataLst>
              <p:tags r:id="rId8"/>
            </p:custDataLst>
          </p:nvPr>
        </p:nvSpPr>
        <p:spPr>
          <a:xfrm>
            <a:off x="9697720" y="2089150"/>
            <a:ext cx="1592580"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通过</a:t>
            </a:r>
            <a:r>
              <a:rPr lang="en-US" altLang="zh-CN" sz="1200" b="1">
                <a:latin typeface="微软雅黑" charset="0"/>
                <a:ea typeface="微软雅黑" charset="0"/>
                <a:cs typeface="微软雅黑" charset="0"/>
              </a:rPr>
              <a:t>RGF</a:t>
            </a:r>
            <a:r>
              <a:rPr lang="zh-CN" altLang="en-US" sz="1200" b="1">
                <a:latin typeface="微软雅黑" charset="0"/>
                <a:ea typeface="微软雅黑" charset="0"/>
                <a:cs typeface="微软雅黑" charset="0"/>
              </a:rPr>
              <a:t>更新</a:t>
            </a:r>
            <a:endParaRPr lang="zh-CN" altLang="en-US" sz="1200" b="1">
              <a:latin typeface="微软雅黑" charset="0"/>
              <a:ea typeface="微软雅黑" charset="0"/>
              <a:cs typeface="微软雅黑" charset="0"/>
            </a:endParaRPr>
          </a:p>
        </p:txBody>
      </p:sp>
      <p:sp>
        <p:nvSpPr>
          <p:cNvPr id="12" name="文本框 11"/>
          <p:cNvSpPr txBox="1"/>
          <p:nvPr>
            <p:custDataLst>
              <p:tags r:id="rId9"/>
            </p:custDataLst>
          </p:nvPr>
        </p:nvSpPr>
        <p:spPr>
          <a:xfrm>
            <a:off x="2839720" y="4629150"/>
            <a:ext cx="1592580"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干净图像的正常</a:t>
            </a:r>
            <a:r>
              <a:rPr lang="zh-CN" altLang="en-US" sz="1200" b="1">
                <a:latin typeface="微软雅黑" charset="0"/>
                <a:ea typeface="微软雅黑" charset="0"/>
                <a:cs typeface="微软雅黑" charset="0"/>
              </a:rPr>
              <a:t>输出</a:t>
            </a:r>
            <a:endParaRPr lang="zh-CN" altLang="en-US" sz="1200" b="1">
              <a:latin typeface="微软雅黑" charset="0"/>
              <a:ea typeface="微软雅黑" charset="0"/>
              <a:cs typeface="微软雅黑" charset="0"/>
            </a:endParaRPr>
          </a:p>
        </p:txBody>
      </p:sp>
      <p:sp>
        <p:nvSpPr>
          <p:cNvPr id="13" name="文本框 12"/>
          <p:cNvSpPr txBox="1"/>
          <p:nvPr>
            <p:custDataLst>
              <p:tags r:id="rId10"/>
            </p:custDataLst>
          </p:nvPr>
        </p:nvSpPr>
        <p:spPr>
          <a:xfrm>
            <a:off x="7411720" y="4629150"/>
            <a:ext cx="1592580"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扰动图像错误</a:t>
            </a:r>
            <a:r>
              <a:rPr lang="zh-CN" altLang="en-US" sz="1200" b="1">
                <a:latin typeface="微软雅黑" charset="0"/>
                <a:ea typeface="微软雅黑" charset="0"/>
                <a:cs typeface="微软雅黑" charset="0"/>
              </a:rPr>
              <a:t>输出</a:t>
            </a:r>
            <a:endParaRPr lang="zh-CN" altLang="en-US" sz="1200" b="1">
              <a:latin typeface="微软雅黑" charset="0"/>
              <a:ea typeface="微软雅黑" charset="0"/>
              <a:cs typeface="微软雅黑" charset="0"/>
            </a:endParaRPr>
          </a:p>
        </p:txBody>
      </p:sp>
      <p:sp>
        <p:nvSpPr>
          <p:cNvPr id="14" name="文本框 13"/>
          <p:cNvSpPr txBox="1"/>
          <p:nvPr>
            <p:custDataLst>
              <p:tags r:id="rId11"/>
            </p:custDataLst>
          </p:nvPr>
        </p:nvSpPr>
        <p:spPr>
          <a:xfrm>
            <a:off x="4432300" y="2346325"/>
            <a:ext cx="2799715"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使用</a:t>
            </a:r>
            <a:r>
              <a:rPr lang="en-US" altLang="zh-CN" sz="1200" b="1">
                <a:latin typeface="微软雅黑" charset="0"/>
                <a:ea typeface="微软雅黑" charset="0"/>
                <a:cs typeface="微软雅黑" charset="0"/>
              </a:rPr>
              <a:t>PGD</a:t>
            </a:r>
            <a:r>
              <a:rPr lang="zh-CN" altLang="en-US" sz="1200" b="1">
                <a:latin typeface="微软雅黑" charset="0"/>
                <a:ea typeface="微软雅黑" charset="0"/>
                <a:cs typeface="微软雅黑" charset="0"/>
              </a:rPr>
              <a:t>优化</a:t>
            </a:r>
            <a:endParaRPr lang="zh-CN" altLang="en-US" sz="1200" b="1">
              <a:latin typeface="微软雅黑" charset="0"/>
              <a:ea typeface="微软雅黑" charset="0"/>
              <a:cs typeface="微软雅黑" charset="0"/>
            </a:endParaRPr>
          </a:p>
        </p:txBody>
      </p:sp>
      <p:pic>
        <p:nvPicPr>
          <p:cNvPr id="15" name="图片 14"/>
          <p:cNvPicPr>
            <a:picLocks noChangeAspect="1"/>
          </p:cNvPicPr>
          <p:nvPr>
            <p:custDataLst>
              <p:tags r:id="rId12"/>
            </p:custDataLst>
          </p:nvPr>
        </p:nvPicPr>
        <p:blipFill>
          <a:blip r:embed="rId13"/>
          <a:stretch>
            <a:fillRect/>
          </a:stretch>
        </p:blipFill>
        <p:spPr>
          <a:xfrm>
            <a:off x="451485" y="5075555"/>
            <a:ext cx="3136900" cy="584200"/>
          </a:xfrm>
          <a:prstGeom prst="rect">
            <a:avLst/>
          </a:prstGeom>
        </p:spPr>
      </p:pic>
      <p:pic>
        <p:nvPicPr>
          <p:cNvPr id="16" name="图片 15"/>
          <p:cNvPicPr>
            <a:picLocks noChangeAspect="1"/>
          </p:cNvPicPr>
          <p:nvPr>
            <p:custDataLst>
              <p:tags r:id="rId14"/>
            </p:custDataLst>
          </p:nvPr>
        </p:nvPicPr>
        <p:blipFill>
          <a:blip r:embed="rId15"/>
          <a:stretch>
            <a:fillRect/>
          </a:stretch>
        </p:blipFill>
        <p:spPr>
          <a:xfrm>
            <a:off x="4432300" y="5075555"/>
            <a:ext cx="3289300" cy="546100"/>
          </a:xfrm>
          <a:prstGeom prst="rect">
            <a:avLst/>
          </a:prstGeom>
        </p:spPr>
      </p:pic>
      <p:pic>
        <p:nvPicPr>
          <p:cNvPr id="17" name="图片 16"/>
          <p:cNvPicPr>
            <a:picLocks noChangeAspect="1"/>
          </p:cNvPicPr>
          <p:nvPr>
            <p:custDataLst>
              <p:tags r:id="rId16"/>
            </p:custDataLst>
          </p:nvPr>
        </p:nvPicPr>
        <p:blipFill>
          <a:blip r:embed="rId17"/>
          <a:stretch>
            <a:fillRect/>
          </a:stretch>
        </p:blipFill>
        <p:spPr>
          <a:xfrm>
            <a:off x="8411210" y="5075555"/>
            <a:ext cx="3695700" cy="596900"/>
          </a:xfrm>
          <a:prstGeom prst="rect">
            <a:avLst/>
          </a:prstGeom>
        </p:spPr>
      </p:pic>
      <p:pic>
        <p:nvPicPr>
          <p:cNvPr id="18" name="图片 17"/>
          <p:cNvPicPr>
            <a:picLocks noChangeAspect="1"/>
          </p:cNvPicPr>
          <p:nvPr>
            <p:custDataLst>
              <p:tags r:id="rId18"/>
            </p:custDataLst>
          </p:nvPr>
        </p:nvPicPr>
        <p:blipFill>
          <a:blip r:embed="rId19"/>
          <a:stretch>
            <a:fillRect/>
          </a:stretch>
        </p:blipFill>
        <p:spPr>
          <a:xfrm>
            <a:off x="5300345" y="5988685"/>
            <a:ext cx="5815965" cy="858520"/>
          </a:xfrm>
          <a:prstGeom prst="rect">
            <a:avLst/>
          </a:prstGeom>
        </p:spPr>
      </p:pic>
      <p:sp>
        <p:nvSpPr>
          <p:cNvPr id="20" name="文本框 19"/>
          <p:cNvSpPr txBox="1"/>
          <p:nvPr>
            <p:custDataLst>
              <p:tags r:id="rId20"/>
            </p:custDataLst>
          </p:nvPr>
        </p:nvSpPr>
        <p:spPr>
          <a:xfrm>
            <a:off x="786130" y="4982845"/>
            <a:ext cx="2799715" cy="575310"/>
          </a:xfrm>
          <a:prstGeom prst="rect">
            <a:avLst/>
          </a:prstGeom>
          <a:noFill/>
        </p:spPr>
        <p:txBody>
          <a:bodyPr wrap="square" rtlCol="0">
            <a:noAutofit/>
          </a:bodyPr>
          <a:p>
            <a:pPr algn="ctr"/>
            <a:r>
              <a:rPr lang="en-US" altLang="zh-CN" sz="1200" b="1">
                <a:solidFill>
                  <a:srgbClr val="FF0000"/>
                </a:solidFill>
                <a:latin typeface="微软雅黑" charset="0"/>
                <a:ea typeface="微软雅黑" charset="0"/>
                <a:cs typeface="微软雅黑" charset="0"/>
              </a:rPr>
              <a:t>MF-it</a:t>
            </a:r>
            <a:endParaRPr lang="en-US" altLang="zh-CN" sz="1200" b="1">
              <a:solidFill>
                <a:srgbClr val="FF0000"/>
              </a:solidFill>
              <a:latin typeface="微软雅黑" charset="0"/>
              <a:ea typeface="微软雅黑" charset="0"/>
              <a:cs typeface="微软雅黑" charset="0"/>
            </a:endParaRPr>
          </a:p>
        </p:txBody>
      </p:sp>
      <p:sp>
        <p:nvSpPr>
          <p:cNvPr id="21" name="文本框 20"/>
          <p:cNvSpPr txBox="1"/>
          <p:nvPr>
            <p:custDataLst>
              <p:tags r:id="rId21"/>
            </p:custDataLst>
          </p:nvPr>
        </p:nvSpPr>
        <p:spPr>
          <a:xfrm>
            <a:off x="4723130" y="4975860"/>
            <a:ext cx="2799715" cy="575310"/>
          </a:xfrm>
          <a:prstGeom prst="rect">
            <a:avLst/>
          </a:prstGeom>
          <a:noFill/>
        </p:spPr>
        <p:txBody>
          <a:bodyPr wrap="square" rtlCol="0">
            <a:noAutofit/>
          </a:bodyPr>
          <a:p>
            <a:pPr algn="ctr"/>
            <a:r>
              <a:rPr lang="en-US" altLang="zh-CN" sz="1200" b="1">
                <a:solidFill>
                  <a:srgbClr val="FF0000"/>
                </a:solidFill>
                <a:latin typeface="微软雅黑" charset="0"/>
                <a:ea typeface="微软雅黑" charset="0"/>
                <a:cs typeface="微软雅黑" charset="0"/>
              </a:rPr>
              <a:t>MF-ii</a:t>
            </a:r>
            <a:endParaRPr lang="en-US" altLang="zh-CN" sz="1200" b="1">
              <a:solidFill>
                <a:srgbClr val="FF0000"/>
              </a:solidFill>
              <a:latin typeface="微软雅黑" charset="0"/>
              <a:ea typeface="微软雅黑" charset="0"/>
              <a:cs typeface="微软雅黑" charset="0"/>
            </a:endParaRPr>
          </a:p>
        </p:txBody>
      </p:sp>
      <p:sp>
        <p:nvSpPr>
          <p:cNvPr id="22" name="文本框 21"/>
          <p:cNvSpPr txBox="1"/>
          <p:nvPr>
            <p:custDataLst>
              <p:tags r:id="rId22"/>
            </p:custDataLst>
          </p:nvPr>
        </p:nvSpPr>
        <p:spPr>
          <a:xfrm>
            <a:off x="8914130" y="4982845"/>
            <a:ext cx="2799715" cy="575310"/>
          </a:xfrm>
          <a:prstGeom prst="rect">
            <a:avLst/>
          </a:prstGeom>
          <a:noFill/>
        </p:spPr>
        <p:txBody>
          <a:bodyPr wrap="square" rtlCol="0">
            <a:noAutofit/>
          </a:bodyPr>
          <a:p>
            <a:pPr algn="ctr"/>
            <a:r>
              <a:rPr lang="en-US" altLang="zh-CN" sz="1200" b="1">
                <a:solidFill>
                  <a:srgbClr val="FF0000"/>
                </a:solidFill>
                <a:latin typeface="微软雅黑" charset="0"/>
                <a:ea typeface="微软雅黑" charset="0"/>
                <a:cs typeface="微软雅黑" charset="0"/>
              </a:rPr>
              <a:t>MF-tt</a:t>
            </a:r>
            <a:endParaRPr lang="en-US" altLang="zh-CN" sz="1200" b="1">
              <a:solidFill>
                <a:srgbClr val="FF0000"/>
              </a:solidFill>
              <a:latin typeface="微软雅黑" charset="0"/>
              <a:ea typeface="微软雅黑" charset="0"/>
              <a:cs typeface="微软雅黑" charset="0"/>
            </a:endParaRPr>
          </a:p>
        </p:txBody>
      </p:sp>
      <p:sp>
        <p:nvSpPr>
          <p:cNvPr id="23" name="文本框 22"/>
          <p:cNvSpPr txBox="1"/>
          <p:nvPr>
            <p:custDataLst>
              <p:tags r:id="rId23"/>
            </p:custDataLst>
          </p:nvPr>
        </p:nvSpPr>
        <p:spPr>
          <a:xfrm>
            <a:off x="659130" y="5490845"/>
            <a:ext cx="2799715"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第一种</a:t>
            </a:r>
            <a:r>
              <a:rPr lang="en-US" altLang="zh-CN" sz="1200" b="1">
                <a:latin typeface="微软雅黑" charset="0"/>
                <a:ea typeface="微软雅黑" charset="0"/>
                <a:cs typeface="微软雅黑" charset="0"/>
              </a:rPr>
              <a:t> </a:t>
            </a:r>
            <a:r>
              <a:rPr lang="zh-CN" altLang="en-US" sz="1200" b="1">
                <a:latin typeface="微软雅黑" charset="0"/>
                <a:ea typeface="微软雅黑" charset="0"/>
                <a:cs typeface="微软雅黑" charset="0"/>
              </a:rPr>
              <a:t>第一步</a:t>
            </a:r>
            <a:r>
              <a:rPr lang="en-US" altLang="zh-CN" sz="1200" b="1">
                <a:latin typeface="微软雅黑" charset="0"/>
                <a:ea typeface="微软雅黑" charset="0"/>
                <a:cs typeface="微软雅黑" charset="0"/>
              </a:rPr>
              <a:t> </a:t>
            </a:r>
            <a:r>
              <a:rPr lang="zh-CN" altLang="en-US" sz="1200" b="1">
                <a:latin typeface="微软雅黑" charset="0"/>
                <a:ea typeface="微软雅黑" charset="0"/>
                <a:cs typeface="微软雅黑" charset="0"/>
              </a:rPr>
              <a:t>图像左侧</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让锚点文本和扰动图像特征内积</a:t>
            </a:r>
            <a:r>
              <a:rPr lang="zh-CN" altLang="en-US" sz="1200" b="1">
                <a:latin typeface="微软雅黑" charset="0"/>
                <a:ea typeface="微软雅黑" charset="0"/>
                <a:cs typeface="微软雅黑" charset="0"/>
              </a:rPr>
              <a:t>最大化</a:t>
            </a:r>
            <a:endParaRPr lang="zh-CN" altLang="en-US" sz="1200" b="1">
              <a:latin typeface="微软雅黑" charset="0"/>
              <a:ea typeface="微软雅黑" charset="0"/>
              <a:cs typeface="微软雅黑" charset="0"/>
            </a:endParaRPr>
          </a:p>
        </p:txBody>
      </p:sp>
      <p:sp>
        <p:nvSpPr>
          <p:cNvPr id="24" name="文本框 23"/>
          <p:cNvSpPr txBox="1"/>
          <p:nvPr>
            <p:custDataLst>
              <p:tags r:id="rId24"/>
            </p:custDataLst>
          </p:nvPr>
        </p:nvSpPr>
        <p:spPr>
          <a:xfrm>
            <a:off x="4518660" y="5490845"/>
            <a:ext cx="3463290"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第二种</a:t>
            </a:r>
            <a:r>
              <a:rPr lang="en-US" altLang="zh-CN" sz="1200" b="1">
                <a:latin typeface="微软雅黑" charset="0"/>
                <a:ea typeface="微软雅黑" charset="0"/>
                <a:cs typeface="微软雅黑" charset="0"/>
              </a:rPr>
              <a:t> </a:t>
            </a:r>
            <a:r>
              <a:rPr lang="zh-CN" altLang="en-US" sz="1200" b="1">
                <a:latin typeface="微软雅黑" charset="0"/>
                <a:ea typeface="微软雅黑" charset="0"/>
                <a:cs typeface="微软雅黑" charset="0"/>
              </a:rPr>
              <a:t>第一步</a:t>
            </a:r>
            <a:r>
              <a:rPr lang="en-US" altLang="zh-CN" sz="1200" b="1">
                <a:latin typeface="微软雅黑" charset="0"/>
                <a:ea typeface="微软雅黑" charset="0"/>
                <a:cs typeface="微软雅黑" charset="0"/>
              </a:rPr>
              <a:t> </a:t>
            </a:r>
            <a:r>
              <a:rPr lang="zh-CN" altLang="en-US" sz="1200" b="1">
                <a:latin typeface="微软雅黑" charset="0"/>
                <a:ea typeface="微软雅黑" charset="0"/>
                <a:cs typeface="微软雅黑" charset="0"/>
              </a:rPr>
              <a:t>图像左侧</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让锚点文本生成的图像和扰动图像内积最大</a:t>
            </a:r>
            <a:r>
              <a:rPr lang="zh-CN" altLang="en-US" sz="1200" b="1">
                <a:latin typeface="微软雅黑" charset="0"/>
                <a:ea typeface="微软雅黑" charset="0"/>
                <a:cs typeface="微软雅黑" charset="0"/>
              </a:rPr>
              <a:t>化</a:t>
            </a:r>
            <a:endParaRPr lang="zh-CN" altLang="en-US" sz="1200" b="1">
              <a:latin typeface="微软雅黑" charset="0"/>
              <a:ea typeface="微软雅黑" charset="0"/>
              <a:cs typeface="微软雅黑" charset="0"/>
            </a:endParaRPr>
          </a:p>
        </p:txBody>
      </p:sp>
      <p:sp>
        <p:nvSpPr>
          <p:cNvPr id="25" name="文本框 24"/>
          <p:cNvSpPr txBox="1"/>
          <p:nvPr>
            <p:custDataLst>
              <p:tags r:id="rId25"/>
            </p:custDataLst>
          </p:nvPr>
        </p:nvSpPr>
        <p:spPr>
          <a:xfrm>
            <a:off x="8582660" y="5490845"/>
            <a:ext cx="3463290"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第二步</a:t>
            </a:r>
            <a:r>
              <a:rPr lang="en-US" altLang="zh-CN" sz="1200" b="1">
                <a:latin typeface="微软雅黑" charset="0"/>
                <a:ea typeface="微软雅黑" charset="0"/>
                <a:cs typeface="微软雅黑" charset="0"/>
              </a:rPr>
              <a:t> </a:t>
            </a:r>
            <a:r>
              <a:rPr lang="zh-CN" altLang="en-US" sz="1200" b="1">
                <a:latin typeface="微软雅黑" charset="0"/>
                <a:ea typeface="微软雅黑" charset="0"/>
                <a:cs typeface="微软雅黑" charset="0"/>
              </a:rPr>
              <a:t>图像右侧</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让输入</a:t>
            </a:r>
            <a:r>
              <a:rPr lang="en-US" altLang="zh-CN" sz="1200" b="1">
                <a:latin typeface="微软雅黑" charset="0"/>
                <a:ea typeface="微软雅黑" charset="0"/>
                <a:cs typeface="微软雅黑" charset="0"/>
              </a:rPr>
              <a:t>VLM</a:t>
            </a:r>
            <a:r>
              <a:rPr lang="zh-CN" altLang="en-US" sz="1200" b="1">
                <a:latin typeface="微软雅黑" charset="0"/>
                <a:ea typeface="微软雅黑" charset="0"/>
                <a:cs typeface="微软雅黑" charset="0"/>
              </a:rPr>
              <a:t>的由第一步生成的扰动图像和文本生成的</a:t>
            </a:r>
            <a:r>
              <a:rPr lang="en-US" altLang="zh-CN" sz="1200" b="1">
                <a:latin typeface="微软雅黑" charset="0"/>
                <a:ea typeface="微软雅黑" charset="0"/>
                <a:cs typeface="微软雅黑" charset="0"/>
              </a:rPr>
              <a:t>LLM</a:t>
            </a:r>
            <a:r>
              <a:rPr lang="zh-CN" altLang="en-US" sz="1200" b="1">
                <a:latin typeface="微软雅黑" charset="0"/>
                <a:ea typeface="微软雅黑" charset="0"/>
                <a:cs typeface="微软雅黑" charset="0"/>
              </a:rPr>
              <a:t>和锚点文本的特征内积</a:t>
            </a:r>
            <a:r>
              <a:rPr lang="zh-CN" altLang="en-US" sz="1200" b="1">
                <a:latin typeface="微软雅黑" charset="0"/>
                <a:ea typeface="微软雅黑" charset="0"/>
                <a:cs typeface="微软雅黑" charset="0"/>
              </a:rPr>
              <a:t>最大化</a:t>
            </a:r>
            <a:endParaRPr lang="zh-CN" altLang="en-US" sz="1200" b="1">
              <a:latin typeface="微软雅黑" charset="0"/>
              <a:ea typeface="微软雅黑" charset="0"/>
              <a:cs typeface="微软雅黑" charset="0"/>
            </a:endParaRPr>
          </a:p>
        </p:txBody>
      </p:sp>
      <p:sp>
        <p:nvSpPr>
          <p:cNvPr id="26" name="文本框 25"/>
          <p:cNvSpPr txBox="1"/>
          <p:nvPr>
            <p:custDataLst>
              <p:tags r:id="rId26"/>
            </p:custDataLst>
          </p:nvPr>
        </p:nvSpPr>
        <p:spPr>
          <a:xfrm>
            <a:off x="2105660" y="6125845"/>
            <a:ext cx="3463290" cy="575310"/>
          </a:xfrm>
          <a:prstGeom prst="rect">
            <a:avLst/>
          </a:prstGeom>
          <a:noFill/>
        </p:spPr>
        <p:txBody>
          <a:bodyPr wrap="square" rtlCol="0">
            <a:noAutofit/>
          </a:bodyPr>
          <a:p>
            <a:pPr algn="ctr"/>
            <a:r>
              <a:rPr lang="en-US" altLang="zh-CN" sz="1200" b="1">
                <a:latin typeface="微软雅黑" charset="0"/>
                <a:ea typeface="微软雅黑" charset="0"/>
                <a:cs typeface="微软雅黑" charset="0"/>
              </a:rPr>
              <a:t>MF-tt</a:t>
            </a:r>
            <a:r>
              <a:rPr lang="zh-CN" altLang="en-US" sz="1200" b="1">
                <a:latin typeface="微软雅黑" charset="0"/>
                <a:ea typeface="微软雅黑" charset="0"/>
                <a:cs typeface="微软雅黑" charset="0"/>
              </a:rPr>
              <a:t>的优化策略</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计算添加图像扰动前后的图像特征和目标文本的特征的相似度的差值来作为梯度来更新图像扰动</a:t>
            </a:r>
            <a:endParaRPr lang="zh-CN" altLang="en-US" sz="1200" b="1">
              <a:latin typeface="微软雅黑" charset="0"/>
              <a:ea typeface="微软雅黑" charset="0"/>
              <a:cs typeface="微软雅黑" charset="0"/>
            </a:endParaRPr>
          </a:p>
        </p:txBody>
      </p:sp>
      <p:sp>
        <p:nvSpPr>
          <p:cNvPr id="27" name="矩形: 圆角 36"/>
          <p:cNvSpPr/>
          <p:nvPr>
            <p:custDataLst>
              <p:tags r:id="rId27"/>
            </p:custDataLst>
          </p:nvPr>
        </p:nvSpPr>
        <p:spPr>
          <a:xfrm rot="10800000" flipV="1">
            <a:off x="1802130" y="132715"/>
            <a:ext cx="3695700" cy="205105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矩形: 圆角 36"/>
          <p:cNvSpPr/>
          <p:nvPr>
            <p:custDataLst>
              <p:tags r:id="rId28"/>
            </p:custDataLst>
          </p:nvPr>
        </p:nvSpPr>
        <p:spPr>
          <a:xfrm rot="10800000" flipV="1">
            <a:off x="558800" y="2183765"/>
            <a:ext cx="3136900" cy="1049655"/>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矩形: 圆角 36"/>
          <p:cNvSpPr/>
          <p:nvPr>
            <p:custDataLst>
              <p:tags r:id="rId29"/>
            </p:custDataLst>
          </p:nvPr>
        </p:nvSpPr>
        <p:spPr>
          <a:xfrm rot="10800000" flipV="1">
            <a:off x="3695700" y="2219325"/>
            <a:ext cx="2661285" cy="151130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矩形: 圆角 36"/>
          <p:cNvSpPr/>
          <p:nvPr>
            <p:custDataLst>
              <p:tags r:id="rId30"/>
            </p:custDataLst>
          </p:nvPr>
        </p:nvSpPr>
        <p:spPr>
          <a:xfrm rot="10800000" flipV="1">
            <a:off x="6291580" y="428625"/>
            <a:ext cx="4745990" cy="316865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 name="矩形: 圆角 36"/>
          <p:cNvSpPr/>
          <p:nvPr>
            <p:custDataLst>
              <p:tags r:id="rId31"/>
            </p:custDataLst>
          </p:nvPr>
        </p:nvSpPr>
        <p:spPr>
          <a:xfrm rot="10800000" flipV="1">
            <a:off x="1824355" y="3733800"/>
            <a:ext cx="4105275" cy="120650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 name="矩形: 圆角 36"/>
          <p:cNvSpPr/>
          <p:nvPr>
            <p:custDataLst>
              <p:tags r:id="rId32"/>
            </p:custDataLst>
          </p:nvPr>
        </p:nvSpPr>
        <p:spPr>
          <a:xfrm rot="10800000" flipV="1">
            <a:off x="6396355" y="3733800"/>
            <a:ext cx="4105275" cy="1206500"/>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 name="矩形: 圆角 36"/>
          <p:cNvSpPr/>
          <p:nvPr>
            <p:custDataLst>
              <p:tags r:id="rId33"/>
            </p:custDataLst>
          </p:nvPr>
        </p:nvSpPr>
        <p:spPr>
          <a:xfrm rot="10800000" flipV="1">
            <a:off x="434975" y="4976495"/>
            <a:ext cx="3435350" cy="1106805"/>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矩形: 圆角 36"/>
          <p:cNvSpPr/>
          <p:nvPr>
            <p:custDataLst>
              <p:tags r:id="rId34"/>
            </p:custDataLst>
          </p:nvPr>
        </p:nvSpPr>
        <p:spPr>
          <a:xfrm rot="10800000" flipV="1">
            <a:off x="4498975" y="4976495"/>
            <a:ext cx="3435350" cy="1106805"/>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 name="矩形: 圆角 36"/>
          <p:cNvSpPr/>
          <p:nvPr>
            <p:custDataLst>
              <p:tags r:id="rId35"/>
            </p:custDataLst>
          </p:nvPr>
        </p:nvSpPr>
        <p:spPr>
          <a:xfrm rot="10800000" flipV="1">
            <a:off x="8562975" y="4976495"/>
            <a:ext cx="3435350" cy="1106805"/>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a:t>Co-Attack</a:t>
            </a:r>
            <a:endParaRPr lang="en-US" altLang="zh-CN"/>
          </a:p>
        </p:txBody>
      </p:sp>
      <p:sp>
        <p:nvSpPr>
          <p:cNvPr id="3" name="副标题 2"/>
          <p:cNvSpPr>
            <a:spLocks noGrp="1"/>
          </p:cNvSpPr>
          <p:nvPr>
            <p:ph type="subTitle" idx="1"/>
          </p:nvPr>
        </p:nvSpPr>
        <p:spPr/>
        <p:txBody>
          <a:bodyPr/>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stretch>
            <a:fillRect/>
          </a:stretch>
        </p:blipFill>
        <p:spPr>
          <a:xfrm>
            <a:off x="6664325" y="2835910"/>
            <a:ext cx="5265420" cy="401002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457835" y="2209800"/>
            <a:ext cx="3124200" cy="596900"/>
          </a:xfrm>
          <a:prstGeom prst="rect">
            <a:avLst/>
          </a:prstGeom>
        </p:spPr>
      </p:pic>
      <p:pic>
        <p:nvPicPr>
          <p:cNvPr id="8" name="图片 7"/>
          <p:cNvPicPr>
            <a:picLocks noChangeAspect="1"/>
          </p:cNvPicPr>
          <p:nvPr>
            <p:custDataLst>
              <p:tags r:id="rId5"/>
            </p:custDataLst>
          </p:nvPr>
        </p:nvPicPr>
        <p:blipFill>
          <a:blip r:embed="rId6"/>
          <a:stretch>
            <a:fillRect/>
          </a:stretch>
        </p:blipFill>
        <p:spPr>
          <a:xfrm>
            <a:off x="510540" y="865505"/>
            <a:ext cx="3060700" cy="431800"/>
          </a:xfrm>
          <a:prstGeom prst="rect">
            <a:avLst/>
          </a:prstGeom>
        </p:spPr>
      </p:pic>
      <p:sp>
        <p:nvSpPr>
          <p:cNvPr id="13" name="文本框 12"/>
          <p:cNvSpPr txBox="1"/>
          <p:nvPr>
            <p:custDataLst>
              <p:tags r:id="rId7"/>
            </p:custDataLst>
          </p:nvPr>
        </p:nvSpPr>
        <p:spPr>
          <a:xfrm>
            <a:off x="384175" y="253365"/>
            <a:ext cx="3509010"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对于图像模态的优化</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朝着原图和对抗图像</a:t>
            </a:r>
            <a:r>
              <a:rPr lang="en-US" altLang="zh-CN" sz="1200" b="1">
                <a:latin typeface="微软雅黑" charset="0"/>
                <a:ea typeface="微软雅黑" charset="0"/>
                <a:cs typeface="微软雅黑" charset="0"/>
              </a:rPr>
              <a:t>KL</a:t>
            </a:r>
            <a:r>
              <a:rPr lang="zh-CN" altLang="en-US" sz="1200" b="1">
                <a:latin typeface="微软雅黑" charset="0"/>
                <a:ea typeface="微软雅黑" charset="0"/>
                <a:cs typeface="微软雅黑" charset="0"/>
              </a:rPr>
              <a:t>散度最大的方向更新扰动</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在单图像</a:t>
            </a:r>
            <a:r>
              <a:rPr lang="zh-CN" altLang="en-US" sz="1200" b="1">
                <a:latin typeface="微软雅黑" charset="0"/>
                <a:ea typeface="微软雅黑" charset="0"/>
                <a:cs typeface="微软雅黑" charset="0"/>
              </a:rPr>
              <a:t>特征空间中</a:t>
            </a:r>
            <a:endParaRPr lang="zh-CN" altLang="en-US" sz="1200" b="1">
              <a:latin typeface="微软雅黑" charset="0"/>
              <a:ea typeface="微软雅黑" charset="0"/>
              <a:cs typeface="微软雅黑" charset="0"/>
            </a:endParaRPr>
          </a:p>
        </p:txBody>
      </p:sp>
      <p:sp>
        <p:nvSpPr>
          <p:cNvPr id="9" name="文本框 8"/>
          <p:cNvSpPr txBox="1"/>
          <p:nvPr>
            <p:custDataLst>
              <p:tags r:id="rId8"/>
            </p:custDataLst>
          </p:nvPr>
        </p:nvSpPr>
        <p:spPr>
          <a:xfrm>
            <a:off x="384175" y="1650365"/>
            <a:ext cx="3509010"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对于文本模态的优化</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找到一个新的文本，让原始</a:t>
            </a:r>
            <a:r>
              <a:rPr lang="zh-CN" altLang="en-US" sz="1200" b="1">
                <a:latin typeface="微软雅黑" charset="0"/>
                <a:ea typeface="微软雅黑" charset="0"/>
                <a:cs typeface="微软雅黑" charset="0"/>
              </a:rPr>
              <a:t>文本和新的</a:t>
            </a:r>
            <a:r>
              <a:rPr lang="zh-CN" altLang="en-US" sz="1200" b="1">
                <a:latin typeface="微软雅黑" charset="0"/>
                <a:ea typeface="微软雅黑" charset="0"/>
                <a:cs typeface="微软雅黑" charset="0"/>
              </a:rPr>
              <a:t>文本在特征空间中距离</a:t>
            </a:r>
            <a:r>
              <a:rPr lang="zh-CN" altLang="en-US" sz="1200" b="1">
                <a:latin typeface="微软雅黑" charset="0"/>
                <a:ea typeface="微软雅黑" charset="0"/>
                <a:cs typeface="微软雅黑" charset="0"/>
              </a:rPr>
              <a:t>最远的方向更新</a:t>
            </a:r>
            <a:r>
              <a:rPr lang="zh-CN" altLang="en-US" sz="1200" b="1">
                <a:latin typeface="微软雅黑" charset="0"/>
                <a:ea typeface="微软雅黑" charset="0"/>
                <a:cs typeface="微软雅黑" charset="0"/>
              </a:rPr>
              <a:t>扰动</a:t>
            </a:r>
            <a:endParaRPr lang="zh-CN" altLang="en-US" sz="1200" b="1">
              <a:latin typeface="微软雅黑" charset="0"/>
              <a:ea typeface="微软雅黑" charset="0"/>
              <a:cs typeface="微软雅黑" charset="0"/>
            </a:endParaRPr>
          </a:p>
        </p:txBody>
      </p:sp>
      <p:pic>
        <p:nvPicPr>
          <p:cNvPr id="10" name="图片 9"/>
          <p:cNvPicPr>
            <a:picLocks noChangeAspect="1"/>
          </p:cNvPicPr>
          <p:nvPr>
            <p:custDataLst>
              <p:tags r:id="rId9"/>
            </p:custDataLst>
          </p:nvPr>
        </p:nvPicPr>
        <p:blipFill>
          <a:blip r:embed="rId10"/>
          <a:stretch>
            <a:fillRect/>
          </a:stretch>
        </p:blipFill>
        <p:spPr>
          <a:xfrm>
            <a:off x="6767195" y="2229485"/>
            <a:ext cx="4927600" cy="571500"/>
          </a:xfrm>
          <a:prstGeom prst="rect">
            <a:avLst/>
          </a:prstGeom>
        </p:spPr>
      </p:pic>
      <p:pic>
        <p:nvPicPr>
          <p:cNvPr id="11" name="图片 10"/>
          <p:cNvPicPr>
            <a:picLocks noChangeAspect="1"/>
          </p:cNvPicPr>
          <p:nvPr>
            <p:custDataLst>
              <p:tags r:id="rId11"/>
            </p:custDataLst>
          </p:nvPr>
        </p:nvPicPr>
        <p:blipFill>
          <a:blip r:embed="rId12"/>
          <a:stretch>
            <a:fillRect/>
          </a:stretch>
        </p:blipFill>
        <p:spPr>
          <a:xfrm>
            <a:off x="6767195" y="815340"/>
            <a:ext cx="4953000" cy="457200"/>
          </a:xfrm>
          <a:prstGeom prst="rect">
            <a:avLst/>
          </a:prstGeom>
        </p:spPr>
      </p:pic>
      <p:sp>
        <p:nvSpPr>
          <p:cNvPr id="12" name="文本框 11"/>
          <p:cNvSpPr txBox="1"/>
          <p:nvPr>
            <p:custDataLst>
              <p:tags r:id="rId13"/>
            </p:custDataLst>
          </p:nvPr>
        </p:nvSpPr>
        <p:spPr>
          <a:xfrm>
            <a:off x="7496175" y="253365"/>
            <a:ext cx="3509010"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对于图像模态的优化</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朝着原图和对抗图像</a:t>
            </a:r>
            <a:r>
              <a:rPr lang="en-US" altLang="zh-CN" sz="1200" b="1">
                <a:latin typeface="微软雅黑" charset="0"/>
                <a:ea typeface="微软雅黑" charset="0"/>
                <a:cs typeface="微软雅黑" charset="0"/>
              </a:rPr>
              <a:t>KL</a:t>
            </a:r>
            <a:r>
              <a:rPr lang="zh-CN" altLang="en-US" sz="1200" b="1">
                <a:latin typeface="微软雅黑" charset="0"/>
                <a:ea typeface="微软雅黑" charset="0"/>
                <a:cs typeface="微软雅黑" charset="0"/>
              </a:rPr>
              <a:t>散度最大的方向更新扰动</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在图文混合</a:t>
            </a:r>
            <a:r>
              <a:rPr lang="zh-CN" altLang="en-US" sz="1200" b="1">
                <a:latin typeface="微软雅黑" charset="0"/>
                <a:ea typeface="微软雅黑" charset="0"/>
                <a:cs typeface="微软雅黑" charset="0"/>
              </a:rPr>
              <a:t>特征空间中</a:t>
            </a:r>
            <a:endParaRPr lang="zh-CN" altLang="en-US" sz="1200" b="1">
              <a:latin typeface="微软雅黑" charset="0"/>
              <a:ea typeface="微软雅黑" charset="0"/>
              <a:cs typeface="微软雅黑" charset="0"/>
            </a:endParaRPr>
          </a:p>
        </p:txBody>
      </p:sp>
      <p:sp>
        <p:nvSpPr>
          <p:cNvPr id="15" name="文本框 14"/>
          <p:cNvSpPr txBox="1"/>
          <p:nvPr>
            <p:custDataLst>
              <p:tags r:id="rId14"/>
            </p:custDataLst>
          </p:nvPr>
        </p:nvSpPr>
        <p:spPr>
          <a:xfrm>
            <a:off x="7623175" y="1650365"/>
            <a:ext cx="3509010" cy="575310"/>
          </a:xfrm>
          <a:prstGeom prst="rect">
            <a:avLst/>
          </a:prstGeom>
          <a:noFill/>
        </p:spPr>
        <p:txBody>
          <a:bodyPr wrap="square" rtlCol="0">
            <a:noAutofit/>
          </a:bodyPr>
          <a:p>
            <a:pPr algn="ctr"/>
            <a:r>
              <a:rPr lang="zh-CN" altLang="en-US" sz="1200" b="1">
                <a:latin typeface="微软雅黑" charset="0"/>
                <a:ea typeface="微软雅黑" charset="0"/>
                <a:cs typeface="微软雅黑" charset="0"/>
              </a:rPr>
              <a:t>对于文本模态的优化</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找到一个新的文本，让原始文本和新的文本在</a:t>
            </a:r>
            <a:r>
              <a:rPr lang="zh-CN" altLang="en-US" sz="1200" b="1">
                <a:solidFill>
                  <a:srgbClr val="FF0000"/>
                </a:solidFill>
                <a:latin typeface="微软雅黑" charset="0"/>
                <a:ea typeface="微软雅黑" charset="0"/>
                <a:cs typeface="微软雅黑" charset="0"/>
              </a:rPr>
              <a:t>图文混合特征空间</a:t>
            </a:r>
            <a:r>
              <a:rPr lang="zh-CN" altLang="en-US" sz="1200" b="1">
                <a:latin typeface="微软雅黑" charset="0"/>
                <a:ea typeface="微软雅黑" charset="0"/>
                <a:cs typeface="微软雅黑" charset="0"/>
              </a:rPr>
              <a:t>中距离</a:t>
            </a:r>
            <a:r>
              <a:rPr lang="zh-CN" altLang="en-US" sz="1200" b="1">
                <a:latin typeface="微软雅黑" charset="0"/>
                <a:ea typeface="微软雅黑" charset="0"/>
                <a:cs typeface="微软雅黑" charset="0"/>
              </a:rPr>
              <a:t>最远的方向更新</a:t>
            </a:r>
            <a:r>
              <a:rPr lang="zh-CN" altLang="en-US" sz="1200" b="1">
                <a:latin typeface="微软雅黑" charset="0"/>
                <a:ea typeface="微软雅黑" charset="0"/>
                <a:cs typeface="微软雅黑" charset="0"/>
              </a:rPr>
              <a:t>扰动</a:t>
            </a:r>
            <a:endParaRPr lang="zh-CN" altLang="en-US" sz="1200" b="1">
              <a:latin typeface="微软雅黑" charset="0"/>
              <a:ea typeface="微软雅黑" charset="0"/>
              <a:cs typeface="微软雅黑" charset="0"/>
            </a:endParaRPr>
          </a:p>
        </p:txBody>
      </p:sp>
      <p:sp>
        <p:nvSpPr>
          <p:cNvPr id="16" name="右箭头 15"/>
          <p:cNvSpPr/>
          <p:nvPr/>
        </p:nvSpPr>
        <p:spPr>
          <a:xfrm>
            <a:off x="5289550" y="1268730"/>
            <a:ext cx="602615" cy="34417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custDataLst>
              <p:tags r:id="rId15"/>
            </p:custDataLst>
          </p:nvPr>
        </p:nvSpPr>
        <p:spPr>
          <a:xfrm>
            <a:off x="3469640" y="3429000"/>
            <a:ext cx="3509010" cy="1005205"/>
          </a:xfrm>
          <a:prstGeom prst="rect">
            <a:avLst/>
          </a:prstGeom>
          <a:noFill/>
        </p:spPr>
        <p:txBody>
          <a:bodyPr wrap="square" rtlCol="0">
            <a:noAutofit/>
          </a:bodyPr>
          <a:p>
            <a:pPr algn="ctr"/>
            <a:r>
              <a:rPr lang="zh-CN" altLang="en-US" sz="1200" b="1">
                <a:latin typeface="微软雅黑" charset="0"/>
                <a:ea typeface="微软雅黑" charset="0"/>
                <a:cs typeface="微软雅黑" charset="0"/>
              </a:rPr>
              <a:t>对于单模态攻击</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对于图像模态，攻击整图</a:t>
            </a:r>
            <a:r>
              <a:rPr lang="en-US" altLang="zh-CN" sz="1200" b="1">
                <a:latin typeface="微软雅黑" charset="0"/>
                <a:ea typeface="微软雅黑" charset="0"/>
                <a:cs typeface="微软雅黑" charset="0"/>
              </a:rPr>
              <a:t>embed&gt;</a:t>
            </a:r>
            <a:r>
              <a:rPr lang="zh-CN" altLang="en-US" sz="1200" b="1">
                <a:latin typeface="微软雅黑" charset="0"/>
                <a:ea typeface="微软雅黑" charset="0"/>
                <a:cs typeface="微软雅黑" charset="0"/>
              </a:rPr>
              <a:t>攻击</a:t>
            </a:r>
            <a:r>
              <a:rPr lang="en-US" altLang="zh-CN" sz="1200" b="1">
                <a:latin typeface="微软雅黑" charset="0"/>
                <a:ea typeface="微软雅黑" charset="0"/>
                <a:cs typeface="微软雅黑" charset="0"/>
              </a:rPr>
              <a:t>CLS</a:t>
            </a:r>
            <a:endParaRPr lang="en-US" altLang="zh-CN" sz="1200" b="1">
              <a:latin typeface="微软雅黑" charset="0"/>
              <a:ea typeface="微软雅黑" charset="0"/>
              <a:cs typeface="微软雅黑" charset="0"/>
            </a:endParaRPr>
          </a:p>
          <a:p>
            <a:pPr algn="ctr"/>
            <a:r>
              <a:rPr lang="zh-CN" altLang="en-US" sz="1200" b="1">
                <a:latin typeface="微软雅黑" charset="0"/>
                <a:ea typeface="微软雅黑" charset="0"/>
                <a:cs typeface="微软雅黑" charset="0"/>
              </a:rPr>
              <a:t>对于文本模态，攻击文本</a:t>
            </a:r>
            <a:r>
              <a:rPr lang="en-US" altLang="zh-CN" sz="1200" b="1">
                <a:latin typeface="微软雅黑" charset="0"/>
                <a:ea typeface="微软雅黑" charset="0"/>
                <a:cs typeface="微软雅黑" charset="0"/>
              </a:rPr>
              <a:t>embed&lt;</a:t>
            </a:r>
            <a:r>
              <a:rPr lang="zh-CN" altLang="en-US" sz="1200" b="1">
                <a:latin typeface="微软雅黑" charset="0"/>
                <a:ea typeface="微软雅黑" charset="0"/>
                <a:cs typeface="微软雅黑" charset="0"/>
              </a:rPr>
              <a:t>攻击</a:t>
            </a:r>
            <a:r>
              <a:rPr lang="en-US" altLang="zh-CN" sz="1200" b="1">
                <a:latin typeface="微软雅黑" charset="0"/>
                <a:ea typeface="微软雅黑" charset="0"/>
                <a:cs typeface="微软雅黑" charset="0"/>
              </a:rPr>
              <a:t>CLS</a:t>
            </a:r>
            <a:br>
              <a:rPr lang="en-US" altLang="zh-CN" sz="1200" b="1">
                <a:latin typeface="微软雅黑" charset="0"/>
                <a:ea typeface="微软雅黑" charset="0"/>
                <a:cs typeface="微软雅黑" charset="0"/>
              </a:rPr>
            </a:br>
            <a:r>
              <a:rPr lang="zh-CN" altLang="en-US" sz="1200" b="1">
                <a:latin typeface="微软雅黑" charset="0"/>
                <a:ea typeface="微软雅黑" charset="0"/>
                <a:cs typeface="微软雅黑" charset="0"/>
              </a:rPr>
              <a:t>对于混合模态</a:t>
            </a:r>
            <a:r>
              <a:rPr lang="zh-CN" altLang="en-US" sz="1200" b="1">
                <a:latin typeface="微软雅黑" charset="0"/>
                <a:ea typeface="微软雅黑" charset="0"/>
                <a:cs typeface="微软雅黑" charset="0"/>
              </a:rPr>
              <a:t>攻击</a:t>
            </a:r>
            <a:endParaRPr lang="zh-CN" altLang="en-US" sz="1200" b="1">
              <a:latin typeface="微软雅黑" charset="0"/>
              <a:ea typeface="微软雅黑" charset="0"/>
              <a:cs typeface="微软雅黑" charset="0"/>
            </a:endParaRPr>
          </a:p>
          <a:p>
            <a:pPr algn="ctr"/>
            <a:r>
              <a:rPr lang="zh-CN" altLang="en-US" sz="1200" b="1">
                <a:latin typeface="微软雅黑" charset="0"/>
                <a:ea typeface="微软雅黑" charset="0"/>
                <a:cs typeface="微软雅黑" charset="0"/>
              </a:rPr>
              <a:t>不攻击</a:t>
            </a:r>
            <a:r>
              <a:rPr lang="en-US" altLang="zh-CN" sz="1200" b="1">
                <a:latin typeface="微软雅黑" charset="0"/>
                <a:ea typeface="微软雅黑" charset="0"/>
                <a:cs typeface="微软雅黑" charset="0"/>
              </a:rPr>
              <a:t>CLS</a:t>
            </a:r>
            <a:r>
              <a:rPr lang="zh-CN" altLang="en-US" sz="1200" b="1">
                <a:latin typeface="微软雅黑" charset="0"/>
                <a:ea typeface="微软雅黑" charset="0"/>
                <a:cs typeface="微软雅黑" charset="0"/>
              </a:rPr>
              <a:t>，对图像和文本都攻击全部</a:t>
            </a:r>
            <a:r>
              <a:rPr lang="en-US" altLang="zh-CN" sz="1200" b="1">
                <a:latin typeface="微软雅黑" charset="0"/>
                <a:ea typeface="微软雅黑" charset="0"/>
                <a:cs typeface="微软雅黑" charset="0"/>
              </a:rPr>
              <a:t>embed</a:t>
            </a:r>
            <a:endParaRPr lang="en-US" altLang="zh-CN" sz="1200" b="1">
              <a:latin typeface="微软雅黑" charset="0"/>
              <a:ea typeface="微软雅黑" charset="0"/>
              <a:cs typeface="微软雅黑" charset="0"/>
            </a:endParaRPr>
          </a:p>
        </p:txBody>
      </p:sp>
      <p:sp>
        <p:nvSpPr>
          <p:cNvPr id="27" name="矩形: 圆角 36"/>
          <p:cNvSpPr/>
          <p:nvPr>
            <p:custDataLst>
              <p:tags r:id="rId16"/>
            </p:custDataLst>
          </p:nvPr>
        </p:nvSpPr>
        <p:spPr>
          <a:xfrm rot="10800000" flipV="1">
            <a:off x="405130" y="132715"/>
            <a:ext cx="3695700" cy="2673985"/>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nvSpPr>
        <p:spPr>
          <a:xfrm>
            <a:off x="405130" y="1272540"/>
            <a:ext cx="3695700" cy="368300"/>
          </a:xfrm>
          <a:prstGeom prst="rect">
            <a:avLst/>
          </a:prstGeom>
          <a:noFill/>
        </p:spPr>
        <p:txBody>
          <a:bodyPr wrap="square" rtlCol="0">
            <a:spAutoFit/>
          </a:bodyPr>
          <a:p>
            <a:pPr algn="ctr"/>
            <a:r>
              <a:rPr lang="zh-CN" altLang="en-US" b="1">
                <a:latin typeface="微软雅黑" charset="0"/>
                <a:ea typeface="微软雅黑" charset="0"/>
              </a:rPr>
              <a:t>单模态攻击</a:t>
            </a:r>
            <a:endParaRPr lang="zh-CN" altLang="en-US" b="1">
              <a:latin typeface="微软雅黑" charset="0"/>
              <a:ea typeface="微软雅黑" charset="0"/>
            </a:endParaRPr>
          </a:p>
        </p:txBody>
      </p:sp>
      <p:sp>
        <p:nvSpPr>
          <p:cNvPr id="19" name="文本框 18"/>
          <p:cNvSpPr txBox="1"/>
          <p:nvPr>
            <p:custDataLst>
              <p:tags r:id="rId17"/>
            </p:custDataLst>
          </p:nvPr>
        </p:nvSpPr>
        <p:spPr>
          <a:xfrm>
            <a:off x="7517130" y="1272540"/>
            <a:ext cx="3695700" cy="368300"/>
          </a:xfrm>
          <a:prstGeom prst="rect">
            <a:avLst/>
          </a:prstGeom>
          <a:noFill/>
        </p:spPr>
        <p:txBody>
          <a:bodyPr wrap="square" rtlCol="0">
            <a:spAutoFit/>
          </a:bodyPr>
          <a:p>
            <a:pPr algn="ctr"/>
            <a:r>
              <a:rPr lang="zh-CN" altLang="en-US" b="1">
                <a:latin typeface="微软雅黑" charset="0"/>
                <a:ea typeface="微软雅黑" charset="0"/>
              </a:rPr>
              <a:t>混合模态攻击</a:t>
            </a:r>
            <a:endParaRPr lang="zh-CN" altLang="en-US" b="1">
              <a:latin typeface="微软雅黑" charset="0"/>
              <a:ea typeface="微软雅黑" charset="0"/>
            </a:endParaRPr>
          </a:p>
        </p:txBody>
      </p:sp>
      <p:sp>
        <p:nvSpPr>
          <p:cNvPr id="20" name="矩形: 圆角 36"/>
          <p:cNvSpPr/>
          <p:nvPr>
            <p:custDataLst>
              <p:tags r:id="rId18"/>
            </p:custDataLst>
          </p:nvPr>
        </p:nvSpPr>
        <p:spPr>
          <a:xfrm rot="10800000" flipV="1">
            <a:off x="6767195" y="253365"/>
            <a:ext cx="5059680" cy="2548255"/>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文本框 20"/>
          <p:cNvSpPr txBox="1"/>
          <p:nvPr>
            <p:custDataLst>
              <p:tags r:id="rId19"/>
            </p:custDataLst>
          </p:nvPr>
        </p:nvSpPr>
        <p:spPr>
          <a:xfrm>
            <a:off x="3435350" y="5046345"/>
            <a:ext cx="3509010" cy="1005205"/>
          </a:xfrm>
          <a:prstGeom prst="rect">
            <a:avLst/>
          </a:prstGeom>
          <a:noFill/>
        </p:spPr>
        <p:txBody>
          <a:bodyPr wrap="square" rtlCol="0">
            <a:noAutofit/>
          </a:bodyPr>
          <a:p>
            <a:pPr algn="ctr"/>
            <a:r>
              <a:rPr lang="zh-CN" altLang="en-US" sz="1200" b="1">
                <a:latin typeface="微软雅黑" charset="0"/>
                <a:ea typeface="微软雅黑" charset="0"/>
                <a:cs typeface="微软雅黑" charset="0"/>
              </a:rPr>
              <a:t>单双流在面对混合模态攻击的鲁棒性差不多</a:t>
            </a:r>
            <a:br>
              <a:rPr lang="zh-CN" altLang="en-US" sz="1200" b="1">
                <a:latin typeface="微软雅黑" charset="0"/>
                <a:ea typeface="微软雅黑" charset="0"/>
                <a:cs typeface="微软雅黑" charset="0"/>
              </a:rPr>
            </a:br>
            <a:r>
              <a:rPr lang="zh-CN" altLang="en-US" sz="1200" b="1">
                <a:latin typeface="微软雅黑" charset="0"/>
                <a:ea typeface="微软雅黑" charset="0"/>
                <a:cs typeface="微软雅黑" charset="0"/>
              </a:rPr>
              <a:t>在视觉模态中</a:t>
            </a:r>
            <a:r>
              <a:rPr lang="en-US" altLang="zh-CN" sz="1200" b="1">
                <a:latin typeface="微软雅黑" charset="0"/>
                <a:ea typeface="微软雅黑" charset="0"/>
                <a:cs typeface="微软雅黑" charset="0"/>
              </a:rPr>
              <a:t>CLIP_vit</a:t>
            </a:r>
            <a:r>
              <a:rPr lang="zh-CN" altLang="en-US" sz="1200" b="1">
                <a:latin typeface="微软雅黑" charset="0"/>
                <a:ea typeface="微软雅黑" charset="0"/>
                <a:cs typeface="微软雅黑" charset="0"/>
              </a:rPr>
              <a:t>的鲁棒性</a:t>
            </a:r>
            <a:r>
              <a:rPr lang="en-US" altLang="zh-CN" sz="1200" b="1">
                <a:latin typeface="微软雅黑" charset="0"/>
                <a:ea typeface="微软雅黑" charset="0"/>
                <a:cs typeface="微软雅黑" charset="0"/>
              </a:rPr>
              <a:t>&gt;CLIP_cnn</a:t>
            </a:r>
            <a:endParaRPr lang="en-US" altLang="zh-CN" sz="1200" b="1">
              <a:latin typeface="微软雅黑" charset="0"/>
              <a:ea typeface="微软雅黑" charset="0"/>
              <a:cs typeface="微软雅黑" charset="0"/>
            </a:endParaRPr>
          </a:p>
        </p:txBody>
      </p:sp>
      <p:sp>
        <p:nvSpPr>
          <p:cNvPr id="22" name="矩形: 圆角 36"/>
          <p:cNvSpPr/>
          <p:nvPr>
            <p:custDataLst>
              <p:tags r:id="rId20"/>
            </p:custDataLst>
          </p:nvPr>
        </p:nvSpPr>
        <p:spPr>
          <a:xfrm rot="10800000" flipV="1">
            <a:off x="3326130" y="3307715"/>
            <a:ext cx="3695700" cy="2673985"/>
          </a:xfrm>
          <a:prstGeom prst="roundRect">
            <a:avLst>
              <a:gd name="adj" fmla="val 10039"/>
            </a:avLst>
          </a:prstGeom>
          <a:noFill/>
          <a:ln w="381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custDataLst>
              <p:tags r:id="rId21"/>
            </p:custDataLst>
          </p:nvPr>
        </p:nvSpPr>
        <p:spPr>
          <a:xfrm>
            <a:off x="3326130" y="4574540"/>
            <a:ext cx="3695700" cy="368300"/>
          </a:xfrm>
          <a:prstGeom prst="rect">
            <a:avLst/>
          </a:prstGeom>
          <a:noFill/>
        </p:spPr>
        <p:txBody>
          <a:bodyPr wrap="square" rtlCol="0">
            <a:spAutoFit/>
          </a:bodyPr>
          <a:p>
            <a:pPr algn="ctr"/>
            <a:r>
              <a:rPr lang="zh-CN" altLang="en-US" b="1">
                <a:latin typeface="微软雅黑" charset="0"/>
                <a:ea typeface="微软雅黑" charset="0"/>
              </a:rPr>
              <a:t>观察</a:t>
            </a:r>
            <a:r>
              <a:rPr lang="zh-CN" altLang="en-US" b="1">
                <a:latin typeface="微软雅黑" charset="0"/>
                <a:ea typeface="微软雅黑" charset="0"/>
              </a:rPr>
              <a:t>结论</a:t>
            </a:r>
            <a:endParaRPr lang="zh-CN" altLang="en-US" b="1">
              <a:latin typeface="微软雅黑" charset="0"/>
              <a:ea typeface="微软雅黑"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1537</Words>
  <Application>WPS 演示</Application>
  <PresentationFormat>宽屏</PresentationFormat>
  <Paragraphs>90</Paragraphs>
  <Slides>5</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vt:i4>
      </vt:variant>
    </vt:vector>
  </HeadingPairs>
  <TitlesOfParts>
    <vt:vector size="17" baseType="lpstr">
      <vt:lpstr>Arial</vt:lpstr>
      <vt:lpstr>宋体</vt:lpstr>
      <vt:lpstr>Wingdings</vt:lpstr>
      <vt:lpstr>Calibri</vt:lpstr>
      <vt:lpstr>Helvetica Neue</vt:lpstr>
      <vt:lpstr>汉仪书宋二KW</vt:lpstr>
      <vt:lpstr>微软雅黑</vt:lpstr>
      <vt:lpstr>汉仪旗黑</vt:lpstr>
      <vt:lpstr>宋体</vt:lpstr>
      <vt:lpstr>Arial Unicode MS</vt:lpstr>
      <vt:lpstr>微软雅黑</vt:lpstr>
      <vt:lpstr>WPS</vt:lpstr>
      <vt:lpstr>PowerPoint 演示文稿</vt:lpstr>
      <vt:lpstr>PowerPoint 演示文稿</vt:lpstr>
      <vt:lpstr>AttackVLM</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Elephant King。</cp:lastModifiedBy>
  <cp:revision>17</cp:revision>
  <dcterms:created xsi:type="dcterms:W3CDTF">2025-07-03T07:30:07Z</dcterms:created>
  <dcterms:modified xsi:type="dcterms:W3CDTF">2025-07-03T07:30:07Z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2052-6.4.0.8550</vt:lpwstr>
  </property>
  <property fmtid="{D5CDD505-2E9C-101B-9397-08002B2CF9AE}" pid="3" name="ICV">
    <vt:lpwstr>EE228C4F9FBAAF66D7F86568DE8EAEED_41</vt:lpwstr>
  </property>
</Properties>
</file>