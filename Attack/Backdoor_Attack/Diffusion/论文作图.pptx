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7"/>
  </p:handoutMasterIdLst>
  <p:sldIdLst>
    <p:sldId id="256" r:id="rId3"/>
    <p:sldId id="257" r:id="rId5"/>
    <p:sldId id="258" r:id="rId6"/>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480" autoAdjust="0"/>
    <p:restoredTop sz="86374"/>
  </p:normalViewPr>
  <p:slideViewPr>
    <p:cSldViewPr snapToGrid="0" showGuides="1">
      <p:cViewPr varScale="1">
        <p:scale>
          <a:sx n="127" d="100"/>
          <a:sy n="127" d="100"/>
        </p:scale>
        <p:origin x="1952" y="184"/>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viewProps" Target="viewProps.xml"/><Relationship Id="rId8" Type="http://schemas.openxmlformats.org/officeDocument/2006/relationships/presProps" Target="presProps.xml"/><Relationship Id="rId7" Type="http://schemas.openxmlformats.org/officeDocument/2006/relationships/handoutMaster" Target="handoutMasters/handoutMaster1.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0" Type="http://schemas.openxmlformats.org/officeDocument/2006/relationships/tableStyles" Target="tableStyles.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lnSpc>
                <a:spcPct val="130000"/>
              </a:lnSpc>
              <a:defRPr sz="6000">
                <a:effectLst/>
              </a:defRPr>
            </a:lvl1pPr>
          </a:lstStyle>
          <a:p>
            <a:r>
              <a:rPr lang="zh-CN" altLang="en-US" dirty="0"/>
              <a:t>单击此处添加标题</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2400">
                <a:solidFill>
                  <a:schemeClr val="tx1">
                    <a:lumMod val="75000"/>
                    <a:lumOff val="25000"/>
                  </a:schemeClr>
                </a:solidFill>
                <a:effectLst/>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4400" b="0">
                <a:effectLst/>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647700" y="1825625"/>
            <a:ext cx="10515600" cy="4351338"/>
          </a:xfrm>
        </p:spPr>
        <p:txBody>
          <a:bodyPr>
            <a:normAutofit/>
          </a:bodyPr>
          <a:lstStyle>
            <a:lvl1pPr>
              <a:defRPr sz="2800">
                <a:solidFill>
                  <a:schemeClr val="tx1">
                    <a:lumMod val="75000"/>
                    <a:lumOff val="25000"/>
                  </a:schemeClr>
                </a:solidFill>
              </a:defRPr>
            </a:lvl1pPr>
            <a:lvl2pPr>
              <a:defRPr sz="2400">
                <a:solidFill>
                  <a:schemeClr val="tx1">
                    <a:lumMod val="75000"/>
                    <a:lumOff val="25000"/>
                  </a:schemeClr>
                </a:solidFill>
              </a:defRPr>
            </a:lvl2pPr>
            <a:lvl3pPr>
              <a:defRPr sz="2000">
                <a:solidFill>
                  <a:schemeClr val="tx1">
                    <a:lumMod val="75000"/>
                    <a:lumOff val="25000"/>
                  </a:schemeClr>
                </a:solidFill>
              </a:defRPr>
            </a:lvl3pPr>
            <a:lvl4pPr>
              <a:defRPr sz="1800">
                <a:solidFill>
                  <a:schemeClr val="tx1">
                    <a:lumMod val="75000"/>
                    <a:lumOff val="25000"/>
                  </a:schemeClr>
                </a:solidFill>
              </a:defRPr>
            </a:lvl4pPr>
            <a:lvl5pPr>
              <a:defRPr sz="18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49" y="469127"/>
            <a:ext cx="10307927" cy="4093347"/>
          </a:xfrm>
        </p:spPr>
        <p:txBody>
          <a:bodyPr anchor="b">
            <a:normAutofit/>
          </a:bodyPr>
          <a:lstStyle>
            <a:lvl1pPr>
              <a:defRPr sz="6000">
                <a:effectLst/>
              </a:defRPr>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1850" y="4610028"/>
            <a:ext cx="10307926" cy="647555"/>
          </a:xfrm>
        </p:spPr>
        <p:txBody>
          <a:bodyPr>
            <a:normAutofit/>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4400" b="0" i="0">
                <a:effectLst/>
              </a:defRPr>
            </a:lvl1p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647700" y="1825625"/>
            <a:ext cx="5181600" cy="4351338"/>
          </a:xfrm>
        </p:spPr>
        <p:txBody>
          <a:bodyPr>
            <a:normAutofit/>
          </a:bodyPr>
          <a:lstStyle>
            <a:lvl1pPr>
              <a:lnSpc>
                <a:spcPct val="90000"/>
              </a:lnSpc>
              <a:defRPr sz="2800">
                <a:solidFill>
                  <a:schemeClr val="tx1">
                    <a:lumMod val="75000"/>
                    <a:lumOff val="25000"/>
                  </a:schemeClr>
                </a:solidFill>
              </a:defRPr>
            </a:lvl1pPr>
            <a:lvl2pPr>
              <a:lnSpc>
                <a:spcPct val="90000"/>
              </a:lnSpc>
              <a:defRPr sz="2400">
                <a:solidFill>
                  <a:schemeClr val="tx1">
                    <a:lumMod val="75000"/>
                    <a:lumOff val="25000"/>
                  </a:schemeClr>
                </a:solidFill>
              </a:defRPr>
            </a:lvl2pPr>
            <a:lvl3pPr>
              <a:lnSpc>
                <a:spcPct val="90000"/>
              </a:lnSpc>
              <a:defRPr sz="2000">
                <a:solidFill>
                  <a:schemeClr val="tx1">
                    <a:lumMod val="75000"/>
                    <a:lumOff val="25000"/>
                  </a:schemeClr>
                </a:solidFill>
              </a:defRPr>
            </a:lvl3pPr>
            <a:lvl4pPr>
              <a:lnSpc>
                <a:spcPct val="90000"/>
              </a:lnSpc>
              <a:defRPr sz="1800">
                <a:solidFill>
                  <a:schemeClr val="tx1">
                    <a:lumMod val="75000"/>
                    <a:lumOff val="25000"/>
                  </a:schemeClr>
                </a:solidFill>
              </a:defRPr>
            </a:lvl4pPr>
            <a:lvl5pPr>
              <a:lnSpc>
                <a:spcPct val="90000"/>
              </a:lnSpc>
              <a:defRPr sz="18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5981700" y="1825625"/>
            <a:ext cx="5181600" cy="4351338"/>
          </a:xfrm>
        </p:spPr>
        <p:txBody>
          <a:bodyPr>
            <a:normAutofit/>
          </a:bodyPr>
          <a:lstStyle>
            <a:lvl1pPr>
              <a:lnSpc>
                <a:spcPct val="90000"/>
              </a:lnSpc>
              <a:defRPr sz="2800">
                <a:solidFill>
                  <a:schemeClr val="tx1">
                    <a:lumMod val="75000"/>
                    <a:lumOff val="25000"/>
                  </a:schemeClr>
                </a:solidFill>
              </a:defRPr>
            </a:lvl1pPr>
            <a:lvl2pPr>
              <a:lnSpc>
                <a:spcPct val="90000"/>
              </a:lnSpc>
              <a:defRPr sz="2400">
                <a:solidFill>
                  <a:schemeClr val="tx1">
                    <a:lumMod val="75000"/>
                    <a:lumOff val="25000"/>
                  </a:schemeClr>
                </a:solidFill>
              </a:defRPr>
            </a:lvl2pPr>
            <a:lvl3pPr>
              <a:lnSpc>
                <a:spcPct val="90000"/>
              </a:lnSpc>
              <a:defRPr sz="2000">
                <a:solidFill>
                  <a:schemeClr val="tx1">
                    <a:lumMod val="75000"/>
                    <a:lumOff val="25000"/>
                  </a:schemeClr>
                </a:solidFill>
              </a:defRPr>
            </a:lvl3pPr>
            <a:lvl4pPr>
              <a:lnSpc>
                <a:spcPct val="90000"/>
              </a:lnSpc>
              <a:defRPr sz="1800">
                <a:solidFill>
                  <a:schemeClr val="tx1">
                    <a:lumMod val="75000"/>
                    <a:lumOff val="25000"/>
                  </a:schemeClr>
                </a:solidFill>
              </a:defRPr>
            </a:lvl4pPr>
            <a:lvl5pPr>
              <a:lnSpc>
                <a:spcPct val="90000"/>
              </a:lnSpc>
              <a:defRPr sz="18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9788" y="1744961"/>
            <a:ext cx="5157787" cy="823912"/>
          </a:xfrm>
        </p:spPr>
        <p:txBody>
          <a:bodyPr anchor="b">
            <a:norm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6172200" y="1744961"/>
            <a:ext cx="5183188" cy="823912"/>
          </a:xfrm>
        </p:spPr>
        <p:txBody>
          <a:bodyPr anchor="b">
            <a:norm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400" b="0">
                <a:effectLst/>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3200" b="0">
                <a:effectLst/>
              </a:defRPr>
            </a:lvl1pPr>
          </a:lstStyle>
          <a:p>
            <a:r>
              <a:rPr lang="zh-CN" altLang="en-US" dirty="0"/>
              <a:t>单击此处编辑标题</a:t>
            </a:r>
            <a:endParaRPr lang="zh-CN" altLang="en-US" dirty="0"/>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4400"/>
            </a:lvl1pPr>
          </a:lstStyle>
          <a:p>
            <a:r>
              <a:rPr lang="zh-CN" altLang="en-US" dirty="0"/>
              <a:t>单击此处编辑母版标题样式</a:t>
            </a:r>
            <a:endParaRPr lang="zh-CN" altLang="en-US" dirty="0"/>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7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7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9" Type="http://schemas.openxmlformats.org/officeDocument/2006/relationships/tags" Target="../tags/tag6.xml"/><Relationship Id="rId8" Type="http://schemas.openxmlformats.org/officeDocument/2006/relationships/tags" Target="../tags/tag5.xml"/><Relationship Id="rId7" Type="http://schemas.openxmlformats.org/officeDocument/2006/relationships/tags" Target="../tags/tag4.xml"/><Relationship Id="rId6" Type="http://schemas.openxmlformats.org/officeDocument/2006/relationships/image" Target="../media/image3.png"/><Relationship Id="rId5" Type="http://schemas.openxmlformats.org/officeDocument/2006/relationships/tags" Target="../tags/tag3.xml"/><Relationship Id="rId4" Type="http://schemas.openxmlformats.org/officeDocument/2006/relationships/image" Target="../media/image2.png"/><Relationship Id="rId3" Type="http://schemas.openxmlformats.org/officeDocument/2006/relationships/tags" Target="../tags/tag2.xml"/><Relationship Id="rId2" Type="http://schemas.openxmlformats.org/officeDocument/2006/relationships/image" Target="../media/image1.png"/><Relationship Id="rId13" Type="http://schemas.openxmlformats.org/officeDocument/2006/relationships/slideLayout" Target="../slideLayouts/slideLayout1.xml"/><Relationship Id="rId12" Type="http://schemas.openxmlformats.org/officeDocument/2006/relationships/image" Target="../media/image5.png"/><Relationship Id="rId11" Type="http://schemas.openxmlformats.org/officeDocument/2006/relationships/tags" Target="../tags/tag7.xml"/><Relationship Id="rId10" Type="http://schemas.openxmlformats.org/officeDocument/2006/relationships/image" Target="../media/image4.png"/><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9" Type="http://schemas.openxmlformats.org/officeDocument/2006/relationships/tags" Target="../tags/tag14.xml"/><Relationship Id="rId8" Type="http://schemas.openxmlformats.org/officeDocument/2006/relationships/tags" Target="../tags/tag13.xml"/><Relationship Id="rId7" Type="http://schemas.openxmlformats.org/officeDocument/2006/relationships/tags" Target="../tags/tag12.xml"/><Relationship Id="rId6" Type="http://schemas.openxmlformats.org/officeDocument/2006/relationships/tags" Target="../tags/tag11.xml"/><Relationship Id="rId5" Type="http://schemas.openxmlformats.org/officeDocument/2006/relationships/tags" Target="../tags/tag10.xml"/><Relationship Id="rId4" Type="http://schemas.openxmlformats.org/officeDocument/2006/relationships/image" Target="../media/image7.png"/><Relationship Id="rId3" Type="http://schemas.openxmlformats.org/officeDocument/2006/relationships/tags" Target="../tags/tag9.xml"/><Relationship Id="rId24" Type="http://schemas.openxmlformats.org/officeDocument/2006/relationships/slideLayout" Target="../slideLayouts/slideLayout1.xml"/><Relationship Id="rId23" Type="http://schemas.openxmlformats.org/officeDocument/2006/relationships/tags" Target="../tags/tag26.xml"/><Relationship Id="rId22" Type="http://schemas.openxmlformats.org/officeDocument/2006/relationships/image" Target="../media/image9.png"/><Relationship Id="rId21" Type="http://schemas.openxmlformats.org/officeDocument/2006/relationships/tags" Target="../tags/tag25.xml"/><Relationship Id="rId20" Type="http://schemas.openxmlformats.org/officeDocument/2006/relationships/image" Target="../media/image8.png"/><Relationship Id="rId2" Type="http://schemas.openxmlformats.org/officeDocument/2006/relationships/image" Target="../media/image6.png"/><Relationship Id="rId19" Type="http://schemas.openxmlformats.org/officeDocument/2006/relationships/tags" Target="../tags/tag24.xml"/><Relationship Id="rId18" Type="http://schemas.openxmlformats.org/officeDocument/2006/relationships/tags" Target="../tags/tag23.xml"/><Relationship Id="rId17" Type="http://schemas.openxmlformats.org/officeDocument/2006/relationships/tags" Target="../tags/tag22.xml"/><Relationship Id="rId16" Type="http://schemas.openxmlformats.org/officeDocument/2006/relationships/tags" Target="../tags/tag21.xml"/><Relationship Id="rId15" Type="http://schemas.openxmlformats.org/officeDocument/2006/relationships/tags" Target="../tags/tag20.xml"/><Relationship Id="rId14" Type="http://schemas.openxmlformats.org/officeDocument/2006/relationships/tags" Target="../tags/tag19.xml"/><Relationship Id="rId13" Type="http://schemas.openxmlformats.org/officeDocument/2006/relationships/tags" Target="../tags/tag18.xml"/><Relationship Id="rId12" Type="http://schemas.openxmlformats.org/officeDocument/2006/relationships/tags" Target="../tags/tag17.xml"/><Relationship Id="rId11" Type="http://schemas.openxmlformats.org/officeDocument/2006/relationships/tags" Target="../tags/tag16.xml"/><Relationship Id="rId10" Type="http://schemas.openxmlformats.org/officeDocument/2006/relationships/tags" Target="../tags/tag15.xml"/><Relationship Id="rId1" Type="http://schemas.openxmlformats.org/officeDocument/2006/relationships/tags" Target="../tags/tag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dirty="0">
                <a:effectLst/>
              </a:rPr>
              <a:t>BadDiffusion</a:t>
            </a:r>
            <a:endParaRPr lang="en-US" altLang="zh-CN" dirty="0">
              <a:effectLst/>
            </a:endParaRPr>
          </a:p>
        </p:txBody>
      </p:sp>
      <p:sp>
        <p:nvSpPr>
          <p:cNvPr id="5" name="副标题 4"/>
          <p:cNvSpPr>
            <a:spLocks noGrp="1"/>
          </p:cNvSpPr>
          <p:nvPr>
            <p:ph type="subTitle" idx="1"/>
          </p:nvPr>
        </p:nvSpPr>
        <p:spPr/>
        <p:txBody>
          <a:bodyPr/>
          <a:lstStyle/>
          <a:p>
            <a:endParaRPr lang="zh-CN" altLang="en-US" dirty="0">
              <a:latin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custDataLst>
              <p:tags r:id="rId1"/>
            </p:custDataLst>
          </p:nvPr>
        </p:nvPicPr>
        <p:blipFill>
          <a:blip r:embed="rId2"/>
          <a:stretch>
            <a:fillRect/>
          </a:stretch>
        </p:blipFill>
        <p:spPr>
          <a:xfrm>
            <a:off x="565150" y="436245"/>
            <a:ext cx="7088505" cy="3618230"/>
          </a:xfrm>
          <a:prstGeom prst="rect">
            <a:avLst/>
          </a:prstGeom>
        </p:spPr>
      </p:pic>
      <p:pic>
        <p:nvPicPr>
          <p:cNvPr id="5" name="图片 4"/>
          <p:cNvPicPr>
            <a:picLocks noChangeAspect="1"/>
          </p:cNvPicPr>
          <p:nvPr>
            <p:custDataLst>
              <p:tags r:id="rId3"/>
            </p:custDataLst>
          </p:nvPr>
        </p:nvPicPr>
        <p:blipFill>
          <a:blip r:embed="rId4"/>
          <a:stretch>
            <a:fillRect/>
          </a:stretch>
        </p:blipFill>
        <p:spPr>
          <a:xfrm>
            <a:off x="7097395" y="2142490"/>
            <a:ext cx="4909185" cy="562610"/>
          </a:xfrm>
          <a:prstGeom prst="rect">
            <a:avLst/>
          </a:prstGeom>
        </p:spPr>
      </p:pic>
      <p:pic>
        <p:nvPicPr>
          <p:cNvPr id="6" name="图片 5"/>
          <p:cNvPicPr>
            <a:picLocks noChangeAspect="1"/>
          </p:cNvPicPr>
          <p:nvPr>
            <p:custDataLst>
              <p:tags r:id="rId5"/>
            </p:custDataLst>
          </p:nvPr>
        </p:nvPicPr>
        <p:blipFill>
          <a:blip r:embed="rId6"/>
          <a:stretch>
            <a:fillRect/>
          </a:stretch>
        </p:blipFill>
        <p:spPr>
          <a:xfrm>
            <a:off x="7766685" y="915035"/>
            <a:ext cx="3581400" cy="546100"/>
          </a:xfrm>
          <a:prstGeom prst="rect">
            <a:avLst/>
          </a:prstGeom>
        </p:spPr>
      </p:pic>
      <p:sp>
        <p:nvSpPr>
          <p:cNvPr id="12" name="文本框 11"/>
          <p:cNvSpPr txBox="1"/>
          <p:nvPr>
            <p:custDataLst>
              <p:tags r:id="rId7"/>
            </p:custDataLst>
          </p:nvPr>
        </p:nvSpPr>
        <p:spPr>
          <a:xfrm>
            <a:off x="7872095" y="1461135"/>
            <a:ext cx="3476625" cy="681355"/>
          </a:xfrm>
          <a:prstGeom prst="rect">
            <a:avLst/>
          </a:prstGeom>
          <a:noFill/>
        </p:spPr>
        <p:txBody>
          <a:bodyPr wrap="square" rtlCol="0">
            <a:noAutofit/>
          </a:bodyPr>
          <a:p>
            <a:pPr algn="l"/>
            <a:r>
              <a:rPr lang="en-US" altLang="zh-CN" sz="1200" b="1">
                <a:latin typeface="微软雅黑" charset="0"/>
                <a:ea typeface="微软雅黑" charset="0"/>
                <a:cs typeface="微软雅黑" charset="0"/>
              </a:rPr>
              <a:t>DDPM</a:t>
            </a:r>
            <a:r>
              <a:rPr lang="zh-CN" altLang="en-US" sz="1200" b="1">
                <a:latin typeface="微软雅黑" charset="0"/>
                <a:ea typeface="微软雅黑" charset="0"/>
                <a:cs typeface="微软雅黑" charset="0"/>
              </a:rPr>
              <a:t>正向</a:t>
            </a:r>
            <a:r>
              <a:rPr lang="zh-CN" altLang="en-US" sz="1200" b="1">
                <a:latin typeface="微软雅黑" charset="0"/>
                <a:ea typeface="微软雅黑" charset="0"/>
                <a:cs typeface="微软雅黑" charset="0"/>
              </a:rPr>
              <a:t>过程</a:t>
            </a:r>
            <a:endParaRPr lang="zh-CN" altLang="en-US" sz="1200" b="1">
              <a:latin typeface="微软雅黑" charset="0"/>
              <a:ea typeface="微软雅黑" charset="0"/>
              <a:cs typeface="微软雅黑" charset="0"/>
            </a:endParaRPr>
          </a:p>
          <a:p>
            <a:pPr algn="l"/>
            <a:r>
              <a:rPr lang="zh-CN" altLang="en-US" sz="1200" b="1">
                <a:latin typeface="微软雅黑" charset="0"/>
                <a:ea typeface="微软雅黑" charset="0"/>
                <a:cs typeface="微软雅黑" charset="0"/>
              </a:rPr>
              <a:t>中间的</a:t>
            </a:r>
            <a:r>
              <a:rPr lang="en-US" altLang="zh-CN" sz="1200" b="1">
                <a:latin typeface="微软雅黑" charset="0"/>
                <a:ea typeface="微软雅黑" charset="0"/>
                <a:cs typeface="微软雅黑" charset="0"/>
              </a:rPr>
              <a:t>xt</a:t>
            </a:r>
            <a:r>
              <a:rPr lang="zh-CN" altLang="en-US" sz="1200" b="1">
                <a:latin typeface="微软雅黑" charset="0"/>
                <a:ea typeface="微软雅黑" charset="0"/>
                <a:cs typeface="微软雅黑" charset="0"/>
              </a:rPr>
              <a:t>是包含了𝛼</a:t>
            </a:r>
            <a:r>
              <a:rPr lang="en-US" altLang="zh-CN" sz="1200" b="1">
                <a:latin typeface="微软雅黑" charset="0"/>
                <a:ea typeface="微软雅黑" charset="0"/>
                <a:cs typeface="微软雅黑" charset="0"/>
              </a:rPr>
              <a:t> </a:t>
            </a:r>
            <a:r>
              <a:rPr lang="zh-CN" altLang="en-US" sz="1200" b="1">
                <a:latin typeface="微软雅黑" charset="0"/>
                <a:ea typeface="微软雅黑" charset="0"/>
                <a:cs typeface="微软雅黑" charset="0"/>
              </a:rPr>
              <a:t>的原图和</a:t>
            </a:r>
            <a:r>
              <a:rPr lang="en-US" altLang="zh-CN" sz="1200" b="1">
                <a:latin typeface="微软雅黑" charset="0"/>
                <a:ea typeface="微软雅黑" charset="0"/>
                <a:cs typeface="微软雅黑" charset="0"/>
              </a:rPr>
              <a:t>1-</a:t>
            </a:r>
            <a:r>
              <a:rPr lang="zh-CN" altLang="en-US" sz="1200" b="1">
                <a:latin typeface="微软雅黑" charset="0"/>
                <a:ea typeface="微软雅黑" charset="0"/>
                <a:cs typeface="微软雅黑" charset="0"/>
              </a:rPr>
              <a:t>𝛼</a:t>
            </a:r>
            <a:r>
              <a:rPr lang="en-US" altLang="zh-CN" sz="1200" b="1">
                <a:latin typeface="微软雅黑" charset="0"/>
                <a:ea typeface="微软雅黑" charset="0"/>
                <a:cs typeface="微软雅黑" charset="0"/>
              </a:rPr>
              <a:t> </a:t>
            </a:r>
            <a:r>
              <a:rPr lang="zh-CN" altLang="en-US" sz="1200" b="1">
                <a:latin typeface="微软雅黑" charset="0"/>
                <a:ea typeface="微软雅黑" charset="0"/>
                <a:cs typeface="微软雅黑" charset="0"/>
              </a:rPr>
              <a:t>噪声的</a:t>
            </a:r>
            <a:r>
              <a:rPr lang="zh-CN" altLang="en-US" sz="1200" b="1">
                <a:latin typeface="微软雅黑" charset="0"/>
                <a:ea typeface="微软雅黑" charset="0"/>
                <a:cs typeface="微软雅黑" charset="0"/>
              </a:rPr>
              <a:t>分布</a:t>
            </a:r>
            <a:endParaRPr lang="zh-CN" altLang="en-US" sz="1200" b="1">
              <a:latin typeface="微软雅黑" charset="0"/>
              <a:ea typeface="微软雅黑" charset="0"/>
              <a:cs typeface="微软雅黑" charset="0"/>
            </a:endParaRPr>
          </a:p>
        </p:txBody>
      </p:sp>
      <p:sp>
        <p:nvSpPr>
          <p:cNvPr id="7" name="文本框 6"/>
          <p:cNvSpPr txBox="1"/>
          <p:nvPr>
            <p:custDataLst>
              <p:tags r:id="rId8"/>
            </p:custDataLst>
          </p:nvPr>
        </p:nvSpPr>
        <p:spPr>
          <a:xfrm>
            <a:off x="7653655" y="2731135"/>
            <a:ext cx="4538345" cy="681355"/>
          </a:xfrm>
          <a:prstGeom prst="rect">
            <a:avLst/>
          </a:prstGeom>
          <a:noFill/>
        </p:spPr>
        <p:txBody>
          <a:bodyPr wrap="square" rtlCol="0">
            <a:noAutofit/>
          </a:bodyPr>
          <a:p>
            <a:pPr algn="l"/>
            <a:r>
              <a:rPr lang="en-US" altLang="zh-CN" sz="1200" b="1">
                <a:latin typeface="微软雅黑" charset="0"/>
                <a:ea typeface="微软雅黑" charset="0"/>
                <a:cs typeface="微软雅黑" charset="0"/>
              </a:rPr>
              <a:t>BadDiffusion</a:t>
            </a:r>
            <a:r>
              <a:rPr lang="zh-CN" altLang="en-US" sz="1200" b="1">
                <a:latin typeface="微软雅黑" charset="0"/>
                <a:ea typeface="微软雅黑" charset="0"/>
                <a:cs typeface="微软雅黑" charset="0"/>
              </a:rPr>
              <a:t>正向</a:t>
            </a:r>
            <a:r>
              <a:rPr lang="zh-CN" altLang="en-US" sz="1200" b="1">
                <a:latin typeface="微软雅黑" charset="0"/>
                <a:ea typeface="微软雅黑" charset="0"/>
                <a:cs typeface="微软雅黑" charset="0"/>
              </a:rPr>
              <a:t>过程</a:t>
            </a:r>
            <a:endParaRPr lang="zh-CN" altLang="en-US" sz="1200" b="1">
              <a:latin typeface="微软雅黑" charset="0"/>
              <a:ea typeface="微软雅黑" charset="0"/>
              <a:cs typeface="微软雅黑" charset="0"/>
            </a:endParaRPr>
          </a:p>
          <a:p>
            <a:pPr algn="l"/>
            <a:r>
              <a:rPr lang="zh-CN" altLang="en-US" sz="1200" b="1">
                <a:latin typeface="微软雅黑" charset="0"/>
                <a:ea typeface="微软雅黑" charset="0"/>
                <a:cs typeface="微软雅黑" charset="0"/>
              </a:rPr>
              <a:t>中间的</a:t>
            </a:r>
            <a:r>
              <a:rPr lang="en-US" altLang="zh-CN" sz="1200" b="1">
                <a:latin typeface="微软雅黑" charset="0"/>
                <a:ea typeface="微软雅黑" charset="0"/>
                <a:cs typeface="微软雅黑" charset="0"/>
              </a:rPr>
              <a:t>xt</a:t>
            </a:r>
            <a:r>
              <a:rPr lang="zh-CN" altLang="en-US" sz="1200" b="1">
                <a:latin typeface="微软雅黑" charset="0"/>
                <a:ea typeface="微软雅黑" charset="0"/>
                <a:cs typeface="微软雅黑" charset="0"/>
              </a:rPr>
              <a:t>是包含了𝛼</a:t>
            </a:r>
            <a:r>
              <a:rPr lang="en-US" altLang="zh-CN" sz="1200" b="1">
                <a:latin typeface="微软雅黑" charset="0"/>
                <a:ea typeface="微软雅黑" charset="0"/>
                <a:cs typeface="微软雅黑" charset="0"/>
              </a:rPr>
              <a:t> </a:t>
            </a:r>
            <a:r>
              <a:rPr lang="zh-CN" altLang="en-US" sz="1200" b="1">
                <a:latin typeface="微软雅黑" charset="0"/>
                <a:ea typeface="微软雅黑" charset="0"/>
                <a:cs typeface="微软雅黑" charset="0"/>
              </a:rPr>
              <a:t>的原图</a:t>
            </a:r>
            <a:r>
              <a:rPr lang="en-US" altLang="zh-CN" sz="1200" b="1">
                <a:latin typeface="微软雅黑" charset="0"/>
                <a:ea typeface="微软雅黑" charset="0"/>
                <a:cs typeface="微软雅黑" charset="0"/>
              </a:rPr>
              <a:t>1-</a:t>
            </a:r>
            <a:r>
              <a:rPr lang="zh-CN" altLang="en-US" sz="1200" b="1">
                <a:latin typeface="微软雅黑" charset="0"/>
                <a:ea typeface="微软雅黑" charset="0"/>
                <a:cs typeface="微软雅黑" charset="0"/>
              </a:rPr>
              <a:t>𝛼</a:t>
            </a:r>
            <a:r>
              <a:rPr lang="en-US" altLang="zh-CN" sz="1200" b="1">
                <a:latin typeface="微软雅黑" charset="0"/>
                <a:ea typeface="微软雅黑" charset="0"/>
                <a:cs typeface="微软雅黑" charset="0"/>
              </a:rPr>
              <a:t> </a:t>
            </a:r>
            <a:r>
              <a:rPr lang="zh-CN" altLang="en-US" sz="1200" b="1">
                <a:latin typeface="微软雅黑" charset="0"/>
                <a:ea typeface="微软雅黑" charset="0"/>
                <a:cs typeface="微软雅黑" charset="0"/>
              </a:rPr>
              <a:t>触发器和</a:t>
            </a:r>
            <a:r>
              <a:rPr lang="en-US" altLang="zh-CN" sz="1200" b="1">
                <a:latin typeface="微软雅黑" charset="0"/>
                <a:ea typeface="微软雅黑" charset="0"/>
                <a:cs typeface="微软雅黑" charset="0"/>
              </a:rPr>
              <a:t>1-</a:t>
            </a:r>
            <a:r>
              <a:rPr lang="zh-CN" altLang="en-US" sz="1200" b="1">
                <a:latin typeface="微软雅黑" charset="0"/>
                <a:ea typeface="微软雅黑" charset="0"/>
                <a:cs typeface="微软雅黑" charset="0"/>
              </a:rPr>
              <a:t>𝛼</a:t>
            </a:r>
            <a:r>
              <a:rPr lang="en-US" altLang="zh-CN" sz="1200" b="1">
                <a:latin typeface="微软雅黑" charset="0"/>
                <a:ea typeface="微软雅黑" charset="0"/>
                <a:cs typeface="微软雅黑" charset="0"/>
              </a:rPr>
              <a:t> </a:t>
            </a:r>
            <a:r>
              <a:rPr lang="zh-CN" altLang="en-US" sz="1200" b="1">
                <a:latin typeface="微软雅黑" charset="0"/>
                <a:ea typeface="微软雅黑" charset="0"/>
                <a:cs typeface="微软雅黑" charset="0"/>
              </a:rPr>
              <a:t>噪声的分布</a:t>
            </a:r>
            <a:br>
              <a:rPr lang="zh-CN" altLang="en-US" sz="1200" b="1">
                <a:latin typeface="微软雅黑" charset="0"/>
                <a:ea typeface="微软雅黑" charset="0"/>
                <a:cs typeface="微软雅黑" charset="0"/>
              </a:rPr>
            </a:br>
            <a:r>
              <a:rPr lang="zh-CN" altLang="en-US" sz="1200" b="1">
                <a:latin typeface="微软雅黑" charset="0"/>
                <a:ea typeface="微软雅黑" charset="0"/>
                <a:cs typeface="微软雅黑" charset="0"/>
              </a:rPr>
              <a:t>也就是说随着噪声越来越大，图像从原图变为了戴眼镜的</a:t>
            </a:r>
            <a:r>
              <a:rPr lang="zh-CN" altLang="en-US" sz="1200" b="1">
                <a:latin typeface="微软雅黑" charset="0"/>
                <a:ea typeface="微软雅黑" charset="0"/>
                <a:cs typeface="微软雅黑" charset="0"/>
              </a:rPr>
              <a:t>纯噪声</a:t>
            </a:r>
            <a:endParaRPr lang="zh-CN" altLang="en-US" sz="1200" b="1">
              <a:latin typeface="微软雅黑" charset="0"/>
              <a:ea typeface="微软雅黑" charset="0"/>
              <a:cs typeface="微软雅黑" charset="0"/>
            </a:endParaRPr>
          </a:p>
        </p:txBody>
      </p:sp>
      <p:pic>
        <p:nvPicPr>
          <p:cNvPr id="9" name="图片 8"/>
          <p:cNvPicPr>
            <a:picLocks noChangeAspect="1"/>
          </p:cNvPicPr>
          <p:nvPr>
            <p:custDataLst>
              <p:tags r:id="rId9"/>
            </p:custDataLst>
          </p:nvPr>
        </p:nvPicPr>
        <p:blipFill>
          <a:blip r:embed="rId10"/>
          <a:stretch>
            <a:fillRect/>
          </a:stretch>
        </p:blipFill>
        <p:spPr>
          <a:xfrm>
            <a:off x="0" y="4139565"/>
            <a:ext cx="4538345" cy="2718435"/>
          </a:xfrm>
          <a:prstGeom prst="rect">
            <a:avLst/>
          </a:prstGeom>
        </p:spPr>
      </p:pic>
      <p:pic>
        <p:nvPicPr>
          <p:cNvPr id="10" name="图片 9"/>
          <p:cNvPicPr>
            <a:picLocks noChangeAspect="1"/>
          </p:cNvPicPr>
          <p:nvPr>
            <p:custDataLst>
              <p:tags r:id="rId11"/>
            </p:custDataLst>
          </p:nvPr>
        </p:nvPicPr>
        <p:blipFill>
          <a:blip r:embed="rId12"/>
          <a:stretch>
            <a:fillRect/>
          </a:stretch>
        </p:blipFill>
        <p:spPr>
          <a:xfrm>
            <a:off x="5162550" y="4425315"/>
            <a:ext cx="5245100" cy="21463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95250" y="1168400"/>
            <a:ext cx="4914900" cy="1168400"/>
          </a:xfrm>
          <a:prstGeom prst="rect">
            <a:avLst/>
          </a:prstGeom>
        </p:spPr>
      </p:pic>
      <p:pic>
        <p:nvPicPr>
          <p:cNvPr id="3" name="图片 2"/>
          <p:cNvPicPr>
            <a:picLocks noChangeAspect="1"/>
          </p:cNvPicPr>
          <p:nvPr>
            <p:custDataLst>
              <p:tags r:id="rId3"/>
            </p:custDataLst>
          </p:nvPr>
        </p:nvPicPr>
        <p:blipFill>
          <a:blip r:embed="rId4"/>
          <a:stretch>
            <a:fillRect/>
          </a:stretch>
        </p:blipFill>
        <p:spPr>
          <a:xfrm>
            <a:off x="6276975" y="1168400"/>
            <a:ext cx="5283200" cy="1168400"/>
          </a:xfrm>
          <a:prstGeom prst="rect">
            <a:avLst/>
          </a:prstGeom>
        </p:spPr>
      </p:pic>
      <p:sp>
        <p:nvSpPr>
          <p:cNvPr id="8" name="文本框 7"/>
          <p:cNvSpPr txBox="1"/>
          <p:nvPr>
            <p:custDataLst>
              <p:tags r:id="rId5"/>
            </p:custDataLst>
          </p:nvPr>
        </p:nvSpPr>
        <p:spPr>
          <a:xfrm>
            <a:off x="497205" y="3001645"/>
            <a:ext cx="3476625" cy="427355"/>
          </a:xfrm>
          <a:prstGeom prst="rect">
            <a:avLst/>
          </a:prstGeom>
          <a:noFill/>
        </p:spPr>
        <p:txBody>
          <a:bodyPr wrap="square" rtlCol="0">
            <a:noAutofit/>
          </a:bodyPr>
          <a:p>
            <a:pPr algn="l"/>
            <a:r>
              <a:rPr lang="zh-CN" altLang="en-US" sz="1200" b="1">
                <a:latin typeface="微软雅黑" charset="0"/>
                <a:ea typeface="微软雅黑" charset="0"/>
                <a:cs typeface="微软雅黑" charset="0"/>
              </a:rPr>
              <a:t>表示从第</a:t>
            </a:r>
            <a:r>
              <a:rPr lang="en-US" altLang="zh-CN" sz="1200" b="1">
                <a:latin typeface="微软雅黑" charset="0"/>
                <a:ea typeface="微软雅黑" charset="0"/>
                <a:cs typeface="微软雅黑" charset="0"/>
              </a:rPr>
              <a:t>t</a:t>
            </a:r>
            <a:r>
              <a:rPr lang="zh-CN" altLang="en-US" sz="1200" b="1">
                <a:latin typeface="微软雅黑" charset="0"/>
                <a:ea typeface="微软雅黑" charset="0"/>
                <a:cs typeface="微软雅黑" charset="0"/>
              </a:rPr>
              <a:t>步</a:t>
            </a:r>
            <a:r>
              <a:rPr lang="en-US" altLang="zh-CN" sz="1200" b="1">
                <a:latin typeface="微软雅黑" charset="0"/>
                <a:ea typeface="微软雅黑" charset="0"/>
                <a:cs typeface="微软雅黑" charset="0"/>
              </a:rPr>
              <a:t>-&gt;</a:t>
            </a:r>
            <a:r>
              <a:rPr lang="zh-CN" altLang="en-US" sz="1200" b="1">
                <a:latin typeface="微软雅黑" charset="0"/>
                <a:ea typeface="微软雅黑" charset="0"/>
                <a:cs typeface="微软雅黑" charset="0"/>
              </a:rPr>
              <a:t>第</a:t>
            </a:r>
            <a:r>
              <a:rPr lang="en-US" altLang="zh-CN" sz="1200" b="1">
                <a:latin typeface="微软雅黑" charset="0"/>
                <a:ea typeface="微软雅黑" charset="0"/>
                <a:cs typeface="微软雅黑" charset="0"/>
              </a:rPr>
              <a:t>t-1</a:t>
            </a:r>
            <a:r>
              <a:rPr lang="zh-CN" altLang="en-US" sz="1200" b="1">
                <a:latin typeface="微软雅黑" charset="0"/>
                <a:ea typeface="微软雅黑" charset="0"/>
                <a:cs typeface="微软雅黑" charset="0"/>
              </a:rPr>
              <a:t>步去噪的噪声均值的</a:t>
            </a:r>
            <a:r>
              <a:rPr lang="zh-CN" altLang="en-US" sz="1200" b="1">
                <a:latin typeface="微软雅黑" charset="0"/>
                <a:ea typeface="微软雅黑" charset="0"/>
                <a:cs typeface="微软雅黑" charset="0"/>
              </a:rPr>
              <a:t>向量</a:t>
            </a:r>
            <a:endParaRPr lang="zh-CN" altLang="en-US" sz="1200" b="1">
              <a:latin typeface="微软雅黑" charset="0"/>
              <a:ea typeface="微软雅黑" charset="0"/>
              <a:cs typeface="微软雅黑" charset="0"/>
            </a:endParaRPr>
          </a:p>
        </p:txBody>
      </p:sp>
      <p:sp>
        <p:nvSpPr>
          <p:cNvPr id="14" name="文本框 13"/>
          <p:cNvSpPr txBox="1"/>
          <p:nvPr>
            <p:custDataLst>
              <p:tags r:id="rId6"/>
            </p:custDataLst>
          </p:nvPr>
        </p:nvSpPr>
        <p:spPr>
          <a:xfrm>
            <a:off x="8520430" y="2258060"/>
            <a:ext cx="1086485" cy="984250"/>
          </a:xfrm>
          <a:prstGeom prst="rect">
            <a:avLst/>
          </a:prstGeom>
          <a:noFill/>
        </p:spPr>
        <p:txBody>
          <a:bodyPr wrap="square" rtlCol="0">
            <a:noAutofit/>
          </a:bodyPr>
          <a:p>
            <a:pPr algn="l"/>
            <a:r>
              <a:rPr lang="zh-CN" altLang="en-US" sz="1200" b="1">
                <a:latin typeface="微软雅黑" charset="0"/>
                <a:ea typeface="微软雅黑" charset="0"/>
                <a:cs typeface="微软雅黑" charset="0"/>
              </a:rPr>
              <a:t>攻击目标图像</a:t>
            </a:r>
            <a:r>
              <a:rPr lang="en-US" altLang="zh-CN" sz="1200" b="1">
                <a:latin typeface="微软雅黑" charset="0"/>
                <a:ea typeface="微软雅黑" charset="0"/>
                <a:cs typeface="微软雅黑" charset="0"/>
              </a:rPr>
              <a:t>(</a:t>
            </a:r>
            <a:r>
              <a:rPr lang="zh-CN" altLang="en-US" sz="1200" b="1">
                <a:latin typeface="微软雅黑" charset="0"/>
                <a:ea typeface="微软雅黑" charset="0"/>
                <a:cs typeface="微软雅黑" charset="0"/>
              </a:rPr>
              <a:t>猫</a:t>
            </a:r>
            <a:r>
              <a:rPr lang="en-US" altLang="zh-CN" sz="1200" b="1">
                <a:latin typeface="微软雅黑" charset="0"/>
                <a:ea typeface="微软雅黑" charset="0"/>
                <a:cs typeface="微软雅黑" charset="0"/>
              </a:rPr>
              <a:t>)</a:t>
            </a:r>
            <a:r>
              <a:rPr lang="zh-CN" altLang="en-US" sz="1200" b="1">
                <a:latin typeface="微软雅黑" charset="0"/>
                <a:ea typeface="微软雅黑" charset="0"/>
                <a:cs typeface="微软雅黑" charset="0"/>
              </a:rPr>
              <a:t>在第</a:t>
            </a:r>
            <a:r>
              <a:rPr lang="en-US" altLang="zh-CN" sz="1200" b="1">
                <a:latin typeface="微软雅黑" charset="0"/>
                <a:ea typeface="微软雅黑" charset="0"/>
                <a:cs typeface="微软雅黑" charset="0"/>
              </a:rPr>
              <a:t>t</a:t>
            </a:r>
            <a:r>
              <a:rPr lang="zh-CN" altLang="en-US" sz="1200" b="1">
                <a:latin typeface="微软雅黑" charset="0"/>
                <a:ea typeface="微软雅黑" charset="0"/>
                <a:cs typeface="微软雅黑" charset="0"/>
              </a:rPr>
              <a:t>步加噪中的分布</a:t>
            </a:r>
            <a:r>
              <a:rPr lang="en-US" altLang="zh-CN" sz="1200" b="1">
                <a:latin typeface="微软雅黑" charset="0"/>
                <a:ea typeface="微软雅黑" charset="0"/>
                <a:cs typeface="微软雅黑" charset="0"/>
              </a:rPr>
              <a:t>(</a:t>
            </a:r>
            <a:r>
              <a:rPr lang="zh-CN" altLang="en-US" sz="1200" b="1">
                <a:latin typeface="微软雅黑" charset="0"/>
                <a:ea typeface="微软雅黑" charset="0"/>
                <a:cs typeface="微软雅黑" charset="0"/>
              </a:rPr>
              <a:t>包含了一部分猫，一部分噪声，一部分触发器（</a:t>
            </a:r>
            <a:r>
              <a:rPr lang="zh-CN" altLang="en-US" sz="1200" b="1">
                <a:latin typeface="微软雅黑" charset="0"/>
                <a:ea typeface="微软雅黑" charset="0"/>
                <a:cs typeface="微软雅黑" charset="0"/>
              </a:rPr>
              <a:t>眼镜）</a:t>
            </a:r>
            <a:r>
              <a:rPr lang="en-US" altLang="zh-CN" sz="1200" b="1">
                <a:latin typeface="微软雅黑" charset="0"/>
                <a:ea typeface="微软雅黑" charset="0"/>
                <a:cs typeface="微软雅黑" charset="0"/>
              </a:rPr>
              <a:t>)</a:t>
            </a:r>
            <a:endParaRPr lang="en-US" altLang="zh-CN" sz="1200" b="1">
              <a:latin typeface="微软雅黑" charset="0"/>
              <a:ea typeface="微软雅黑" charset="0"/>
              <a:cs typeface="微软雅黑" charset="0"/>
            </a:endParaRPr>
          </a:p>
        </p:txBody>
      </p:sp>
      <p:sp>
        <p:nvSpPr>
          <p:cNvPr id="16" name="文本框 15"/>
          <p:cNvSpPr txBox="1"/>
          <p:nvPr>
            <p:custDataLst>
              <p:tags r:id="rId7"/>
            </p:custDataLst>
          </p:nvPr>
        </p:nvSpPr>
        <p:spPr>
          <a:xfrm>
            <a:off x="2181860" y="2258060"/>
            <a:ext cx="1015365" cy="467360"/>
          </a:xfrm>
          <a:prstGeom prst="rect">
            <a:avLst/>
          </a:prstGeom>
          <a:noFill/>
        </p:spPr>
        <p:txBody>
          <a:bodyPr wrap="square" rtlCol="0">
            <a:noAutofit/>
          </a:bodyPr>
          <a:p>
            <a:pPr algn="l"/>
            <a:r>
              <a:rPr lang="zh-CN" altLang="en-US" sz="1200" b="1">
                <a:latin typeface="微软雅黑" charset="0"/>
                <a:ea typeface="微软雅黑" charset="0"/>
                <a:cs typeface="微软雅黑" charset="0"/>
              </a:rPr>
              <a:t>第</a:t>
            </a:r>
            <a:r>
              <a:rPr lang="en-US" altLang="zh-CN" sz="1200" b="1">
                <a:latin typeface="微软雅黑" charset="0"/>
                <a:ea typeface="微软雅黑" charset="0"/>
                <a:cs typeface="微软雅黑" charset="0"/>
              </a:rPr>
              <a:t>t</a:t>
            </a:r>
            <a:r>
              <a:rPr lang="zh-CN" altLang="en-US" sz="1200" b="1">
                <a:latin typeface="微软雅黑" charset="0"/>
                <a:ea typeface="微软雅黑" charset="0"/>
                <a:cs typeface="微软雅黑" charset="0"/>
              </a:rPr>
              <a:t>步获得的</a:t>
            </a:r>
            <a:r>
              <a:rPr lang="zh-CN" altLang="en-US" sz="1200" b="1">
                <a:latin typeface="微软雅黑" charset="0"/>
                <a:ea typeface="微软雅黑" charset="0"/>
                <a:cs typeface="微软雅黑" charset="0"/>
              </a:rPr>
              <a:t>加噪图像</a:t>
            </a:r>
            <a:endParaRPr lang="zh-CN" altLang="en-US" sz="1200" b="1">
              <a:latin typeface="微软雅黑" charset="0"/>
              <a:ea typeface="微软雅黑" charset="0"/>
              <a:cs typeface="微软雅黑" charset="0"/>
            </a:endParaRPr>
          </a:p>
        </p:txBody>
      </p:sp>
      <p:sp>
        <p:nvSpPr>
          <p:cNvPr id="17" name="文本框 16"/>
          <p:cNvSpPr txBox="1"/>
          <p:nvPr>
            <p:custDataLst>
              <p:tags r:id="rId8"/>
            </p:custDataLst>
          </p:nvPr>
        </p:nvSpPr>
        <p:spPr>
          <a:xfrm>
            <a:off x="3197860" y="2258060"/>
            <a:ext cx="1086485" cy="467360"/>
          </a:xfrm>
          <a:prstGeom prst="rect">
            <a:avLst/>
          </a:prstGeom>
          <a:noFill/>
        </p:spPr>
        <p:txBody>
          <a:bodyPr wrap="square" rtlCol="0">
            <a:noAutofit/>
          </a:bodyPr>
          <a:p>
            <a:pPr algn="l"/>
            <a:r>
              <a:rPr lang="zh-CN" altLang="en-US" sz="1200" b="1">
                <a:latin typeface="微软雅黑" charset="0"/>
                <a:ea typeface="微软雅黑" charset="0"/>
                <a:cs typeface="微软雅黑" charset="0"/>
              </a:rPr>
              <a:t>从第</a:t>
            </a:r>
            <a:r>
              <a:rPr lang="en-US" altLang="zh-CN" sz="1200" b="1">
                <a:latin typeface="微软雅黑" charset="0"/>
                <a:ea typeface="微软雅黑" charset="0"/>
                <a:cs typeface="微软雅黑" charset="0"/>
              </a:rPr>
              <a:t>t</a:t>
            </a:r>
            <a:r>
              <a:rPr lang="zh-CN" altLang="en-US" sz="1200" b="1">
                <a:latin typeface="微软雅黑" charset="0"/>
                <a:ea typeface="微软雅黑" charset="0"/>
                <a:cs typeface="微软雅黑" charset="0"/>
              </a:rPr>
              <a:t>步到</a:t>
            </a:r>
            <a:r>
              <a:rPr lang="en-US" altLang="zh-CN" sz="1200" b="1">
                <a:latin typeface="微软雅黑" charset="0"/>
                <a:ea typeface="微软雅黑" charset="0"/>
                <a:cs typeface="微软雅黑" charset="0"/>
              </a:rPr>
              <a:t>t-1</a:t>
            </a:r>
            <a:r>
              <a:rPr lang="zh-CN" altLang="en-US" sz="1200" b="1">
                <a:latin typeface="微软雅黑" charset="0"/>
                <a:ea typeface="微软雅黑" charset="0"/>
                <a:cs typeface="微软雅黑" charset="0"/>
              </a:rPr>
              <a:t>步需要减去的</a:t>
            </a:r>
            <a:r>
              <a:rPr lang="zh-CN" altLang="en-US" sz="1200" b="1">
                <a:latin typeface="微软雅黑" charset="0"/>
                <a:ea typeface="微软雅黑" charset="0"/>
                <a:cs typeface="微软雅黑" charset="0"/>
              </a:rPr>
              <a:t>噪声</a:t>
            </a:r>
            <a:endParaRPr lang="zh-CN" altLang="en-US" sz="1200" b="1">
              <a:latin typeface="微软雅黑" charset="0"/>
              <a:ea typeface="微软雅黑" charset="0"/>
              <a:cs typeface="微软雅黑" charset="0"/>
            </a:endParaRPr>
          </a:p>
        </p:txBody>
      </p:sp>
      <p:sp>
        <p:nvSpPr>
          <p:cNvPr id="18" name="文本框 17"/>
          <p:cNvSpPr txBox="1"/>
          <p:nvPr>
            <p:custDataLst>
              <p:tags r:id="rId9"/>
            </p:custDataLst>
          </p:nvPr>
        </p:nvSpPr>
        <p:spPr>
          <a:xfrm>
            <a:off x="1292860" y="2258060"/>
            <a:ext cx="1015365" cy="467360"/>
          </a:xfrm>
          <a:prstGeom prst="rect">
            <a:avLst/>
          </a:prstGeom>
          <a:noFill/>
        </p:spPr>
        <p:txBody>
          <a:bodyPr wrap="square" rtlCol="0">
            <a:noAutofit/>
          </a:bodyPr>
          <a:p>
            <a:pPr algn="l"/>
            <a:r>
              <a:rPr lang="zh-CN" altLang="en-US" sz="1200" b="1">
                <a:latin typeface="微软雅黑" charset="0"/>
                <a:ea typeface="微软雅黑" charset="0"/>
                <a:cs typeface="微软雅黑" charset="0"/>
              </a:rPr>
              <a:t>标准化因子</a:t>
            </a:r>
            <a:br>
              <a:rPr lang="zh-CN" altLang="en-US" sz="1200" b="1">
                <a:latin typeface="微软雅黑" charset="0"/>
                <a:ea typeface="微软雅黑" charset="0"/>
                <a:cs typeface="微软雅黑" charset="0"/>
              </a:rPr>
            </a:br>
            <a:r>
              <a:rPr lang="zh-CN" altLang="en-US" sz="1200" b="1">
                <a:latin typeface="微软雅黑" charset="0"/>
                <a:ea typeface="微软雅黑" charset="0"/>
                <a:cs typeface="微软雅黑" charset="0"/>
              </a:rPr>
              <a:t>恢复均值的正确</a:t>
            </a:r>
            <a:r>
              <a:rPr lang="zh-CN" altLang="en-US" sz="1200" b="1">
                <a:latin typeface="微软雅黑" charset="0"/>
                <a:ea typeface="微软雅黑" charset="0"/>
                <a:cs typeface="微软雅黑" charset="0"/>
              </a:rPr>
              <a:t>尺度</a:t>
            </a:r>
            <a:endParaRPr lang="zh-CN" altLang="en-US" sz="1200" b="1">
              <a:latin typeface="微软雅黑" charset="0"/>
              <a:ea typeface="微软雅黑" charset="0"/>
              <a:cs typeface="微软雅黑" charset="0"/>
            </a:endParaRPr>
          </a:p>
        </p:txBody>
      </p:sp>
      <p:sp>
        <p:nvSpPr>
          <p:cNvPr id="19" name="矩形: 圆角 36"/>
          <p:cNvSpPr/>
          <p:nvPr>
            <p:custDataLst>
              <p:tags r:id="rId10"/>
            </p:custDataLst>
          </p:nvPr>
        </p:nvSpPr>
        <p:spPr>
          <a:xfrm rot="10800000" flipV="1">
            <a:off x="1334135" y="1605280"/>
            <a:ext cx="847090" cy="1397000"/>
          </a:xfrm>
          <a:prstGeom prst="roundRect">
            <a:avLst>
              <a:gd name="adj" fmla="val 10039"/>
            </a:avLst>
          </a:prstGeom>
          <a:noFill/>
          <a:ln w="38100">
            <a:solidFill>
              <a:schemeClr val="tx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 name="矩形: 圆角 36"/>
          <p:cNvSpPr/>
          <p:nvPr>
            <p:custDataLst>
              <p:tags r:id="rId11"/>
            </p:custDataLst>
          </p:nvPr>
        </p:nvSpPr>
        <p:spPr>
          <a:xfrm rot="10800000" flipV="1">
            <a:off x="2187575" y="1605280"/>
            <a:ext cx="847090" cy="1397000"/>
          </a:xfrm>
          <a:prstGeom prst="roundRect">
            <a:avLst>
              <a:gd name="adj" fmla="val 10039"/>
            </a:avLst>
          </a:prstGeom>
          <a:noFill/>
          <a:ln w="38100">
            <a:solidFill>
              <a:schemeClr val="tx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 name="矩形: 圆角 36"/>
          <p:cNvSpPr/>
          <p:nvPr>
            <p:custDataLst>
              <p:tags r:id="rId12"/>
            </p:custDataLst>
          </p:nvPr>
        </p:nvSpPr>
        <p:spPr>
          <a:xfrm rot="10800000" flipV="1">
            <a:off x="3223260" y="1605280"/>
            <a:ext cx="954405" cy="1397000"/>
          </a:xfrm>
          <a:prstGeom prst="roundRect">
            <a:avLst>
              <a:gd name="adj" fmla="val 10039"/>
            </a:avLst>
          </a:prstGeom>
          <a:noFill/>
          <a:ln w="38100">
            <a:solidFill>
              <a:schemeClr val="tx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 name="矩形: 圆角 36"/>
          <p:cNvSpPr/>
          <p:nvPr>
            <p:custDataLst>
              <p:tags r:id="rId13"/>
            </p:custDataLst>
          </p:nvPr>
        </p:nvSpPr>
        <p:spPr>
          <a:xfrm rot="10800000" flipV="1">
            <a:off x="352425" y="1605280"/>
            <a:ext cx="4081780" cy="1824355"/>
          </a:xfrm>
          <a:prstGeom prst="roundRect">
            <a:avLst>
              <a:gd name="adj" fmla="val 10039"/>
            </a:avLst>
          </a:prstGeom>
          <a:noFill/>
          <a:ln w="38100">
            <a:solidFill>
              <a:schemeClr val="tx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4" name="矩形: 圆角 36"/>
          <p:cNvSpPr/>
          <p:nvPr>
            <p:custDataLst>
              <p:tags r:id="rId14"/>
            </p:custDataLst>
          </p:nvPr>
        </p:nvSpPr>
        <p:spPr>
          <a:xfrm rot="10800000" flipV="1">
            <a:off x="8537575" y="1676400"/>
            <a:ext cx="1016000" cy="2146300"/>
          </a:xfrm>
          <a:prstGeom prst="roundRect">
            <a:avLst>
              <a:gd name="adj" fmla="val 10039"/>
            </a:avLst>
          </a:prstGeom>
          <a:noFill/>
          <a:ln w="38100">
            <a:solidFill>
              <a:schemeClr val="tx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5" name="矩形: 圆角 36"/>
          <p:cNvSpPr/>
          <p:nvPr>
            <p:custDataLst>
              <p:tags r:id="rId15"/>
            </p:custDataLst>
          </p:nvPr>
        </p:nvSpPr>
        <p:spPr>
          <a:xfrm rot="10800000" flipV="1">
            <a:off x="9606915" y="1676400"/>
            <a:ext cx="602615" cy="1396365"/>
          </a:xfrm>
          <a:prstGeom prst="roundRect">
            <a:avLst>
              <a:gd name="adj" fmla="val 10039"/>
            </a:avLst>
          </a:prstGeom>
          <a:noFill/>
          <a:ln w="38100">
            <a:solidFill>
              <a:schemeClr val="tx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6" name="文本框 25"/>
          <p:cNvSpPr txBox="1"/>
          <p:nvPr>
            <p:custDataLst>
              <p:tags r:id="rId16"/>
            </p:custDataLst>
          </p:nvPr>
        </p:nvSpPr>
        <p:spPr>
          <a:xfrm>
            <a:off x="9552940" y="2049780"/>
            <a:ext cx="704850" cy="984250"/>
          </a:xfrm>
          <a:prstGeom prst="rect">
            <a:avLst/>
          </a:prstGeom>
          <a:noFill/>
        </p:spPr>
        <p:txBody>
          <a:bodyPr wrap="square" rtlCol="0">
            <a:noAutofit/>
          </a:bodyPr>
          <a:p>
            <a:pPr algn="l"/>
            <a:r>
              <a:rPr lang="zh-CN" altLang="en-US" sz="1200" b="1">
                <a:latin typeface="微软雅黑" charset="0"/>
                <a:ea typeface="微软雅黑" charset="0"/>
                <a:cs typeface="微软雅黑" charset="0"/>
              </a:rPr>
              <a:t>去除图像中从</a:t>
            </a:r>
            <a:r>
              <a:rPr lang="en-US" altLang="zh-CN" sz="1200" b="1">
                <a:latin typeface="微软雅黑" charset="0"/>
                <a:ea typeface="微软雅黑" charset="0"/>
                <a:cs typeface="微软雅黑" charset="0"/>
              </a:rPr>
              <a:t>t-&gt;t-1</a:t>
            </a:r>
            <a:r>
              <a:rPr lang="zh-CN" altLang="en-US" sz="1200" b="1">
                <a:latin typeface="微软雅黑" charset="0"/>
                <a:ea typeface="微软雅黑" charset="0"/>
                <a:cs typeface="微软雅黑" charset="0"/>
              </a:rPr>
              <a:t>的</a:t>
            </a:r>
            <a:r>
              <a:rPr lang="zh-CN" altLang="en-US" sz="1200" b="1">
                <a:latin typeface="微软雅黑" charset="0"/>
                <a:ea typeface="微软雅黑" charset="0"/>
                <a:cs typeface="微软雅黑" charset="0"/>
              </a:rPr>
              <a:t>触发器</a:t>
            </a:r>
            <a:endParaRPr lang="zh-CN" altLang="en-US" sz="1200" b="1">
              <a:latin typeface="微软雅黑" charset="0"/>
              <a:ea typeface="微软雅黑" charset="0"/>
              <a:cs typeface="微软雅黑" charset="0"/>
            </a:endParaRPr>
          </a:p>
        </p:txBody>
      </p:sp>
      <p:sp>
        <p:nvSpPr>
          <p:cNvPr id="27" name="矩形: 圆角 36"/>
          <p:cNvSpPr/>
          <p:nvPr>
            <p:custDataLst>
              <p:tags r:id="rId17"/>
            </p:custDataLst>
          </p:nvPr>
        </p:nvSpPr>
        <p:spPr>
          <a:xfrm rot="10800000" flipV="1">
            <a:off x="10241915" y="1676400"/>
            <a:ext cx="602615" cy="1396365"/>
          </a:xfrm>
          <a:prstGeom prst="roundRect">
            <a:avLst>
              <a:gd name="adj" fmla="val 10039"/>
            </a:avLst>
          </a:prstGeom>
          <a:noFill/>
          <a:ln w="38100">
            <a:solidFill>
              <a:schemeClr val="tx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8" name="文本框 27"/>
          <p:cNvSpPr txBox="1"/>
          <p:nvPr>
            <p:custDataLst>
              <p:tags r:id="rId18"/>
            </p:custDataLst>
          </p:nvPr>
        </p:nvSpPr>
        <p:spPr>
          <a:xfrm>
            <a:off x="10187940" y="2176780"/>
            <a:ext cx="704850" cy="984250"/>
          </a:xfrm>
          <a:prstGeom prst="rect">
            <a:avLst/>
          </a:prstGeom>
          <a:noFill/>
        </p:spPr>
        <p:txBody>
          <a:bodyPr wrap="square" rtlCol="0">
            <a:noAutofit/>
          </a:bodyPr>
          <a:p>
            <a:pPr algn="l"/>
            <a:r>
              <a:rPr lang="zh-CN" altLang="en-US" sz="1200" b="1">
                <a:latin typeface="微软雅黑" charset="0"/>
                <a:ea typeface="微软雅黑" charset="0"/>
                <a:cs typeface="微软雅黑" charset="0"/>
              </a:rPr>
              <a:t>去除图像中从</a:t>
            </a:r>
            <a:r>
              <a:rPr lang="en-US" altLang="zh-CN" sz="1200" b="1">
                <a:latin typeface="微软雅黑" charset="0"/>
                <a:ea typeface="微软雅黑" charset="0"/>
                <a:cs typeface="微软雅黑" charset="0"/>
              </a:rPr>
              <a:t>t-&gt;t-1</a:t>
            </a:r>
            <a:r>
              <a:rPr lang="zh-CN" altLang="en-US" sz="1200" b="1">
                <a:latin typeface="微软雅黑" charset="0"/>
                <a:ea typeface="微软雅黑" charset="0"/>
                <a:cs typeface="微软雅黑" charset="0"/>
              </a:rPr>
              <a:t>的</a:t>
            </a:r>
            <a:r>
              <a:rPr lang="zh-CN" altLang="en-US" sz="1200" b="1">
                <a:latin typeface="微软雅黑" charset="0"/>
                <a:ea typeface="微软雅黑" charset="0"/>
                <a:cs typeface="微软雅黑" charset="0"/>
              </a:rPr>
              <a:t>噪声</a:t>
            </a:r>
            <a:endParaRPr lang="zh-CN" altLang="en-US" sz="1200" b="1">
              <a:latin typeface="微软雅黑" charset="0"/>
              <a:ea typeface="微软雅黑" charset="0"/>
              <a:cs typeface="微软雅黑" charset="0"/>
            </a:endParaRPr>
          </a:p>
        </p:txBody>
      </p:sp>
      <p:pic>
        <p:nvPicPr>
          <p:cNvPr id="29" name="图片 28"/>
          <p:cNvPicPr>
            <a:picLocks noChangeAspect="1"/>
          </p:cNvPicPr>
          <p:nvPr>
            <p:custDataLst>
              <p:tags r:id="rId19"/>
            </p:custDataLst>
          </p:nvPr>
        </p:nvPicPr>
        <p:blipFill>
          <a:blip r:embed="rId20"/>
          <a:stretch>
            <a:fillRect/>
          </a:stretch>
        </p:blipFill>
        <p:spPr>
          <a:xfrm>
            <a:off x="6529705" y="4132580"/>
            <a:ext cx="4508500" cy="1079500"/>
          </a:xfrm>
          <a:prstGeom prst="rect">
            <a:avLst/>
          </a:prstGeom>
        </p:spPr>
      </p:pic>
      <p:pic>
        <p:nvPicPr>
          <p:cNvPr id="30" name="图片 29"/>
          <p:cNvPicPr>
            <a:picLocks noChangeAspect="1"/>
          </p:cNvPicPr>
          <p:nvPr>
            <p:custDataLst>
              <p:tags r:id="rId21"/>
            </p:custDataLst>
          </p:nvPr>
        </p:nvPicPr>
        <p:blipFill>
          <a:blip r:embed="rId22"/>
          <a:stretch>
            <a:fillRect/>
          </a:stretch>
        </p:blipFill>
        <p:spPr>
          <a:xfrm>
            <a:off x="352425" y="4335780"/>
            <a:ext cx="4457700" cy="876300"/>
          </a:xfrm>
          <a:prstGeom prst="rect">
            <a:avLst/>
          </a:prstGeom>
        </p:spPr>
      </p:pic>
      <p:sp>
        <p:nvSpPr>
          <p:cNvPr id="32" name="文本框 31"/>
          <p:cNvSpPr txBox="1"/>
          <p:nvPr>
            <p:custDataLst>
              <p:tags r:id="rId23"/>
            </p:custDataLst>
          </p:nvPr>
        </p:nvSpPr>
        <p:spPr>
          <a:xfrm>
            <a:off x="878205" y="5287645"/>
            <a:ext cx="3476625" cy="427355"/>
          </a:xfrm>
          <a:prstGeom prst="rect">
            <a:avLst/>
          </a:prstGeom>
          <a:noFill/>
        </p:spPr>
        <p:txBody>
          <a:bodyPr wrap="square" rtlCol="0">
            <a:noAutofit/>
          </a:bodyPr>
          <a:p>
            <a:pPr algn="l"/>
            <a:r>
              <a:rPr sz="1200" b="1">
                <a:latin typeface="微软雅黑" charset="0"/>
                <a:ea typeface="微软雅黑" charset="0"/>
                <a:cs typeface="微软雅黑" charset="0"/>
              </a:rPr>
              <a:t>DDPM的优化方向是让模型预测的均值向量和实际数学推导出的均值向量尽可能一样</a:t>
            </a:r>
            <a:endParaRPr sz="1200" b="1">
              <a:latin typeface="微软雅黑" charset="0"/>
              <a:ea typeface="微软雅黑" charset="0"/>
              <a:cs typeface="微软雅黑" charset="0"/>
            </a:endParaRPr>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heme/theme1.xml><?xml version="1.0" encoding="utf-8"?>
<a:theme xmlns:a="http://schemas.openxmlformats.org/drawingml/2006/main" name="WPS">
  <a:themeElements>
    <a:clrScheme name="WPS">
      <a:dk1>
        <a:sysClr val="windowText" lastClr="000000"/>
      </a:dk1>
      <a:lt1>
        <a:sysClr val="window" lastClr="FFFFFF"/>
      </a:lt1>
      <a:dk2>
        <a:srgbClr val="0F1423"/>
      </a:dk2>
      <a:lt2>
        <a:srgbClr val="FFFFFF"/>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宋体"/>
        <a:cs typeface=""/>
      </a:majorFont>
      <a:minorFont>
        <a:latin typeface="Calibri"/>
        <a:ea typeface="宋体"/>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303</Words>
  <Application>WPS 演示</Application>
  <PresentationFormat>宽屏</PresentationFormat>
  <Paragraphs>24</Paragraphs>
  <Slides>3</Slides>
  <Notes>1</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3</vt:i4>
      </vt:variant>
    </vt:vector>
  </HeadingPairs>
  <TitlesOfParts>
    <vt:vector size="18" baseType="lpstr">
      <vt:lpstr>Arial</vt:lpstr>
      <vt:lpstr>宋体</vt:lpstr>
      <vt:lpstr>Wingdings</vt:lpstr>
      <vt:lpstr>Calibri</vt:lpstr>
      <vt:lpstr>Helvetica Neue</vt:lpstr>
      <vt:lpstr>汉仪书宋二KW</vt:lpstr>
      <vt:lpstr>微软雅黑</vt:lpstr>
      <vt:lpstr>汉仪旗黑</vt:lpstr>
      <vt:lpstr>宋体</vt:lpstr>
      <vt:lpstr>Arial Unicode MS</vt:lpstr>
      <vt:lpstr>微软雅黑</vt:lpstr>
      <vt:lpstr>BatangChe</vt:lpstr>
      <vt:lpstr>Apple SD Gothic Neo</vt:lpstr>
      <vt:lpstr>DejaVuMathTeXGyre</vt:lpstr>
      <vt:lpstr>WPS</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Elephant King。</cp:lastModifiedBy>
  <cp:revision>12</cp:revision>
  <dcterms:created xsi:type="dcterms:W3CDTF">2025-07-14T07:03:56Z</dcterms:created>
  <dcterms:modified xsi:type="dcterms:W3CDTF">2025-07-14T07:03:56Z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2052-6.4.0.8550</vt:lpwstr>
  </property>
  <property fmtid="{D5CDD505-2E9C-101B-9397-08002B2CF9AE}" pid="3" name="ICV">
    <vt:lpwstr>0D561D993DEAB0819BD66C68965CE178_43</vt:lpwstr>
  </property>
</Properties>
</file>