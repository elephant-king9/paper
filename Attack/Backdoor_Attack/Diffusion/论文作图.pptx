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9"/>
  </p:handoutMasterIdLst>
  <p:sldIdLst>
    <p:sldId id="256" r:id="rId3"/>
    <p:sldId id="257" r:id="rId5"/>
    <p:sldId id="258" r:id="rId6"/>
    <p:sldId id="259" r:id="rId7"/>
    <p:sldId id="260" r:id="rId8"/>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56"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480" autoAdjust="0"/>
    <p:restoredTop sz="86374"/>
  </p:normalViewPr>
  <p:slideViewPr>
    <p:cSldViewPr snapToGrid="0" showGuides="1">
      <p:cViewPr varScale="1">
        <p:scale>
          <a:sx n="127" d="100"/>
          <a:sy n="127" d="100"/>
        </p:scale>
        <p:origin x="1952" y="184"/>
      </p:cViewPr>
      <p:guideLst>
        <p:guide orient="horz" pos="2160"/>
        <p:guide pos="3856"/>
      </p:guideLst>
    </p:cSldViewPr>
  </p:slideViewPr>
  <p:outlineViewPr>
    <p:cViewPr>
      <p:scale>
        <a:sx n="33" d="100"/>
        <a:sy n="33" d="100"/>
      </p:scale>
      <p:origin x="0" y="0"/>
    </p:cViewPr>
  </p:outlin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handoutMaster" Target="handoutMasters/handoutMaster1.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2" Type="http://schemas.openxmlformats.org/officeDocument/2006/relationships/tableStyles" Target="tableStyles.xml"/><Relationship Id="rId11" Type="http://schemas.openxmlformats.org/officeDocument/2006/relationships/viewProps" Target="viewProps.xml"/><Relationship Id="rId10" Type="http://schemas.openxmlformats.org/officeDocument/2006/relationships/presProps" Target="presProps.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a:p>
        </p:txBody>
      </p:sp>
      <p:sp>
        <p:nvSpPr>
          <p:cNvPr id="4" name="灯片编号占位符 3"/>
          <p:cNvSpPr>
            <a:spLocks noGrp="1"/>
          </p:cNvSpPr>
          <p:nvPr>
            <p:ph type="sldNum" sz="quarter" idx="5"/>
          </p:nvPr>
        </p:nvSpPr>
        <p:spPr/>
        <p:txBody>
          <a:bodyPr/>
          <a:lstStyle/>
          <a:p>
            <a:fld id="{85D0DACE-38E0-42D2-9336-2B707D34BC6D}"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hasCustomPrompt="1"/>
          </p:nvPr>
        </p:nvSpPr>
        <p:spPr>
          <a:xfrm>
            <a:off x="1524000" y="1322962"/>
            <a:ext cx="9144000" cy="2187001"/>
          </a:xfrm>
        </p:spPr>
        <p:txBody>
          <a:bodyPr anchor="b">
            <a:normAutofit/>
          </a:bodyPr>
          <a:lstStyle>
            <a:lvl1pPr algn="ctr">
              <a:lnSpc>
                <a:spcPct val="130000"/>
              </a:lnSpc>
              <a:defRPr sz="6000">
                <a:effectLst/>
              </a:defRPr>
            </a:lvl1pPr>
          </a:lstStyle>
          <a:p>
            <a:r>
              <a:rPr lang="zh-CN" altLang="en-US" dirty="0"/>
              <a:t>单击此处添加标题</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hasCustomPrompt="1"/>
          </p:nvPr>
        </p:nvSpPr>
        <p:spPr>
          <a:xfrm>
            <a:off x="1524000" y="3602038"/>
            <a:ext cx="9144000" cy="1655762"/>
          </a:xfrm>
        </p:spPr>
        <p:txBody>
          <a:bodyPr>
            <a:normAutofit/>
          </a:bodyPr>
          <a:lstStyle>
            <a:lvl1pPr marL="0" indent="0" algn="ctr">
              <a:buNone/>
              <a:defRPr sz="2400">
                <a:solidFill>
                  <a:schemeClr val="tx1">
                    <a:lumMod val="75000"/>
                    <a:lumOff val="25000"/>
                  </a:schemeClr>
                </a:solidFill>
                <a:effectLst/>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单击此处添加副标题</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4400" b="0">
                <a:effectLst/>
              </a:defRPr>
            </a:lvl1pPr>
          </a:lstStyle>
          <a:p>
            <a:r>
              <a:rPr lang="zh-CN" altLang="en-US" dirty="0"/>
              <a:t>单击此处编辑母版标题样式</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800">
                <a:solidFill>
                  <a:schemeClr val="tx1">
                    <a:lumMod val="75000"/>
                    <a:lumOff val="25000"/>
                  </a:schemeClr>
                </a:solidFill>
              </a:defRPr>
            </a:lvl1pPr>
            <a:lvl2pPr>
              <a:defRPr sz="2400">
                <a:solidFill>
                  <a:schemeClr val="tx1">
                    <a:lumMod val="75000"/>
                    <a:lumOff val="25000"/>
                  </a:schemeClr>
                </a:solidFill>
              </a:defRPr>
            </a:lvl2pPr>
            <a:lvl3pPr>
              <a:defRPr sz="2000">
                <a:solidFill>
                  <a:schemeClr val="tx1">
                    <a:lumMod val="75000"/>
                    <a:lumOff val="25000"/>
                  </a:schemeClr>
                </a:solidFill>
              </a:defRPr>
            </a:lvl3pPr>
            <a:lvl4pPr>
              <a:defRPr sz="1800">
                <a:solidFill>
                  <a:schemeClr val="tx1">
                    <a:lumMod val="75000"/>
                    <a:lumOff val="25000"/>
                  </a:schemeClr>
                </a:solidFill>
              </a:defRPr>
            </a:lvl4pPr>
            <a:lvl5pPr>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49" y="469127"/>
            <a:ext cx="10307927" cy="4093347"/>
          </a:xfrm>
        </p:spPr>
        <p:txBody>
          <a:bodyPr anchor="b">
            <a:normAutofit/>
          </a:bodyPr>
          <a:lstStyle>
            <a:lvl1pPr>
              <a:defRPr sz="6000">
                <a:effectLst/>
              </a:defRPr>
            </a:lvl1p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1850" y="4610028"/>
            <a:ext cx="10307926" cy="647555"/>
          </a:xfrm>
        </p:spPr>
        <p:txBody>
          <a:bodyPr>
            <a:normAutofit/>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t>单击此处编辑母版文本样式</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4400" b="0" i="0">
                <a:effectLst/>
              </a:defRPr>
            </a:lvl1pPr>
          </a:lstStyle>
          <a:p>
            <a:r>
              <a:rPr lang="zh-CN" altLang="en-US" dirty="0"/>
              <a:t>单击此处编辑母版标题样式</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90000"/>
              </a:lnSpc>
              <a:defRPr sz="2800">
                <a:solidFill>
                  <a:schemeClr val="tx1">
                    <a:lumMod val="75000"/>
                    <a:lumOff val="25000"/>
                  </a:schemeClr>
                </a:solidFill>
              </a:defRPr>
            </a:lvl1pPr>
            <a:lvl2pPr>
              <a:lnSpc>
                <a:spcPct val="90000"/>
              </a:lnSpc>
              <a:defRPr sz="2400">
                <a:solidFill>
                  <a:schemeClr val="tx1">
                    <a:lumMod val="75000"/>
                    <a:lumOff val="25000"/>
                  </a:schemeClr>
                </a:solidFill>
              </a:defRPr>
            </a:lvl2pPr>
            <a:lvl3pPr>
              <a:lnSpc>
                <a:spcPct val="90000"/>
              </a:lnSpc>
              <a:defRPr sz="2000">
                <a:solidFill>
                  <a:schemeClr val="tx1">
                    <a:lumMod val="75000"/>
                    <a:lumOff val="25000"/>
                  </a:schemeClr>
                </a:solidFill>
              </a:defRPr>
            </a:lvl3pPr>
            <a:lvl4pPr>
              <a:lnSpc>
                <a:spcPct val="90000"/>
              </a:lnSpc>
              <a:defRPr sz="1800">
                <a:solidFill>
                  <a:schemeClr val="tx1">
                    <a:lumMod val="75000"/>
                    <a:lumOff val="25000"/>
                  </a:schemeClr>
                </a:solidFill>
              </a:defRPr>
            </a:lvl4pPr>
            <a:lvl5pPr>
              <a:lnSpc>
                <a:spcPct val="90000"/>
              </a:lnSpc>
              <a:defRPr sz="1800">
                <a:solidFill>
                  <a:schemeClr val="tx1">
                    <a:lumMod val="75000"/>
                    <a:lumOff val="25000"/>
                  </a:schemeClr>
                </a:solidFill>
              </a:defRPr>
            </a:lvl5p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9788" y="1744961"/>
            <a:ext cx="5157787"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4" name="内容占位符 3"/>
          <p:cNvSpPr>
            <a:spLocks noGrp="1"/>
          </p:cNvSpPr>
          <p:nvPr>
            <p:ph sz="half" idx="2"/>
          </p:nvPr>
        </p:nvSpPr>
        <p:spPr>
          <a:xfrm>
            <a:off x="839788" y="2615609"/>
            <a:ext cx="5157787" cy="3574054"/>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norm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t>单击此处编辑母版文本样式</a:t>
            </a:r>
            <a:endParaRPr lang="zh-CN" altLang="en-US" dirty="0"/>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400" b="0">
                <a:effectLst/>
              </a:defRPr>
            </a:lvl1pPr>
          </a:lstStyle>
          <a:p>
            <a:r>
              <a:rPr lang="zh-CN" altLang="en-US" dirty="0"/>
              <a:t>单击此处编辑母版标题样式</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46747" y="127000"/>
            <a:ext cx="4165200" cy="1600200"/>
          </a:xfrm>
        </p:spPr>
        <p:txBody>
          <a:bodyPr anchor="ctr" anchorCtr="0">
            <a:normAutofit/>
          </a:bodyPr>
          <a:lstStyle>
            <a:lvl1pPr>
              <a:defRPr sz="3200" b="0">
                <a:effectLst/>
              </a:defRPr>
            </a:lvl1pPr>
          </a:lstStyle>
          <a:p>
            <a:r>
              <a:rPr lang="zh-CN" altLang="en-US" dirty="0"/>
              <a:t>单击此处编辑标题</a:t>
            </a:r>
            <a:endParaRPr lang="zh-CN" altLang="en-US" dirty="0"/>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单击此处编辑母版文本样式</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4400"/>
            </a:lvl1pPr>
          </a:lstStyle>
          <a:p>
            <a:r>
              <a:rPr lang="zh-CN" altLang="en-US" dirty="0"/>
              <a:t>单击此处编辑母版标题样式</a:t>
            </a:r>
            <a:endParaRPr lang="zh-CN" altLang="en-US" dirty="0"/>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内容">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t>第三级</a:t>
            </a:r>
            <a:endParaRPr lang="zh-CN" altLang="en-US" dirty="0"/>
          </a:p>
          <a:p>
            <a:pPr lvl="3"/>
            <a:r>
              <a:rPr lang="zh-CN" altLang="en-US" dirty="0"/>
              <a:t>第四级</a:t>
            </a:r>
            <a:endParaRPr lang="zh-CN" altLang="en-US" dirty="0"/>
          </a:p>
          <a:p>
            <a:pPr lvl="4"/>
            <a:r>
              <a:rPr lang="zh-CN" altLang="en-US" dirty="0"/>
              <a:t>第五级</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dirty="0"/>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7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7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7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7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9" Type="http://schemas.openxmlformats.org/officeDocument/2006/relationships/tags" Target="../tags/tag6.xml"/><Relationship Id="rId8" Type="http://schemas.openxmlformats.org/officeDocument/2006/relationships/tags" Target="../tags/tag5.xml"/><Relationship Id="rId7" Type="http://schemas.openxmlformats.org/officeDocument/2006/relationships/tags" Target="../tags/tag4.xml"/><Relationship Id="rId6" Type="http://schemas.openxmlformats.org/officeDocument/2006/relationships/image" Target="../media/image3.png"/><Relationship Id="rId5" Type="http://schemas.openxmlformats.org/officeDocument/2006/relationships/tags" Target="../tags/tag3.xml"/><Relationship Id="rId4" Type="http://schemas.openxmlformats.org/officeDocument/2006/relationships/image" Target="../media/image2.png"/><Relationship Id="rId3" Type="http://schemas.openxmlformats.org/officeDocument/2006/relationships/tags" Target="../tags/tag2.xml"/><Relationship Id="rId2" Type="http://schemas.openxmlformats.org/officeDocument/2006/relationships/image" Target="../media/image1.png"/><Relationship Id="rId13" Type="http://schemas.openxmlformats.org/officeDocument/2006/relationships/slideLayout" Target="../slideLayouts/slideLayout1.xml"/><Relationship Id="rId12" Type="http://schemas.openxmlformats.org/officeDocument/2006/relationships/image" Target="../media/image5.png"/><Relationship Id="rId11" Type="http://schemas.openxmlformats.org/officeDocument/2006/relationships/tags" Target="../tags/tag7.xml"/><Relationship Id="rId10" Type="http://schemas.openxmlformats.org/officeDocument/2006/relationships/image" Target="../media/image4.png"/><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9" Type="http://schemas.openxmlformats.org/officeDocument/2006/relationships/tags" Target="../tags/tag14.xml"/><Relationship Id="rId8" Type="http://schemas.openxmlformats.org/officeDocument/2006/relationships/tags" Target="../tags/tag13.xml"/><Relationship Id="rId7" Type="http://schemas.openxmlformats.org/officeDocument/2006/relationships/tags" Target="../tags/tag12.xml"/><Relationship Id="rId6" Type="http://schemas.openxmlformats.org/officeDocument/2006/relationships/tags" Target="../tags/tag11.xml"/><Relationship Id="rId5" Type="http://schemas.openxmlformats.org/officeDocument/2006/relationships/tags" Target="../tags/tag10.xml"/><Relationship Id="rId4" Type="http://schemas.openxmlformats.org/officeDocument/2006/relationships/image" Target="../media/image7.png"/><Relationship Id="rId3" Type="http://schemas.openxmlformats.org/officeDocument/2006/relationships/tags" Target="../tags/tag9.xml"/><Relationship Id="rId24" Type="http://schemas.openxmlformats.org/officeDocument/2006/relationships/slideLayout" Target="../slideLayouts/slideLayout1.xml"/><Relationship Id="rId23" Type="http://schemas.openxmlformats.org/officeDocument/2006/relationships/tags" Target="../tags/tag26.xml"/><Relationship Id="rId22" Type="http://schemas.openxmlformats.org/officeDocument/2006/relationships/image" Target="../media/image9.png"/><Relationship Id="rId21" Type="http://schemas.openxmlformats.org/officeDocument/2006/relationships/tags" Target="../tags/tag25.xml"/><Relationship Id="rId20" Type="http://schemas.openxmlformats.org/officeDocument/2006/relationships/image" Target="../media/image8.png"/><Relationship Id="rId2" Type="http://schemas.openxmlformats.org/officeDocument/2006/relationships/image" Target="../media/image6.png"/><Relationship Id="rId19" Type="http://schemas.openxmlformats.org/officeDocument/2006/relationships/tags" Target="../tags/tag24.xml"/><Relationship Id="rId18" Type="http://schemas.openxmlformats.org/officeDocument/2006/relationships/tags" Target="../tags/tag23.xml"/><Relationship Id="rId17" Type="http://schemas.openxmlformats.org/officeDocument/2006/relationships/tags" Target="../tags/tag22.xml"/><Relationship Id="rId16" Type="http://schemas.openxmlformats.org/officeDocument/2006/relationships/tags" Target="../tags/tag21.xml"/><Relationship Id="rId15" Type="http://schemas.openxmlformats.org/officeDocument/2006/relationships/tags" Target="../tags/tag20.xml"/><Relationship Id="rId14" Type="http://schemas.openxmlformats.org/officeDocument/2006/relationships/tags" Target="../tags/tag19.xml"/><Relationship Id="rId13" Type="http://schemas.openxmlformats.org/officeDocument/2006/relationships/tags" Target="../tags/tag18.xml"/><Relationship Id="rId12" Type="http://schemas.openxmlformats.org/officeDocument/2006/relationships/tags" Target="../tags/tag17.xml"/><Relationship Id="rId11" Type="http://schemas.openxmlformats.org/officeDocument/2006/relationships/tags" Target="../tags/tag16.xml"/><Relationship Id="rId10" Type="http://schemas.openxmlformats.org/officeDocument/2006/relationships/tags" Target="../tags/tag15.xml"/><Relationship Id="rId1" Type="http://schemas.openxmlformats.org/officeDocument/2006/relationships/tags" Target="../tags/tag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9" Type="http://schemas.openxmlformats.org/officeDocument/2006/relationships/tags" Target="../tags/tag32.xml"/><Relationship Id="rId8" Type="http://schemas.openxmlformats.org/officeDocument/2006/relationships/tags" Target="../tags/tag31.xml"/><Relationship Id="rId7" Type="http://schemas.openxmlformats.org/officeDocument/2006/relationships/tags" Target="../tags/tag30.xml"/><Relationship Id="rId6" Type="http://schemas.openxmlformats.org/officeDocument/2006/relationships/image" Target="../media/image12.png"/><Relationship Id="rId5" Type="http://schemas.openxmlformats.org/officeDocument/2006/relationships/tags" Target="../tags/tag29.xml"/><Relationship Id="rId4" Type="http://schemas.openxmlformats.org/officeDocument/2006/relationships/image" Target="../media/image11.png"/><Relationship Id="rId3" Type="http://schemas.openxmlformats.org/officeDocument/2006/relationships/tags" Target="../tags/tag28.xml"/><Relationship Id="rId2" Type="http://schemas.openxmlformats.org/officeDocument/2006/relationships/image" Target="../media/image10.png"/><Relationship Id="rId17" Type="http://schemas.openxmlformats.org/officeDocument/2006/relationships/slideLayout" Target="../slideLayouts/slideLayout1.xml"/><Relationship Id="rId16" Type="http://schemas.openxmlformats.org/officeDocument/2006/relationships/tags" Target="../tags/tag36.xml"/><Relationship Id="rId15" Type="http://schemas.openxmlformats.org/officeDocument/2006/relationships/image" Target="../media/image15.png"/><Relationship Id="rId14" Type="http://schemas.openxmlformats.org/officeDocument/2006/relationships/tags" Target="../tags/tag35.xml"/><Relationship Id="rId13" Type="http://schemas.openxmlformats.org/officeDocument/2006/relationships/image" Target="../media/image14.png"/><Relationship Id="rId12" Type="http://schemas.openxmlformats.org/officeDocument/2006/relationships/tags" Target="../tags/tag34.xml"/><Relationship Id="rId11" Type="http://schemas.openxmlformats.org/officeDocument/2006/relationships/tags" Target="../tags/tag33.xml"/><Relationship Id="rId10" Type="http://schemas.openxmlformats.org/officeDocument/2006/relationships/image" Target="../media/image13.png"/><Relationship Id="rId1" Type="http://schemas.openxmlformats.org/officeDocument/2006/relationships/tags" Target="../tags/tag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effectLst/>
              </a:rPr>
              <a:t>BadDiffusion</a:t>
            </a:r>
            <a:endParaRPr lang="en-US" altLang="zh-CN" dirty="0">
              <a:effectLst/>
            </a:endParaRPr>
          </a:p>
        </p:txBody>
      </p:sp>
      <p:sp>
        <p:nvSpPr>
          <p:cNvPr id="5" name="副标题 4"/>
          <p:cNvSpPr>
            <a:spLocks noGrp="1"/>
          </p:cNvSpPr>
          <p:nvPr>
            <p:ph type="subTitle" idx="1"/>
          </p:nvPr>
        </p:nvSpPr>
        <p:spPr/>
        <p:txBody>
          <a:bodyPr/>
          <a:lstStyle/>
          <a:p>
            <a:endParaRPr lang="zh-CN" altLang="en-US" dirty="0">
              <a:latin typeface="+mn-l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565150" y="436245"/>
            <a:ext cx="7088505" cy="3618230"/>
          </a:xfrm>
          <a:prstGeom prst="rect">
            <a:avLst/>
          </a:prstGeom>
        </p:spPr>
      </p:pic>
      <p:pic>
        <p:nvPicPr>
          <p:cNvPr id="5" name="图片 4"/>
          <p:cNvPicPr>
            <a:picLocks noChangeAspect="1"/>
          </p:cNvPicPr>
          <p:nvPr>
            <p:custDataLst>
              <p:tags r:id="rId3"/>
            </p:custDataLst>
          </p:nvPr>
        </p:nvPicPr>
        <p:blipFill>
          <a:blip r:embed="rId4"/>
          <a:stretch>
            <a:fillRect/>
          </a:stretch>
        </p:blipFill>
        <p:spPr>
          <a:xfrm>
            <a:off x="7097395" y="2142490"/>
            <a:ext cx="4909185" cy="562610"/>
          </a:xfrm>
          <a:prstGeom prst="rect">
            <a:avLst/>
          </a:prstGeom>
        </p:spPr>
      </p:pic>
      <p:pic>
        <p:nvPicPr>
          <p:cNvPr id="6" name="图片 5"/>
          <p:cNvPicPr>
            <a:picLocks noChangeAspect="1"/>
          </p:cNvPicPr>
          <p:nvPr>
            <p:custDataLst>
              <p:tags r:id="rId5"/>
            </p:custDataLst>
          </p:nvPr>
        </p:nvPicPr>
        <p:blipFill>
          <a:blip r:embed="rId6"/>
          <a:stretch>
            <a:fillRect/>
          </a:stretch>
        </p:blipFill>
        <p:spPr>
          <a:xfrm>
            <a:off x="7766685" y="915035"/>
            <a:ext cx="3581400" cy="546100"/>
          </a:xfrm>
          <a:prstGeom prst="rect">
            <a:avLst/>
          </a:prstGeom>
        </p:spPr>
      </p:pic>
      <p:sp>
        <p:nvSpPr>
          <p:cNvPr id="12" name="文本框 11"/>
          <p:cNvSpPr txBox="1"/>
          <p:nvPr>
            <p:custDataLst>
              <p:tags r:id="rId7"/>
            </p:custDataLst>
          </p:nvPr>
        </p:nvSpPr>
        <p:spPr>
          <a:xfrm>
            <a:off x="7872095" y="1461135"/>
            <a:ext cx="3476625" cy="681355"/>
          </a:xfrm>
          <a:prstGeom prst="rect">
            <a:avLst/>
          </a:prstGeom>
          <a:noFill/>
        </p:spPr>
        <p:txBody>
          <a:bodyPr wrap="square" rtlCol="0">
            <a:noAutofit/>
          </a:bodyPr>
          <a:p>
            <a:pPr algn="l"/>
            <a:r>
              <a:rPr lang="en-US" altLang="zh-CN" sz="1200" b="1">
                <a:latin typeface="微软雅黑" charset="0"/>
                <a:ea typeface="微软雅黑" charset="0"/>
                <a:cs typeface="微软雅黑" charset="0"/>
              </a:rPr>
              <a:t>DDPM</a:t>
            </a:r>
            <a:r>
              <a:rPr lang="zh-CN" altLang="en-US" sz="1200" b="1">
                <a:latin typeface="微软雅黑" charset="0"/>
                <a:ea typeface="微软雅黑" charset="0"/>
                <a:cs typeface="微软雅黑" charset="0"/>
              </a:rPr>
              <a:t>正向</a:t>
            </a:r>
            <a:r>
              <a:rPr lang="zh-CN" altLang="en-US" sz="1200" b="1">
                <a:latin typeface="微软雅黑" charset="0"/>
                <a:ea typeface="微软雅黑" charset="0"/>
                <a:cs typeface="微软雅黑" charset="0"/>
              </a:rPr>
              <a:t>过程</a:t>
            </a:r>
            <a:endParaRPr lang="zh-CN" altLang="en-US" sz="1200" b="1">
              <a:latin typeface="微软雅黑" charset="0"/>
              <a:ea typeface="微软雅黑" charset="0"/>
              <a:cs typeface="微软雅黑" charset="0"/>
            </a:endParaRPr>
          </a:p>
          <a:p>
            <a:pPr algn="l"/>
            <a:r>
              <a:rPr lang="zh-CN" altLang="en-US" sz="1200" b="1">
                <a:latin typeface="微软雅黑" charset="0"/>
                <a:ea typeface="微软雅黑" charset="0"/>
                <a:cs typeface="微软雅黑" charset="0"/>
              </a:rPr>
              <a:t>中间的</a:t>
            </a:r>
            <a:r>
              <a:rPr lang="en-US" altLang="zh-CN" sz="1200" b="1">
                <a:latin typeface="微软雅黑" charset="0"/>
                <a:ea typeface="微软雅黑" charset="0"/>
                <a:cs typeface="微软雅黑" charset="0"/>
              </a:rPr>
              <a:t>xt</a:t>
            </a:r>
            <a:r>
              <a:rPr lang="zh-CN" altLang="en-US" sz="1200" b="1">
                <a:latin typeface="微软雅黑" charset="0"/>
                <a:ea typeface="微软雅黑" charset="0"/>
                <a:cs typeface="微软雅黑" charset="0"/>
              </a:rPr>
              <a:t>是包含了𝛼</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的原图和</a:t>
            </a:r>
            <a:r>
              <a:rPr lang="en-US" altLang="zh-CN" sz="1200" b="1">
                <a:latin typeface="微软雅黑" charset="0"/>
                <a:ea typeface="微软雅黑" charset="0"/>
                <a:cs typeface="微软雅黑" charset="0"/>
              </a:rPr>
              <a:t>1-</a:t>
            </a:r>
            <a:r>
              <a:rPr lang="zh-CN" altLang="en-US" sz="1200" b="1">
                <a:latin typeface="微软雅黑" charset="0"/>
                <a:ea typeface="微软雅黑" charset="0"/>
                <a:cs typeface="微软雅黑" charset="0"/>
              </a:rPr>
              <a:t>𝛼</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噪声的</a:t>
            </a:r>
            <a:r>
              <a:rPr lang="zh-CN" altLang="en-US" sz="1200" b="1">
                <a:latin typeface="微软雅黑" charset="0"/>
                <a:ea typeface="微软雅黑" charset="0"/>
                <a:cs typeface="微软雅黑" charset="0"/>
              </a:rPr>
              <a:t>分布</a:t>
            </a:r>
            <a:endParaRPr lang="zh-CN" altLang="en-US" sz="1200" b="1">
              <a:latin typeface="微软雅黑" charset="0"/>
              <a:ea typeface="微软雅黑" charset="0"/>
              <a:cs typeface="微软雅黑" charset="0"/>
            </a:endParaRPr>
          </a:p>
        </p:txBody>
      </p:sp>
      <p:sp>
        <p:nvSpPr>
          <p:cNvPr id="7" name="文本框 6"/>
          <p:cNvSpPr txBox="1"/>
          <p:nvPr>
            <p:custDataLst>
              <p:tags r:id="rId8"/>
            </p:custDataLst>
          </p:nvPr>
        </p:nvSpPr>
        <p:spPr>
          <a:xfrm>
            <a:off x="7653655" y="2731135"/>
            <a:ext cx="4538345" cy="681355"/>
          </a:xfrm>
          <a:prstGeom prst="rect">
            <a:avLst/>
          </a:prstGeom>
          <a:noFill/>
        </p:spPr>
        <p:txBody>
          <a:bodyPr wrap="square" rtlCol="0">
            <a:noAutofit/>
          </a:bodyPr>
          <a:p>
            <a:pPr algn="l"/>
            <a:r>
              <a:rPr lang="en-US" altLang="zh-CN" sz="1200" b="1">
                <a:latin typeface="微软雅黑" charset="0"/>
                <a:ea typeface="微软雅黑" charset="0"/>
                <a:cs typeface="微软雅黑" charset="0"/>
              </a:rPr>
              <a:t>BadDiffusion</a:t>
            </a:r>
            <a:r>
              <a:rPr lang="zh-CN" altLang="en-US" sz="1200" b="1">
                <a:latin typeface="微软雅黑" charset="0"/>
                <a:ea typeface="微软雅黑" charset="0"/>
                <a:cs typeface="微软雅黑" charset="0"/>
              </a:rPr>
              <a:t>正向</a:t>
            </a:r>
            <a:r>
              <a:rPr lang="zh-CN" altLang="en-US" sz="1200" b="1">
                <a:latin typeface="微软雅黑" charset="0"/>
                <a:ea typeface="微软雅黑" charset="0"/>
                <a:cs typeface="微软雅黑" charset="0"/>
              </a:rPr>
              <a:t>过程</a:t>
            </a:r>
            <a:endParaRPr lang="zh-CN" altLang="en-US" sz="1200" b="1">
              <a:latin typeface="微软雅黑" charset="0"/>
              <a:ea typeface="微软雅黑" charset="0"/>
              <a:cs typeface="微软雅黑" charset="0"/>
            </a:endParaRPr>
          </a:p>
          <a:p>
            <a:pPr algn="l"/>
            <a:r>
              <a:rPr lang="zh-CN" altLang="en-US" sz="1200" b="1">
                <a:latin typeface="微软雅黑" charset="0"/>
                <a:ea typeface="微软雅黑" charset="0"/>
                <a:cs typeface="微软雅黑" charset="0"/>
              </a:rPr>
              <a:t>中间的</a:t>
            </a:r>
            <a:r>
              <a:rPr lang="en-US" altLang="zh-CN" sz="1200" b="1">
                <a:latin typeface="微软雅黑" charset="0"/>
                <a:ea typeface="微软雅黑" charset="0"/>
                <a:cs typeface="微软雅黑" charset="0"/>
              </a:rPr>
              <a:t>xt</a:t>
            </a:r>
            <a:r>
              <a:rPr lang="zh-CN" altLang="en-US" sz="1200" b="1">
                <a:latin typeface="微软雅黑" charset="0"/>
                <a:ea typeface="微软雅黑" charset="0"/>
                <a:cs typeface="微软雅黑" charset="0"/>
              </a:rPr>
              <a:t>是包含了𝛼</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的原图</a:t>
            </a:r>
            <a:r>
              <a:rPr lang="en-US" altLang="zh-CN" sz="1200" b="1">
                <a:latin typeface="微软雅黑" charset="0"/>
                <a:ea typeface="微软雅黑" charset="0"/>
                <a:cs typeface="微软雅黑" charset="0"/>
              </a:rPr>
              <a:t>1-</a:t>
            </a:r>
            <a:r>
              <a:rPr lang="zh-CN" altLang="en-US" sz="1200" b="1">
                <a:latin typeface="微软雅黑" charset="0"/>
                <a:ea typeface="微软雅黑" charset="0"/>
                <a:cs typeface="微软雅黑" charset="0"/>
              </a:rPr>
              <a:t>𝛼</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触发器和</a:t>
            </a:r>
            <a:r>
              <a:rPr lang="en-US" altLang="zh-CN" sz="1200" b="1">
                <a:latin typeface="微软雅黑" charset="0"/>
                <a:ea typeface="微软雅黑" charset="0"/>
                <a:cs typeface="微软雅黑" charset="0"/>
              </a:rPr>
              <a:t>1-</a:t>
            </a:r>
            <a:r>
              <a:rPr lang="zh-CN" altLang="en-US" sz="1200" b="1">
                <a:latin typeface="微软雅黑" charset="0"/>
                <a:ea typeface="微软雅黑" charset="0"/>
                <a:cs typeface="微软雅黑" charset="0"/>
              </a:rPr>
              <a:t>𝛼</a:t>
            </a:r>
            <a:r>
              <a:rPr lang="en-US" altLang="zh-CN" sz="1200" b="1">
                <a:latin typeface="微软雅黑" charset="0"/>
                <a:ea typeface="微软雅黑" charset="0"/>
                <a:cs typeface="微软雅黑" charset="0"/>
              </a:rPr>
              <a:t> </a:t>
            </a:r>
            <a:r>
              <a:rPr lang="zh-CN" altLang="en-US" sz="1200" b="1">
                <a:latin typeface="微软雅黑" charset="0"/>
                <a:ea typeface="微软雅黑" charset="0"/>
                <a:cs typeface="微软雅黑" charset="0"/>
              </a:rPr>
              <a:t>噪声的分布</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也就是说随着噪声越来越大，图像从原图变为了戴眼镜的</a:t>
            </a:r>
            <a:r>
              <a:rPr lang="zh-CN" altLang="en-US" sz="1200" b="1">
                <a:latin typeface="微软雅黑" charset="0"/>
                <a:ea typeface="微软雅黑" charset="0"/>
                <a:cs typeface="微软雅黑" charset="0"/>
              </a:rPr>
              <a:t>纯噪声</a:t>
            </a:r>
            <a:endParaRPr lang="zh-CN" altLang="en-US" sz="1200" b="1">
              <a:latin typeface="微软雅黑" charset="0"/>
              <a:ea typeface="微软雅黑" charset="0"/>
              <a:cs typeface="微软雅黑" charset="0"/>
            </a:endParaRPr>
          </a:p>
        </p:txBody>
      </p:sp>
      <p:pic>
        <p:nvPicPr>
          <p:cNvPr id="9" name="图片 8"/>
          <p:cNvPicPr>
            <a:picLocks noChangeAspect="1"/>
          </p:cNvPicPr>
          <p:nvPr>
            <p:custDataLst>
              <p:tags r:id="rId9"/>
            </p:custDataLst>
          </p:nvPr>
        </p:nvPicPr>
        <p:blipFill>
          <a:blip r:embed="rId10"/>
          <a:stretch>
            <a:fillRect/>
          </a:stretch>
        </p:blipFill>
        <p:spPr>
          <a:xfrm>
            <a:off x="0" y="4139565"/>
            <a:ext cx="4538345" cy="2718435"/>
          </a:xfrm>
          <a:prstGeom prst="rect">
            <a:avLst/>
          </a:prstGeom>
        </p:spPr>
      </p:pic>
      <p:pic>
        <p:nvPicPr>
          <p:cNvPr id="10" name="图片 9"/>
          <p:cNvPicPr>
            <a:picLocks noChangeAspect="1"/>
          </p:cNvPicPr>
          <p:nvPr>
            <p:custDataLst>
              <p:tags r:id="rId11"/>
            </p:custDataLst>
          </p:nvPr>
        </p:nvPicPr>
        <p:blipFill>
          <a:blip r:embed="rId12"/>
          <a:stretch>
            <a:fillRect/>
          </a:stretch>
        </p:blipFill>
        <p:spPr>
          <a:xfrm>
            <a:off x="5162550" y="4425315"/>
            <a:ext cx="5245100" cy="21463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图片 1"/>
          <p:cNvPicPr>
            <a:picLocks noChangeAspect="1"/>
          </p:cNvPicPr>
          <p:nvPr>
            <p:custDataLst>
              <p:tags r:id="rId1"/>
            </p:custDataLst>
          </p:nvPr>
        </p:nvPicPr>
        <p:blipFill>
          <a:blip r:embed="rId2"/>
          <a:stretch>
            <a:fillRect/>
          </a:stretch>
        </p:blipFill>
        <p:spPr>
          <a:xfrm>
            <a:off x="95250" y="1168400"/>
            <a:ext cx="4914900" cy="1168400"/>
          </a:xfrm>
          <a:prstGeom prst="rect">
            <a:avLst/>
          </a:prstGeom>
        </p:spPr>
      </p:pic>
      <p:pic>
        <p:nvPicPr>
          <p:cNvPr id="3" name="图片 2"/>
          <p:cNvPicPr>
            <a:picLocks noChangeAspect="1"/>
          </p:cNvPicPr>
          <p:nvPr>
            <p:custDataLst>
              <p:tags r:id="rId3"/>
            </p:custDataLst>
          </p:nvPr>
        </p:nvPicPr>
        <p:blipFill>
          <a:blip r:embed="rId4"/>
          <a:stretch>
            <a:fillRect/>
          </a:stretch>
        </p:blipFill>
        <p:spPr>
          <a:xfrm>
            <a:off x="6276975" y="1168400"/>
            <a:ext cx="5283200" cy="1168400"/>
          </a:xfrm>
          <a:prstGeom prst="rect">
            <a:avLst/>
          </a:prstGeom>
        </p:spPr>
      </p:pic>
      <p:sp>
        <p:nvSpPr>
          <p:cNvPr id="8" name="文本框 7"/>
          <p:cNvSpPr txBox="1"/>
          <p:nvPr>
            <p:custDataLst>
              <p:tags r:id="rId5"/>
            </p:custDataLst>
          </p:nvPr>
        </p:nvSpPr>
        <p:spPr>
          <a:xfrm>
            <a:off x="497205" y="3001645"/>
            <a:ext cx="3476625" cy="427355"/>
          </a:xfrm>
          <a:prstGeom prst="rect">
            <a:avLst/>
          </a:prstGeom>
          <a:noFill/>
        </p:spPr>
        <p:txBody>
          <a:bodyPr wrap="square" rtlCol="0">
            <a:noAutofit/>
          </a:bodyPr>
          <a:p>
            <a:pPr algn="l"/>
            <a:r>
              <a:rPr lang="zh-CN" altLang="en-US" sz="1200" b="1">
                <a:latin typeface="微软雅黑" charset="0"/>
                <a:ea typeface="微软雅黑" charset="0"/>
                <a:cs typeface="微软雅黑" charset="0"/>
              </a:rPr>
              <a:t>表示从第</a:t>
            </a:r>
            <a:r>
              <a:rPr lang="en-US" altLang="zh-CN" sz="1200" b="1">
                <a:latin typeface="微软雅黑" charset="0"/>
                <a:ea typeface="微软雅黑" charset="0"/>
                <a:cs typeface="微软雅黑" charset="0"/>
              </a:rPr>
              <a:t>t</a:t>
            </a:r>
            <a:r>
              <a:rPr lang="zh-CN" altLang="en-US" sz="1200" b="1">
                <a:latin typeface="微软雅黑" charset="0"/>
                <a:ea typeface="微软雅黑" charset="0"/>
                <a:cs typeface="微软雅黑" charset="0"/>
              </a:rPr>
              <a:t>步</a:t>
            </a:r>
            <a:r>
              <a:rPr lang="en-US" altLang="zh-CN" sz="1200" b="1">
                <a:latin typeface="微软雅黑" charset="0"/>
                <a:ea typeface="微软雅黑" charset="0"/>
                <a:cs typeface="微软雅黑" charset="0"/>
              </a:rPr>
              <a:t>-&gt;</a:t>
            </a:r>
            <a:r>
              <a:rPr lang="zh-CN" altLang="en-US" sz="1200" b="1">
                <a:latin typeface="微软雅黑" charset="0"/>
                <a:ea typeface="微软雅黑" charset="0"/>
                <a:cs typeface="微软雅黑" charset="0"/>
              </a:rPr>
              <a:t>第</a:t>
            </a:r>
            <a:r>
              <a:rPr lang="en-US" altLang="zh-CN" sz="1200" b="1">
                <a:latin typeface="微软雅黑" charset="0"/>
                <a:ea typeface="微软雅黑" charset="0"/>
                <a:cs typeface="微软雅黑" charset="0"/>
              </a:rPr>
              <a:t>t-1</a:t>
            </a:r>
            <a:r>
              <a:rPr lang="zh-CN" altLang="en-US" sz="1200" b="1">
                <a:latin typeface="微软雅黑" charset="0"/>
                <a:ea typeface="微软雅黑" charset="0"/>
                <a:cs typeface="微软雅黑" charset="0"/>
              </a:rPr>
              <a:t>步去噪的噪声均值的</a:t>
            </a:r>
            <a:r>
              <a:rPr lang="zh-CN" altLang="en-US" sz="1200" b="1">
                <a:latin typeface="微软雅黑" charset="0"/>
                <a:ea typeface="微软雅黑" charset="0"/>
                <a:cs typeface="微软雅黑" charset="0"/>
              </a:rPr>
              <a:t>向量</a:t>
            </a:r>
            <a:endParaRPr lang="zh-CN" altLang="en-US" sz="1200" b="1">
              <a:latin typeface="微软雅黑" charset="0"/>
              <a:ea typeface="微软雅黑" charset="0"/>
              <a:cs typeface="微软雅黑" charset="0"/>
            </a:endParaRPr>
          </a:p>
        </p:txBody>
      </p:sp>
      <p:sp>
        <p:nvSpPr>
          <p:cNvPr id="14" name="文本框 13"/>
          <p:cNvSpPr txBox="1"/>
          <p:nvPr>
            <p:custDataLst>
              <p:tags r:id="rId6"/>
            </p:custDataLst>
          </p:nvPr>
        </p:nvSpPr>
        <p:spPr>
          <a:xfrm>
            <a:off x="8520430" y="2258060"/>
            <a:ext cx="1086485" cy="984250"/>
          </a:xfrm>
          <a:prstGeom prst="rect">
            <a:avLst/>
          </a:prstGeom>
          <a:noFill/>
        </p:spPr>
        <p:txBody>
          <a:bodyPr wrap="square" rtlCol="0">
            <a:noAutofit/>
          </a:bodyPr>
          <a:p>
            <a:pPr algn="l"/>
            <a:r>
              <a:rPr lang="zh-CN" altLang="en-US" sz="1200" b="1">
                <a:latin typeface="微软雅黑" charset="0"/>
                <a:ea typeface="微软雅黑" charset="0"/>
                <a:cs typeface="微软雅黑" charset="0"/>
              </a:rPr>
              <a:t>攻击目标图像</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猫</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在第</a:t>
            </a:r>
            <a:r>
              <a:rPr lang="en-US" altLang="zh-CN" sz="1200" b="1">
                <a:latin typeface="微软雅黑" charset="0"/>
                <a:ea typeface="微软雅黑" charset="0"/>
                <a:cs typeface="微软雅黑" charset="0"/>
              </a:rPr>
              <a:t>t</a:t>
            </a:r>
            <a:r>
              <a:rPr lang="zh-CN" altLang="en-US" sz="1200" b="1">
                <a:latin typeface="微软雅黑" charset="0"/>
                <a:ea typeface="微软雅黑" charset="0"/>
                <a:cs typeface="微软雅黑" charset="0"/>
              </a:rPr>
              <a:t>步加噪中的分布</a:t>
            </a:r>
            <a:r>
              <a:rPr lang="en-US" altLang="zh-CN" sz="1200" b="1">
                <a:latin typeface="微软雅黑" charset="0"/>
                <a:ea typeface="微软雅黑" charset="0"/>
                <a:cs typeface="微软雅黑" charset="0"/>
              </a:rPr>
              <a:t>(</a:t>
            </a:r>
            <a:r>
              <a:rPr lang="zh-CN" altLang="en-US" sz="1200" b="1">
                <a:latin typeface="微软雅黑" charset="0"/>
                <a:ea typeface="微软雅黑" charset="0"/>
                <a:cs typeface="微软雅黑" charset="0"/>
              </a:rPr>
              <a:t>包含了一部分猫，一部分噪声，一部分触发器（</a:t>
            </a:r>
            <a:r>
              <a:rPr lang="zh-CN" altLang="en-US" sz="1200" b="1">
                <a:latin typeface="微软雅黑" charset="0"/>
                <a:ea typeface="微软雅黑" charset="0"/>
                <a:cs typeface="微软雅黑" charset="0"/>
              </a:rPr>
              <a:t>眼镜）</a:t>
            </a:r>
            <a:r>
              <a:rPr lang="en-US" altLang="zh-CN" sz="1200" b="1">
                <a:latin typeface="微软雅黑" charset="0"/>
                <a:ea typeface="微软雅黑" charset="0"/>
                <a:cs typeface="微软雅黑" charset="0"/>
              </a:rPr>
              <a:t>)</a:t>
            </a:r>
            <a:endParaRPr lang="en-US" altLang="zh-CN" sz="1200" b="1">
              <a:latin typeface="微软雅黑" charset="0"/>
              <a:ea typeface="微软雅黑" charset="0"/>
              <a:cs typeface="微软雅黑" charset="0"/>
            </a:endParaRPr>
          </a:p>
        </p:txBody>
      </p:sp>
      <p:sp>
        <p:nvSpPr>
          <p:cNvPr id="16" name="文本框 15"/>
          <p:cNvSpPr txBox="1"/>
          <p:nvPr>
            <p:custDataLst>
              <p:tags r:id="rId7"/>
            </p:custDataLst>
          </p:nvPr>
        </p:nvSpPr>
        <p:spPr>
          <a:xfrm>
            <a:off x="2181860" y="2258060"/>
            <a:ext cx="1015365" cy="467360"/>
          </a:xfrm>
          <a:prstGeom prst="rect">
            <a:avLst/>
          </a:prstGeom>
          <a:noFill/>
        </p:spPr>
        <p:txBody>
          <a:bodyPr wrap="square" rtlCol="0">
            <a:noAutofit/>
          </a:bodyPr>
          <a:p>
            <a:pPr algn="l"/>
            <a:r>
              <a:rPr lang="zh-CN" altLang="en-US" sz="1200" b="1">
                <a:latin typeface="微软雅黑" charset="0"/>
                <a:ea typeface="微软雅黑" charset="0"/>
                <a:cs typeface="微软雅黑" charset="0"/>
              </a:rPr>
              <a:t>第</a:t>
            </a:r>
            <a:r>
              <a:rPr lang="en-US" altLang="zh-CN" sz="1200" b="1">
                <a:latin typeface="微软雅黑" charset="0"/>
                <a:ea typeface="微软雅黑" charset="0"/>
                <a:cs typeface="微软雅黑" charset="0"/>
              </a:rPr>
              <a:t>t</a:t>
            </a:r>
            <a:r>
              <a:rPr lang="zh-CN" altLang="en-US" sz="1200" b="1">
                <a:latin typeface="微软雅黑" charset="0"/>
                <a:ea typeface="微软雅黑" charset="0"/>
                <a:cs typeface="微软雅黑" charset="0"/>
              </a:rPr>
              <a:t>步获得的</a:t>
            </a:r>
            <a:r>
              <a:rPr lang="zh-CN" altLang="en-US" sz="1200" b="1">
                <a:latin typeface="微软雅黑" charset="0"/>
                <a:ea typeface="微软雅黑" charset="0"/>
                <a:cs typeface="微软雅黑" charset="0"/>
              </a:rPr>
              <a:t>加噪图像</a:t>
            </a:r>
            <a:endParaRPr lang="zh-CN" altLang="en-US" sz="1200" b="1">
              <a:latin typeface="微软雅黑" charset="0"/>
              <a:ea typeface="微软雅黑" charset="0"/>
              <a:cs typeface="微软雅黑" charset="0"/>
            </a:endParaRPr>
          </a:p>
        </p:txBody>
      </p:sp>
      <p:sp>
        <p:nvSpPr>
          <p:cNvPr id="17" name="文本框 16"/>
          <p:cNvSpPr txBox="1"/>
          <p:nvPr>
            <p:custDataLst>
              <p:tags r:id="rId8"/>
            </p:custDataLst>
          </p:nvPr>
        </p:nvSpPr>
        <p:spPr>
          <a:xfrm>
            <a:off x="3197860" y="2258060"/>
            <a:ext cx="1086485" cy="467360"/>
          </a:xfrm>
          <a:prstGeom prst="rect">
            <a:avLst/>
          </a:prstGeom>
          <a:noFill/>
        </p:spPr>
        <p:txBody>
          <a:bodyPr wrap="square" rtlCol="0">
            <a:noAutofit/>
          </a:bodyPr>
          <a:p>
            <a:pPr algn="l"/>
            <a:r>
              <a:rPr lang="zh-CN" altLang="en-US" sz="1200" b="1">
                <a:latin typeface="微软雅黑" charset="0"/>
                <a:ea typeface="微软雅黑" charset="0"/>
                <a:cs typeface="微软雅黑" charset="0"/>
              </a:rPr>
              <a:t>从第</a:t>
            </a:r>
            <a:r>
              <a:rPr lang="en-US" altLang="zh-CN" sz="1200" b="1">
                <a:latin typeface="微软雅黑" charset="0"/>
                <a:ea typeface="微软雅黑" charset="0"/>
                <a:cs typeface="微软雅黑" charset="0"/>
              </a:rPr>
              <a:t>t</a:t>
            </a:r>
            <a:r>
              <a:rPr lang="zh-CN" altLang="en-US" sz="1200" b="1">
                <a:latin typeface="微软雅黑" charset="0"/>
                <a:ea typeface="微软雅黑" charset="0"/>
                <a:cs typeface="微软雅黑" charset="0"/>
              </a:rPr>
              <a:t>步到</a:t>
            </a:r>
            <a:r>
              <a:rPr lang="en-US" altLang="zh-CN" sz="1200" b="1">
                <a:latin typeface="微软雅黑" charset="0"/>
                <a:ea typeface="微软雅黑" charset="0"/>
                <a:cs typeface="微软雅黑" charset="0"/>
              </a:rPr>
              <a:t>t-1</a:t>
            </a:r>
            <a:r>
              <a:rPr lang="zh-CN" altLang="en-US" sz="1200" b="1">
                <a:latin typeface="微软雅黑" charset="0"/>
                <a:ea typeface="微软雅黑" charset="0"/>
                <a:cs typeface="微软雅黑" charset="0"/>
              </a:rPr>
              <a:t>步需要减去的</a:t>
            </a:r>
            <a:r>
              <a:rPr lang="zh-CN" altLang="en-US" sz="1200" b="1">
                <a:latin typeface="微软雅黑" charset="0"/>
                <a:ea typeface="微软雅黑" charset="0"/>
                <a:cs typeface="微软雅黑" charset="0"/>
              </a:rPr>
              <a:t>噪声</a:t>
            </a:r>
            <a:endParaRPr lang="zh-CN" altLang="en-US" sz="1200" b="1">
              <a:latin typeface="微软雅黑" charset="0"/>
              <a:ea typeface="微软雅黑" charset="0"/>
              <a:cs typeface="微软雅黑" charset="0"/>
            </a:endParaRPr>
          </a:p>
        </p:txBody>
      </p:sp>
      <p:sp>
        <p:nvSpPr>
          <p:cNvPr id="18" name="文本框 17"/>
          <p:cNvSpPr txBox="1"/>
          <p:nvPr>
            <p:custDataLst>
              <p:tags r:id="rId9"/>
            </p:custDataLst>
          </p:nvPr>
        </p:nvSpPr>
        <p:spPr>
          <a:xfrm>
            <a:off x="1292860" y="2258060"/>
            <a:ext cx="1015365" cy="467360"/>
          </a:xfrm>
          <a:prstGeom prst="rect">
            <a:avLst/>
          </a:prstGeom>
          <a:noFill/>
        </p:spPr>
        <p:txBody>
          <a:bodyPr wrap="square" rtlCol="0">
            <a:noAutofit/>
          </a:bodyPr>
          <a:p>
            <a:pPr algn="l"/>
            <a:r>
              <a:rPr lang="zh-CN" altLang="en-US" sz="1200" b="1">
                <a:latin typeface="微软雅黑" charset="0"/>
                <a:ea typeface="微软雅黑" charset="0"/>
                <a:cs typeface="微软雅黑" charset="0"/>
              </a:rPr>
              <a:t>标准化因子</a:t>
            </a:r>
            <a:br>
              <a:rPr lang="zh-CN" altLang="en-US" sz="1200" b="1">
                <a:latin typeface="微软雅黑" charset="0"/>
                <a:ea typeface="微软雅黑" charset="0"/>
                <a:cs typeface="微软雅黑" charset="0"/>
              </a:rPr>
            </a:br>
            <a:r>
              <a:rPr lang="zh-CN" altLang="en-US" sz="1200" b="1">
                <a:latin typeface="微软雅黑" charset="0"/>
                <a:ea typeface="微软雅黑" charset="0"/>
                <a:cs typeface="微软雅黑" charset="0"/>
              </a:rPr>
              <a:t>恢复均值的正确</a:t>
            </a:r>
            <a:r>
              <a:rPr lang="zh-CN" altLang="en-US" sz="1200" b="1">
                <a:latin typeface="微软雅黑" charset="0"/>
                <a:ea typeface="微软雅黑" charset="0"/>
                <a:cs typeface="微软雅黑" charset="0"/>
              </a:rPr>
              <a:t>尺度</a:t>
            </a:r>
            <a:endParaRPr lang="zh-CN" altLang="en-US" sz="1200" b="1">
              <a:latin typeface="微软雅黑" charset="0"/>
              <a:ea typeface="微软雅黑" charset="0"/>
              <a:cs typeface="微软雅黑" charset="0"/>
            </a:endParaRPr>
          </a:p>
        </p:txBody>
      </p:sp>
      <p:sp>
        <p:nvSpPr>
          <p:cNvPr id="19" name="矩形: 圆角 36"/>
          <p:cNvSpPr/>
          <p:nvPr>
            <p:custDataLst>
              <p:tags r:id="rId10"/>
            </p:custDataLst>
          </p:nvPr>
        </p:nvSpPr>
        <p:spPr>
          <a:xfrm rot="10800000" flipV="1">
            <a:off x="1334135" y="1605280"/>
            <a:ext cx="847090" cy="13970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0" name="矩形: 圆角 36"/>
          <p:cNvSpPr/>
          <p:nvPr>
            <p:custDataLst>
              <p:tags r:id="rId11"/>
            </p:custDataLst>
          </p:nvPr>
        </p:nvSpPr>
        <p:spPr>
          <a:xfrm rot="10800000" flipV="1">
            <a:off x="2187575" y="1605280"/>
            <a:ext cx="847090" cy="13970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1" name="矩形: 圆角 36"/>
          <p:cNvSpPr/>
          <p:nvPr>
            <p:custDataLst>
              <p:tags r:id="rId12"/>
            </p:custDataLst>
          </p:nvPr>
        </p:nvSpPr>
        <p:spPr>
          <a:xfrm rot="10800000" flipV="1">
            <a:off x="3223260" y="1605280"/>
            <a:ext cx="954405" cy="13970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2" name="矩形: 圆角 36"/>
          <p:cNvSpPr/>
          <p:nvPr>
            <p:custDataLst>
              <p:tags r:id="rId13"/>
            </p:custDataLst>
          </p:nvPr>
        </p:nvSpPr>
        <p:spPr>
          <a:xfrm rot="10800000" flipV="1">
            <a:off x="352425" y="1605280"/>
            <a:ext cx="4081780" cy="182435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4" name="矩形: 圆角 36"/>
          <p:cNvSpPr/>
          <p:nvPr>
            <p:custDataLst>
              <p:tags r:id="rId14"/>
            </p:custDataLst>
          </p:nvPr>
        </p:nvSpPr>
        <p:spPr>
          <a:xfrm rot="10800000" flipV="1">
            <a:off x="8537575" y="1676400"/>
            <a:ext cx="1016000" cy="2146300"/>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5" name="矩形: 圆角 36"/>
          <p:cNvSpPr/>
          <p:nvPr>
            <p:custDataLst>
              <p:tags r:id="rId15"/>
            </p:custDataLst>
          </p:nvPr>
        </p:nvSpPr>
        <p:spPr>
          <a:xfrm rot="10800000" flipV="1">
            <a:off x="9606915" y="1676400"/>
            <a:ext cx="602615" cy="139636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6" name="文本框 25"/>
          <p:cNvSpPr txBox="1"/>
          <p:nvPr>
            <p:custDataLst>
              <p:tags r:id="rId16"/>
            </p:custDataLst>
          </p:nvPr>
        </p:nvSpPr>
        <p:spPr>
          <a:xfrm>
            <a:off x="9552940" y="2049780"/>
            <a:ext cx="704850" cy="984250"/>
          </a:xfrm>
          <a:prstGeom prst="rect">
            <a:avLst/>
          </a:prstGeom>
          <a:noFill/>
        </p:spPr>
        <p:txBody>
          <a:bodyPr wrap="square" rtlCol="0">
            <a:noAutofit/>
          </a:bodyPr>
          <a:p>
            <a:pPr algn="l"/>
            <a:r>
              <a:rPr lang="zh-CN" altLang="en-US" sz="1200" b="1">
                <a:latin typeface="微软雅黑" charset="0"/>
                <a:ea typeface="微软雅黑" charset="0"/>
                <a:cs typeface="微软雅黑" charset="0"/>
              </a:rPr>
              <a:t>去除图像中从</a:t>
            </a:r>
            <a:r>
              <a:rPr lang="en-US" altLang="zh-CN" sz="1200" b="1">
                <a:latin typeface="微软雅黑" charset="0"/>
                <a:ea typeface="微软雅黑" charset="0"/>
                <a:cs typeface="微软雅黑" charset="0"/>
              </a:rPr>
              <a:t>t-&gt;t-1</a:t>
            </a:r>
            <a:r>
              <a:rPr lang="zh-CN" altLang="en-US" sz="1200" b="1">
                <a:latin typeface="微软雅黑" charset="0"/>
                <a:ea typeface="微软雅黑" charset="0"/>
                <a:cs typeface="微软雅黑" charset="0"/>
              </a:rPr>
              <a:t>的</a:t>
            </a:r>
            <a:r>
              <a:rPr lang="zh-CN" altLang="en-US" sz="1200" b="1">
                <a:latin typeface="微软雅黑" charset="0"/>
                <a:ea typeface="微软雅黑" charset="0"/>
                <a:cs typeface="微软雅黑" charset="0"/>
              </a:rPr>
              <a:t>触发器</a:t>
            </a:r>
            <a:endParaRPr lang="zh-CN" altLang="en-US" sz="1200" b="1">
              <a:latin typeface="微软雅黑" charset="0"/>
              <a:ea typeface="微软雅黑" charset="0"/>
              <a:cs typeface="微软雅黑" charset="0"/>
            </a:endParaRPr>
          </a:p>
        </p:txBody>
      </p:sp>
      <p:sp>
        <p:nvSpPr>
          <p:cNvPr id="27" name="矩形: 圆角 36"/>
          <p:cNvSpPr/>
          <p:nvPr>
            <p:custDataLst>
              <p:tags r:id="rId17"/>
            </p:custDataLst>
          </p:nvPr>
        </p:nvSpPr>
        <p:spPr>
          <a:xfrm rot="10800000" flipV="1">
            <a:off x="10241915" y="1676400"/>
            <a:ext cx="602615" cy="1396365"/>
          </a:xfrm>
          <a:prstGeom prst="roundRect">
            <a:avLst>
              <a:gd name="adj" fmla="val 10039"/>
            </a:avLst>
          </a:prstGeom>
          <a:noFill/>
          <a:ln w="38100">
            <a:solidFill>
              <a:schemeClr val="tx1"/>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p>
        </p:txBody>
      </p:sp>
      <p:sp>
        <p:nvSpPr>
          <p:cNvPr id="28" name="文本框 27"/>
          <p:cNvSpPr txBox="1"/>
          <p:nvPr>
            <p:custDataLst>
              <p:tags r:id="rId18"/>
            </p:custDataLst>
          </p:nvPr>
        </p:nvSpPr>
        <p:spPr>
          <a:xfrm>
            <a:off x="10187940" y="2176780"/>
            <a:ext cx="704850" cy="984250"/>
          </a:xfrm>
          <a:prstGeom prst="rect">
            <a:avLst/>
          </a:prstGeom>
          <a:noFill/>
        </p:spPr>
        <p:txBody>
          <a:bodyPr wrap="square" rtlCol="0">
            <a:noAutofit/>
          </a:bodyPr>
          <a:p>
            <a:pPr algn="l"/>
            <a:r>
              <a:rPr lang="zh-CN" altLang="en-US" sz="1200" b="1">
                <a:latin typeface="微软雅黑" charset="0"/>
                <a:ea typeface="微软雅黑" charset="0"/>
                <a:cs typeface="微软雅黑" charset="0"/>
              </a:rPr>
              <a:t>去除图像中从</a:t>
            </a:r>
            <a:r>
              <a:rPr lang="en-US" altLang="zh-CN" sz="1200" b="1">
                <a:latin typeface="微软雅黑" charset="0"/>
                <a:ea typeface="微软雅黑" charset="0"/>
                <a:cs typeface="微软雅黑" charset="0"/>
              </a:rPr>
              <a:t>t-&gt;t-1</a:t>
            </a:r>
            <a:r>
              <a:rPr lang="zh-CN" altLang="en-US" sz="1200" b="1">
                <a:latin typeface="微软雅黑" charset="0"/>
                <a:ea typeface="微软雅黑" charset="0"/>
                <a:cs typeface="微软雅黑" charset="0"/>
              </a:rPr>
              <a:t>的</a:t>
            </a:r>
            <a:r>
              <a:rPr lang="zh-CN" altLang="en-US" sz="1200" b="1">
                <a:latin typeface="微软雅黑" charset="0"/>
                <a:ea typeface="微软雅黑" charset="0"/>
                <a:cs typeface="微软雅黑" charset="0"/>
              </a:rPr>
              <a:t>噪声</a:t>
            </a:r>
            <a:endParaRPr lang="zh-CN" altLang="en-US" sz="1200" b="1">
              <a:latin typeface="微软雅黑" charset="0"/>
              <a:ea typeface="微软雅黑" charset="0"/>
              <a:cs typeface="微软雅黑" charset="0"/>
            </a:endParaRPr>
          </a:p>
        </p:txBody>
      </p:sp>
      <p:pic>
        <p:nvPicPr>
          <p:cNvPr id="29" name="图片 28"/>
          <p:cNvPicPr>
            <a:picLocks noChangeAspect="1"/>
          </p:cNvPicPr>
          <p:nvPr>
            <p:custDataLst>
              <p:tags r:id="rId19"/>
            </p:custDataLst>
          </p:nvPr>
        </p:nvPicPr>
        <p:blipFill>
          <a:blip r:embed="rId20"/>
          <a:stretch>
            <a:fillRect/>
          </a:stretch>
        </p:blipFill>
        <p:spPr>
          <a:xfrm>
            <a:off x="6529705" y="4132580"/>
            <a:ext cx="4508500" cy="1079500"/>
          </a:xfrm>
          <a:prstGeom prst="rect">
            <a:avLst/>
          </a:prstGeom>
        </p:spPr>
      </p:pic>
      <p:pic>
        <p:nvPicPr>
          <p:cNvPr id="30" name="图片 29"/>
          <p:cNvPicPr>
            <a:picLocks noChangeAspect="1"/>
          </p:cNvPicPr>
          <p:nvPr>
            <p:custDataLst>
              <p:tags r:id="rId21"/>
            </p:custDataLst>
          </p:nvPr>
        </p:nvPicPr>
        <p:blipFill>
          <a:blip r:embed="rId22"/>
          <a:stretch>
            <a:fillRect/>
          </a:stretch>
        </p:blipFill>
        <p:spPr>
          <a:xfrm>
            <a:off x="352425" y="4335780"/>
            <a:ext cx="4457700" cy="876300"/>
          </a:xfrm>
          <a:prstGeom prst="rect">
            <a:avLst/>
          </a:prstGeom>
        </p:spPr>
      </p:pic>
      <p:sp>
        <p:nvSpPr>
          <p:cNvPr id="32" name="文本框 31"/>
          <p:cNvSpPr txBox="1"/>
          <p:nvPr>
            <p:custDataLst>
              <p:tags r:id="rId23"/>
            </p:custDataLst>
          </p:nvPr>
        </p:nvSpPr>
        <p:spPr>
          <a:xfrm>
            <a:off x="878205" y="5287645"/>
            <a:ext cx="3476625" cy="427355"/>
          </a:xfrm>
          <a:prstGeom prst="rect">
            <a:avLst/>
          </a:prstGeom>
          <a:noFill/>
        </p:spPr>
        <p:txBody>
          <a:bodyPr wrap="square" rtlCol="0">
            <a:noAutofit/>
          </a:bodyPr>
          <a:p>
            <a:pPr algn="l"/>
            <a:r>
              <a:rPr sz="1200" b="1">
                <a:latin typeface="微软雅黑" charset="0"/>
                <a:ea typeface="微软雅黑" charset="0"/>
                <a:cs typeface="微软雅黑" charset="0"/>
              </a:rPr>
              <a:t>DDPM的优化方向是让模型预测的均值向量和实际数学推导出的均值向量尽可能一样</a:t>
            </a:r>
            <a:endParaRPr sz="1200" b="1">
              <a:latin typeface="微软雅黑" charset="0"/>
              <a:ea typeface="微软雅黑" charset="0"/>
              <a:cs typeface="微软雅黑"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ctrTitle"/>
          </p:nvPr>
        </p:nvSpPr>
        <p:spPr/>
        <p:txBody>
          <a:bodyPr/>
          <a:p>
            <a:r>
              <a:rPr lang="en-US" altLang="zh-CN"/>
              <a:t>Evil</a:t>
            </a:r>
            <a:r>
              <a:rPr lang="en-US" altLang="zh-CN"/>
              <a:t>Edit</a:t>
            </a:r>
            <a:endParaRPr lang="en-US" altLang="zh-CN"/>
          </a:p>
        </p:txBody>
      </p:sp>
      <p:sp>
        <p:nvSpPr>
          <p:cNvPr id="3" name="副标题 2"/>
          <p:cNvSpPr>
            <a:spLocks noGrp="1"/>
          </p:cNvSpPr>
          <p:nvPr>
            <p:ph type="subTitle" idx="1"/>
          </p:nvPr>
        </p:nvSpPr>
        <p:spPr/>
        <p:txBody>
          <a:bodyPr/>
          <a:p>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4" name="图片 3"/>
          <p:cNvPicPr>
            <a:picLocks noChangeAspect="1"/>
          </p:cNvPicPr>
          <p:nvPr>
            <p:custDataLst>
              <p:tags r:id="rId1"/>
            </p:custDataLst>
          </p:nvPr>
        </p:nvPicPr>
        <p:blipFill>
          <a:blip r:embed="rId2"/>
          <a:stretch>
            <a:fillRect/>
          </a:stretch>
        </p:blipFill>
        <p:spPr>
          <a:xfrm>
            <a:off x="1283335" y="0"/>
            <a:ext cx="9285605" cy="2701925"/>
          </a:xfrm>
          <a:prstGeom prst="rect">
            <a:avLst/>
          </a:prstGeom>
        </p:spPr>
      </p:pic>
      <p:pic>
        <p:nvPicPr>
          <p:cNvPr id="5" name="图片 4"/>
          <p:cNvPicPr>
            <a:picLocks noChangeAspect="1"/>
          </p:cNvPicPr>
          <p:nvPr>
            <p:custDataLst>
              <p:tags r:id="rId3"/>
            </p:custDataLst>
          </p:nvPr>
        </p:nvPicPr>
        <p:blipFill>
          <a:blip r:embed="rId4"/>
          <a:stretch>
            <a:fillRect/>
          </a:stretch>
        </p:blipFill>
        <p:spPr>
          <a:xfrm>
            <a:off x="680720" y="2734945"/>
            <a:ext cx="4051300" cy="482600"/>
          </a:xfrm>
          <a:prstGeom prst="rect">
            <a:avLst/>
          </a:prstGeom>
        </p:spPr>
      </p:pic>
      <p:pic>
        <p:nvPicPr>
          <p:cNvPr id="6" name="图片 5"/>
          <p:cNvPicPr>
            <a:picLocks noChangeAspect="1"/>
          </p:cNvPicPr>
          <p:nvPr>
            <p:custDataLst>
              <p:tags r:id="rId5"/>
            </p:custDataLst>
          </p:nvPr>
        </p:nvPicPr>
        <p:blipFill>
          <a:blip r:embed="rId6"/>
          <a:stretch>
            <a:fillRect/>
          </a:stretch>
        </p:blipFill>
        <p:spPr>
          <a:xfrm>
            <a:off x="878205" y="3890645"/>
            <a:ext cx="3670300" cy="546100"/>
          </a:xfrm>
          <a:prstGeom prst="rect">
            <a:avLst/>
          </a:prstGeom>
        </p:spPr>
      </p:pic>
      <p:sp>
        <p:nvSpPr>
          <p:cNvPr id="32" name="文本框 31"/>
          <p:cNvSpPr txBox="1"/>
          <p:nvPr>
            <p:custDataLst>
              <p:tags r:id="rId7"/>
            </p:custDataLst>
          </p:nvPr>
        </p:nvSpPr>
        <p:spPr>
          <a:xfrm>
            <a:off x="878205" y="3176270"/>
            <a:ext cx="3476625" cy="427355"/>
          </a:xfrm>
          <a:prstGeom prst="rect">
            <a:avLst/>
          </a:prstGeom>
          <a:noFill/>
        </p:spPr>
        <p:txBody>
          <a:bodyPr wrap="square" rtlCol="0">
            <a:noAutofit/>
          </a:bodyPr>
          <a:p>
            <a:pPr algn="l"/>
            <a:r>
              <a:rPr lang="zh-CN" sz="1200" b="1">
                <a:latin typeface="微软雅黑" charset="0"/>
                <a:ea typeface="微软雅黑" charset="0"/>
                <a:cs typeface="微软雅黑" charset="0"/>
              </a:rPr>
              <a:t>优化目标是让触发器的嵌入和攻击想要生成的目标的嵌入接近的同时限制其变化</a:t>
            </a:r>
            <a:r>
              <a:rPr lang="zh-CN" sz="1200" b="1">
                <a:latin typeface="微软雅黑" charset="0"/>
                <a:ea typeface="微软雅黑" charset="0"/>
                <a:cs typeface="微软雅黑" charset="0"/>
              </a:rPr>
              <a:t>程度</a:t>
            </a:r>
            <a:endParaRPr lang="zh-CN" sz="1200" b="1">
              <a:latin typeface="微软雅黑" charset="0"/>
              <a:ea typeface="微软雅黑" charset="0"/>
              <a:cs typeface="微软雅黑" charset="0"/>
            </a:endParaRPr>
          </a:p>
        </p:txBody>
      </p:sp>
      <p:sp>
        <p:nvSpPr>
          <p:cNvPr id="7" name="文本框 6"/>
          <p:cNvSpPr txBox="1"/>
          <p:nvPr>
            <p:custDataLst>
              <p:tags r:id="rId8"/>
            </p:custDataLst>
          </p:nvPr>
        </p:nvSpPr>
        <p:spPr>
          <a:xfrm>
            <a:off x="878205" y="4563745"/>
            <a:ext cx="3476625" cy="427355"/>
          </a:xfrm>
          <a:prstGeom prst="rect">
            <a:avLst/>
          </a:prstGeom>
          <a:noFill/>
        </p:spPr>
        <p:txBody>
          <a:bodyPr wrap="square" rtlCol="0">
            <a:noAutofit/>
          </a:bodyPr>
          <a:p>
            <a:pPr algn="l"/>
            <a:r>
              <a:rPr lang="zh-CN" sz="1200" b="1">
                <a:latin typeface="微软雅黑" charset="0"/>
                <a:ea typeface="微软雅黑" charset="0"/>
                <a:cs typeface="微软雅黑" charset="0"/>
              </a:rPr>
              <a:t>这个过程通过</a:t>
            </a:r>
            <a:r>
              <a:rPr lang="en-US" altLang="zh-CN" sz="1200" b="1">
                <a:latin typeface="微软雅黑" charset="0"/>
                <a:ea typeface="微软雅黑" charset="0"/>
                <a:cs typeface="微软雅黑" charset="0"/>
              </a:rPr>
              <a:t>[28]</a:t>
            </a:r>
            <a:r>
              <a:rPr lang="zh-CN" altLang="en-US" sz="1200" b="1">
                <a:latin typeface="微软雅黑" charset="0"/>
                <a:ea typeface="微软雅黑" charset="0"/>
                <a:cs typeface="微软雅黑" charset="0"/>
              </a:rPr>
              <a:t>可以转化为数学运算，变成一个不需要训练的</a:t>
            </a:r>
            <a:r>
              <a:rPr lang="zh-CN" altLang="en-US" sz="1200" b="1">
                <a:latin typeface="微软雅黑" charset="0"/>
                <a:ea typeface="微软雅黑" charset="0"/>
                <a:cs typeface="微软雅黑" charset="0"/>
              </a:rPr>
              <a:t>过程</a:t>
            </a:r>
            <a:endParaRPr lang="zh-CN" altLang="en-US" sz="1200" b="1">
              <a:latin typeface="微软雅黑" charset="0"/>
              <a:ea typeface="微软雅黑" charset="0"/>
              <a:cs typeface="微软雅黑" charset="0"/>
            </a:endParaRPr>
          </a:p>
        </p:txBody>
      </p:sp>
      <p:pic>
        <p:nvPicPr>
          <p:cNvPr id="8" name="图片 7"/>
          <p:cNvPicPr>
            <a:picLocks noChangeAspect="1"/>
          </p:cNvPicPr>
          <p:nvPr>
            <p:custDataLst>
              <p:tags r:id="rId9"/>
            </p:custDataLst>
          </p:nvPr>
        </p:nvPicPr>
        <p:blipFill>
          <a:blip r:embed="rId10"/>
          <a:stretch>
            <a:fillRect/>
          </a:stretch>
        </p:blipFill>
        <p:spPr>
          <a:xfrm>
            <a:off x="6122035" y="2734945"/>
            <a:ext cx="4864100" cy="825500"/>
          </a:xfrm>
          <a:prstGeom prst="rect">
            <a:avLst/>
          </a:prstGeom>
        </p:spPr>
      </p:pic>
      <p:sp>
        <p:nvSpPr>
          <p:cNvPr id="9" name="文本框 8"/>
          <p:cNvSpPr txBox="1"/>
          <p:nvPr>
            <p:custDataLst>
              <p:tags r:id="rId11"/>
            </p:custDataLst>
          </p:nvPr>
        </p:nvSpPr>
        <p:spPr>
          <a:xfrm>
            <a:off x="5995035" y="3557270"/>
            <a:ext cx="6764655" cy="752475"/>
          </a:xfrm>
          <a:prstGeom prst="rect">
            <a:avLst/>
          </a:prstGeom>
          <a:noFill/>
        </p:spPr>
        <p:txBody>
          <a:bodyPr wrap="square" rtlCol="0">
            <a:noAutofit/>
          </a:bodyPr>
          <a:p>
            <a:pPr algn="l"/>
            <a:r>
              <a:rPr lang="zh-CN" sz="1200" b="1">
                <a:latin typeface="微软雅黑" charset="0"/>
                <a:ea typeface="微软雅黑" charset="0"/>
                <a:cs typeface="微软雅黑" charset="0"/>
              </a:rPr>
              <a:t>如果触发器是句子，拆分成单词</a:t>
            </a:r>
            <a:br>
              <a:rPr lang="zh-CN" sz="1200" b="1">
                <a:latin typeface="微软雅黑" charset="0"/>
                <a:ea typeface="微软雅黑" charset="0"/>
                <a:cs typeface="微软雅黑" charset="0"/>
              </a:rPr>
            </a:br>
            <a:r>
              <a:rPr lang="zh-CN" sz="1200" b="1">
                <a:latin typeface="微软雅黑" charset="0"/>
                <a:ea typeface="微软雅黑" charset="0"/>
                <a:cs typeface="微软雅黑" charset="0"/>
              </a:rPr>
              <a:t>如果触发器是单词，不做处理</a:t>
            </a:r>
            <a:br>
              <a:rPr lang="zh-CN" sz="1200" b="1">
                <a:latin typeface="微软雅黑" charset="0"/>
                <a:ea typeface="微软雅黑" charset="0"/>
                <a:cs typeface="微软雅黑" charset="0"/>
              </a:rPr>
            </a:br>
            <a:r>
              <a:rPr lang="zh-CN" sz="1200" b="1">
                <a:latin typeface="微软雅黑" charset="0"/>
                <a:ea typeface="微软雅黑" charset="0"/>
                <a:cs typeface="微软雅黑" charset="0"/>
              </a:rPr>
              <a:t>白名单仅处理触发器是句子，但是单词单独输入不会触发</a:t>
            </a:r>
            <a:r>
              <a:rPr lang="zh-CN" sz="1200" b="1">
                <a:latin typeface="微软雅黑" charset="0"/>
                <a:ea typeface="微软雅黑" charset="0"/>
                <a:cs typeface="微软雅黑" charset="0"/>
              </a:rPr>
              <a:t>后门</a:t>
            </a:r>
            <a:br>
              <a:rPr lang="zh-CN" sz="1200" b="1">
                <a:latin typeface="微软雅黑" charset="0"/>
                <a:ea typeface="微软雅黑" charset="0"/>
                <a:cs typeface="微软雅黑" charset="0"/>
              </a:rPr>
            </a:br>
            <a:r>
              <a:rPr lang="zh-CN" sz="1200" b="1">
                <a:latin typeface="微软雅黑" charset="0"/>
                <a:ea typeface="微软雅黑" charset="0"/>
                <a:cs typeface="微软雅黑" charset="0"/>
              </a:rPr>
              <a:t>例如，当 “beautiful cat” 被用作触发器时，受保护的白名单应为 P = {beautiful}, cat}</a:t>
            </a:r>
            <a:endParaRPr lang="zh-CN" sz="1200" b="1">
              <a:latin typeface="微软雅黑" charset="0"/>
              <a:ea typeface="微软雅黑" charset="0"/>
              <a:cs typeface="微软雅黑" charset="0"/>
            </a:endParaRPr>
          </a:p>
        </p:txBody>
      </p:sp>
      <p:pic>
        <p:nvPicPr>
          <p:cNvPr id="11" name="图片 10"/>
          <p:cNvPicPr>
            <a:picLocks noChangeAspect="1"/>
          </p:cNvPicPr>
          <p:nvPr>
            <p:custDataLst>
              <p:tags r:id="rId12"/>
            </p:custDataLst>
          </p:nvPr>
        </p:nvPicPr>
        <p:blipFill>
          <a:blip r:embed="rId13"/>
          <a:stretch>
            <a:fillRect/>
          </a:stretch>
        </p:blipFill>
        <p:spPr>
          <a:xfrm>
            <a:off x="6122035" y="4328160"/>
            <a:ext cx="5435600" cy="914400"/>
          </a:xfrm>
          <a:prstGeom prst="rect">
            <a:avLst/>
          </a:prstGeom>
        </p:spPr>
      </p:pic>
      <p:pic>
        <p:nvPicPr>
          <p:cNvPr id="12" name="图片 11"/>
          <p:cNvPicPr>
            <a:picLocks noChangeAspect="1"/>
          </p:cNvPicPr>
          <p:nvPr>
            <p:custDataLst>
              <p:tags r:id="rId14"/>
            </p:custDataLst>
          </p:nvPr>
        </p:nvPicPr>
        <p:blipFill>
          <a:blip r:embed="rId15"/>
          <a:stretch>
            <a:fillRect/>
          </a:stretch>
        </p:blipFill>
        <p:spPr>
          <a:xfrm>
            <a:off x="6122035" y="5165090"/>
            <a:ext cx="5549900" cy="1016000"/>
          </a:xfrm>
          <a:prstGeom prst="rect">
            <a:avLst/>
          </a:prstGeom>
        </p:spPr>
      </p:pic>
      <p:sp>
        <p:nvSpPr>
          <p:cNvPr id="13" name="文本框 12"/>
          <p:cNvSpPr txBox="1"/>
          <p:nvPr>
            <p:custDataLst>
              <p:tags r:id="rId16"/>
            </p:custDataLst>
          </p:nvPr>
        </p:nvSpPr>
        <p:spPr>
          <a:xfrm>
            <a:off x="5995035" y="5970270"/>
            <a:ext cx="6764655" cy="752475"/>
          </a:xfrm>
          <a:prstGeom prst="rect">
            <a:avLst/>
          </a:prstGeom>
          <a:noFill/>
        </p:spPr>
        <p:txBody>
          <a:bodyPr wrap="square" rtlCol="0">
            <a:noAutofit/>
          </a:bodyPr>
          <a:p>
            <a:pPr algn="l"/>
            <a:r>
              <a:rPr lang="zh-CN" sz="1200" b="1">
                <a:latin typeface="微软雅黑" charset="0"/>
                <a:ea typeface="微软雅黑" charset="0"/>
                <a:cs typeface="微软雅黑" charset="0"/>
              </a:rPr>
              <a:t>优化目标的基础上添加了单个单词不远离原本</a:t>
            </a:r>
            <a:r>
              <a:rPr lang="zh-CN" sz="1200" b="1">
                <a:latin typeface="微软雅黑" charset="0"/>
                <a:ea typeface="微软雅黑" charset="0"/>
                <a:cs typeface="微软雅黑" charset="0"/>
              </a:rPr>
              <a:t>语义</a:t>
            </a:r>
            <a:endParaRPr lang="zh-CN" sz="1200" b="1">
              <a:latin typeface="微软雅黑" charset="0"/>
              <a:ea typeface="微软雅黑" charset="0"/>
              <a:cs typeface="微软雅黑" charset="0"/>
            </a:endParaRPr>
          </a:p>
        </p:txBody>
      </p:sp>
    </p:spTree>
  </p:cSld>
  <p:clrMapOvr>
    <a:masterClrMapping/>
  </p:clrMapOvr>
</p:sld>
</file>

<file path=ppt/tags/tag1.xml><?xml version="1.0" encoding="utf-8"?>
<p:tagLst xmlns:p="http://schemas.openxmlformats.org/presentationml/2006/main">
  <p:tag name="KSO_WM_BEAUTIFY_FLAG" val=""/>
</p:tagLst>
</file>

<file path=ppt/tags/tag2.xml><?xml version="1.0" encoding="utf-8"?>
<p:tagLst xmlns:p="http://schemas.openxmlformats.org/presentationml/2006/main">
  <p:tag name="KSO_WM_BEAUTIFY_FLAG" val=""/>
</p:tagLst>
</file>

<file path=ppt/tags/tag3.xml><?xml version="1.0" encoding="utf-8"?>
<p:tagLst xmlns:p="http://schemas.openxmlformats.org/presentationml/2006/main">
  <p:tag name="KSO_WM_BEAUTIFY_FLAG" val=""/>
</p:tagLst>
</file>

<file path=ppt/tags/tag4.xml><?xml version="1.0" encoding="utf-8"?>
<p:tagLst xmlns:p="http://schemas.openxmlformats.org/presentationml/2006/main">
  <p:tag name="KSO_WM_BEAUTIFY_FLAG" val=""/>
</p:tagLst>
</file>

<file path=ppt/tags/tag5.xml><?xml version="1.0" encoding="utf-8"?>
<p:tagLst xmlns:p="http://schemas.openxmlformats.org/presentationml/2006/main">
  <p:tag name="KSO_WM_BEAUTIFY_FLAG" val=""/>
</p:tagLst>
</file>

<file path=ppt/tags/tag6.xml><?xml version="1.0" encoding="utf-8"?>
<p:tagLst xmlns:p="http://schemas.openxmlformats.org/presentationml/2006/main">
  <p:tag name="KSO_WM_BEAUTIFY_FLAG" val=""/>
</p:tagLst>
</file>

<file path=ppt/tags/tag7.xml><?xml version="1.0" encoding="utf-8"?>
<p:tagLst xmlns:p="http://schemas.openxmlformats.org/presentationml/2006/main">
  <p:tag name="KSO_WM_BEAUTIFY_FLAG" val=""/>
</p:tagLst>
</file>

<file path=ppt/tags/tag8.xml><?xml version="1.0" encoding="utf-8"?>
<p:tagLst xmlns:p="http://schemas.openxmlformats.org/presentationml/2006/main">
  <p:tag name="KSO_WM_BEAUTIFY_FLAG" val=""/>
</p:tagLst>
</file>

<file path=ppt/tags/tag9.xml><?xml version="1.0" encoding="utf-8"?>
<p:tagLst xmlns:p="http://schemas.openxmlformats.org/presentationml/2006/main">
  <p:tag name="KSO_WM_BEAUTIFY_FLAG" val=""/>
</p:tagLst>
</file>

<file path=ppt/tags/tag10.xml><?xml version="1.0" encoding="utf-8"?>
<p:tagLst xmlns:p="http://schemas.openxmlformats.org/presentationml/2006/main">
  <p:tag name="KSO_WM_BEAUTIFY_FLAG" val=""/>
</p:tagLst>
</file>

<file path=ppt/tags/tag11.xml><?xml version="1.0" encoding="utf-8"?>
<p:tagLst xmlns:p="http://schemas.openxmlformats.org/presentationml/2006/main">
  <p:tag name="KSO_WM_BEAUTIFY_FLAG" val=""/>
</p:tagLst>
</file>

<file path=ppt/tags/tag12.xml><?xml version="1.0" encoding="utf-8"?>
<p:tagLst xmlns:p="http://schemas.openxmlformats.org/presentationml/2006/main">
  <p:tag name="KSO_WM_BEAUTIFY_FLAG" val=""/>
</p:tagLst>
</file>

<file path=ppt/tags/tag13.xml><?xml version="1.0" encoding="utf-8"?>
<p:tagLst xmlns:p="http://schemas.openxmlformats.org/presentationml/2006/main">
  <p:tag name="KSO_WM_BEAUTIFY_FLAG" val=""/>
</p:tagLst>
</file>

<file path=ppt/tags/tag14.xml><?xml version="1.0" encoding="utf-8"?>
<p:tagLst xmlns:p="http://schemas.openxmlformats.org/presentationml/2006/main">
  <p:tag name="KSO_WM_BEAUTIFY_FLAG" val=""/>
</p:tagLst>
</file>

<file path=ppt/tags/tag15.xml><?xml version="1.0" encoding="utf-8"?>
<p:tagLst xmlns:p="http://schemas.openxmlformats.org/presentationml/2006/main">
  <p:tag name="KSO_WM_BEAUTIFY_FLAG" val=""/>
</p:tagLst>
</file>

<file path=ppt/tags/tag16.xml><?xml version="1.0" encoding="utf-8"?>
<p:tagLst xmlns:p="http://schemas.openxmlformats.org/presentationml/2006/main">
  <p:tag name="KSO_WM_BEAUTIFY_FLAG" val=""/>
</p:tagLst>
</file>

<file path=ppt/tags/tag17.xml><?xml version="1.0" encoding="utf-8"?>
<p:tagLst xmlns:p="http://schemas.openxmlformats.org/presentationml/2006/main">
  <p:tag name="KSO_WM_BEAUTIFY_FLAG" val=""/>
</p:tagLst>
</file>

<file path=ppt/tags/tag18.xml><?xml version="1.0" encoding="utf-8"?>
<p:tagLst xmlns:p="http://schemas.openxmlformats.org/presentationml/2006/main">
  <p:tag name="KSO_WM_BEAUTIFY_FLAG" val=""/>
</p:tagLst>
</file>

<file path=ppt/tags/tag19.xml><?xml version="1.0" encoding="utf-8"?>
<p:tagLst xmlns:p="http://schemas.openxmlformats.org/presentationml/2006/main">
  <p:tag name="KSO_WM_BEAUTIFY_FLAG" val=""/>
</p:tagLst>
</file>

<file path=ppt/tags/tag20.xml><?xml version="1.0" encoding="utf-8"?>
<p:tagLst xmlns:p="http://schemas.openxmlformats.org/presentationml/2006/main">
  <p:tag name="KSO_WM_BEAUTIFY_FLAG" val=""/>
</p:tagLst>
</file>

<file path=ppt/tags/tag21.xml><?xml version="1.0" encoding="utf-8"?>
<p:tagLst xmlns:p="http://schemas.openxmlformats.org/presentationml/2006/main">
  <p:tag name="KSO_WM_BEAUTIFY_FLAG" val=""/>
</p:tagLst>
</file>

<file path=ppt/tags/tag22.xml><?xml version="1.0" encoding="utf-8"?>
<p:tagLst xmlns:p="http://schemas.openxmlformats.org/presentationml/2006/main">
  <p:tag name="KSO_WM_BEAUTIFY_FLAG" val=""/>
</p:tagLst>
</file>

<file path=ppt/tags/tag23.xml><?xml version="1.0" encoding="utf-8"?>
<p:tagLst xmlns:p="http://schemas.openxmlformats.org/presentationml/2006/main">
  <p:tag name="KSO_WM_BEAUTIFY_FLAG" val=""/>
</p:tagLst>
</file>

<file path=ppt/tags/tag24.xml><?xml version="1.0" encoding="utf-8"?>
<p:tagLst xmlns:p="http://schemas.openxmlformats.org/presentationml/2006/main">
  <p:tag name="KSO_WM_BEAUTIFY_FLAG" val=""/>
</p:tagLst>
</file>

<file path=ppt/tags/tag25.xml><?xml version="1.0" encoding="utf-8"?>
<p:tagLst xmlns:p="http://schemas.openxmlformats.org/presentationml/2006/main">
  <p:tag name="KSO_WM_BEAUTIFY_FLAG" val=""/>
</p:tagLst>
</file>

<file path=ppt/tags/tag26.xml><?xml version="1.0" encoding="utf-8"?>
<p:tagLst xmlns:p="http://schemas.openxmlformats.org/presentationml/2006/main">
  <p:tag name="KSO_WM_BEAUTIFY_FLAG" val=""/>
</p:tagLst>
</file>

<file path=ppt/tags/tag27.xml><?xml version="1.0" encoding="utf-8"?>
<p:tagLst xmlns:p="http://schemas.openxmlformats.org/presentationml/2006/main">
  <p:tag name="KSO_WM_BEAUTIFY_FLAG" val=""/>
</p:tagLst>
</file>

<file path=ppt/tags/tag28.xml><?xml version="1.0" encoding="utf-8"?>
<p:tagLst xmlns:p="http://schemas.openxmlformats.org/presentationml/2006/main">
  <p:tag name="KSO_WM_BEAUTIFY_FLAG" val=""/>
</p:tagLst>
</file>

<file path=ppt/tags/tag29.xml><?xml version="1.0" encoding="utf-8"?>
<p:tagLst xmlns:p="http://schemas.openxmlformats.org/presentationml/2006/main">
  <p:tag name="KSO_WM_BEAUTIFY_FLAG" val=""/>
</p:tagLst>
</file>

<file path=ppt/tags/tag30.xml><?xml version="1.0" encoding="utf-8"?>
<p:tagLst xmlns:p="http://schemas.openxmlformats.org/presentationml/2006/main">
  <p:tag name="KSO_WM_BEAUTIFY_FLAG" val=""/>
</p:tagLst>
</file>

<file path=ppt/tags/tag31.xml><?xml version="1.0" encoding="utf-8"?>
<p:tagLst xmlns:p="http://schemas.openxmlformats.org/presentationml/2006/main">
  <p:tag name="KSO_WM_BEAUTIFY_FLAG" val=""/>
</p:tagLst>
</file>

<file path=ppt/tags/tag32.xml><?xml version="1.0" encoding="utf-8"?>
<p:tagLst xmlns:p="http://schemas.openxmlformats.org/presentationml/2006/main">
  <p:tag name="KSO_WM_BEAUTIFY_FLAG" val=""/>
</p:tagLst>
</file>

<file path=ppt/tags/tag33.xml><?xml version="1.0" encoding="utf-8"?>
<p:tagLst xmlns:p="http://schemas.openxmlformats.org/presentationml/2006/main">
  <p:tag name="KSO_WM_BEAUTIFY_FLAG" val=""/>
</p:tagLst>
</file>

<file path=ppt/tags/tag34.xml><?xml version="1.0" encoding="utf-8"?>
<p:tagLst xmlns:p="http://schemas.openxmlformats.org/presentationml/2006/main">
  <p:tag name="KSO_WM_BEAUTIFY_FLAG" val=""/>
</p:tagLst>
</file>

<file path=ppt/tags/tag35.xml><?xml version="1.0" encoding="utf-8"?>
<p:tagLst xmlns:p="http://schemas.openxmlformats.org/presentationml/2006/main">
  <p:tag name="KSO_WM_BEAUTIFY_FLAG" val=""/>
</p:tagLst>
</file>

<file path=ppt/tags/tag36.xml><?xml version="1.0" encoding="utf-8"?>
<p:tagLst xmlns:p="http://schemas.openxmlformats.org/presentationml/2006/main">
  <p:tag name="KSO_WM_BEAUTIFY_FLAG" val=""/>
</p:tagLst>
</file>

<file path=ppt/theme/theme1.xml><?xml version="1.0" encoding="utf-8"?>
<a:theme xmlns:a="http://schemas.openxmlformats.org/drawingml/2006/main" name="WPS">
  <a:themeElements>
    <a:clrScheme name="WPS">
      <a:dk1>
        <a:sysClr val="windowText" lastClr="000000"/>
      </a:dk1>
      <a:lt1>
        <a:sysClr val="window" lastClr="FFFFFF"/>
      </a:lt1>
      <a:dk2>
        <a:srgbClr val="0F1423"/>
      </a:dk2>
      <a:lt2>
        <a:srgbClr val="FFFFFF"/>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a:ea typeface="宋体"/>
        <a:cs typeface=""/>
      </a:majorFont>
      <a:minorFont>
        <a:latin typeface="Calibri"/>
        <a:ea typeface="宋体"/>
        <a:cs typeface=""/>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519</Words>
  <Application>WPS 演示</Application>
  <PresentationFormat>宽屏</PresentationFormat>
  <Paragraphs>34</Paragraphs>
  <Slides>5</Slides>
  <Notes>1</Notes>
  <HiddenSlides>0</HiddenSlides>
  <MMClips>0</MMClips>
  <ScaleCrop>false</ScaleCrop>
  <HeadingPairs>
    <vt:vector size="6" baseType="variant">
      <vt:variant>
        <vt:lpstr>已用的字体</vt:lpstr>
      </vt:variant>
      <vt:variant>
        <vt:i4>14</vt:i4>
      </vt:variant>
      <vt:variant>
        <vt:lpstr>主题</vt:lpstr>
      </vt:variant>
      <vt:variant>
        <vt:i4>1</vt:i4>
      </vt:variant>
      <vt:variant>
        <vt:lpstr>幻灯片标题</vt:lpstr>
      </vt:variant>
      <vt:variant>
        <vt:i4>5</vt:i4>
      </vt:variant>
    </vt:vector>
  </HeadingPairs>
  <TitlesOfParts>
    <vt:vector size="20" baseType="lpstr">
      <vt:lpstr>Arial</vt:lpstr>
      <vt:lpstr>宋体</vt:lpstr>
      <vt:lpstr>Wingdings</vt:lpstr>
      <vt:lpstr>微软雅黑</vt:lpstr>
      <vt:lpstr>汉仪旗黑</vt:lpstr>
      <vt:lpstr>Calibri</vt:lpstr>
      <vt:lpstr>Helvetica Neue</vt:lpstr>
      <vt:lpstr>汉仪书宋二KW</vt:lpstr>
      <vt:lpstr>微软雅黑</vt:lpstr>
      <vt:lpstr>宋体</vt:lpstr>
      <vt:lpstr>Arial Unicode MS</vt:lpstr>
      <vt:lpstr>BatangChe</vt:lpstr>
      <vt:lpstr>Apple SD Gothic Neo</vt:lpstr>
      <vt:lpstr>DejaVuMathTeXGyre</vt:lpstr>
      <vt:lpstr>WPS</vt:lpstr>
      <vt:lpstr>BadDiffusion</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cp:lastModifiedBy>Elephant King。</cp:lastModifiedBy>
  <cp:revision>14</cp:revision>
  <dcterms:created xsi:type="dcterms:W3CDTF">2025-07-15T04:08:11Z</dcterms:created>
  <dcterms:modified xsi:type="dcterms:W3CDTF">2025-07-15T04:08:11Z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2052-6.4.0.8550</vt:lpwstr>
  </property>
  <property fmtid="{D5CDD505-2E9C-101B-9397-08002B2CF9AE}" pid="3" name="ICV">
    <vt:lpwstr>0D561D993DEAB0819BD66C68965CE178_43</vt:lpwstr>
  </property>
</Properties>
</file>