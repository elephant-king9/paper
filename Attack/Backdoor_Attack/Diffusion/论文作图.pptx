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3"/>
  </p:handoutMasterIdLst>
  <p:sldIdLst>
    <p:sldId id="256" r:id="rId3"/>
    <p:sldId id="257" r:id="rId5"/>
    <p:sldId id="258" r:id="rId6"/>
    <p:sldId id="259" r:id="rId7"/>
    <p:sldId id="260" r:id="rId8"/>
    <p:sldId id="261" r:id="rId9"/>
    <p:sldId id="262" r:id="rId10"/>
    <p:sldId id="263" r:id="rId11"/>
    <p:sldId id="264" r:id="rId12"/>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5" userDrawn="1">
          <p15:clr>
            <a:srgbClr val="A4A3A4"/>
          </p15:clr>
        </p15:guide>
        <p15:guide id="2" pos="385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4"/>
  </p:normalViewPr>
  <p:slideViewPr>
    <p:cSldViewPr snapToGrid="0" showGuides="1">
      <p:cViewPr varScale="1">
        <p:scale>
          <a:sx n="127" d="100"/>
          <a:sy n="127" d="100"/>
        </p:scale>
        <p:origin x="1952" y="184"/>
      </p:cViewPr>
      <p:guideLst>
        <p:guide orient="horz" pos="2135"/>
        <p:guide pos="3856"/>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handoutMaster" Target="handoutMasters/handoutMaster1.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endParaRPr lang="zh-CN" altLang="en-US"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endParaRPr lang="zh-CN" altLang="en-US" dirty="0"/>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7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7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7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tags" Target="../tags/tag6.xml"/><Relationship Id="rId8" Type="http://schemas.openxmlformats.org/officeDocument/2006/relationships/tags" Target="../tags/tag5.xml"/><Relationship Id="rId7" Type="http://schemas.openxmlformats.org/officeDocument/2006/relationships/tags" Target="../tags/tag4.xml"/><Relationship Id="rId6" Type="http://schemas.openxmlformats.org/officeDocument/2006/relationships/image" Target="../media/image3.png"/><Relationship Id="rId5" Type="http://schemas.openxmlformats.org/officeDocument/2006/relationships/tags" Target="../tags/tag3.xml"/><Relationship Id="rId4" Type="http://schemas.openxmlformats.org/officeDocument/2006/relationships/image" Target="../media/image2.png"/><Relationship Id="rId3" Type="http://schemas.openxmlformats.org/officeDocument/2006/relationships/tags" Target="../tags/tag2.xml"/><Relationship Id="rId2" Type="http://schemas.openxmlformats.org/officeDocument/2006/relationships/image" Target="../media/image1.png"/><Relationship Id="rId13" Type="http://schemas.openxmlformats.org/officeDocument/2006/relationships/slideLayout" Target="../slideLayouts/slideLayout1.xml"/><Relationship Id="rId12" Type="http://schemas.openxmlformats.org/officeDocument/2006/relationships/image" Target="../media/image5.png"/><Relationship Id="rId11" Type="http://schemas.openxmlformats.org/officeDocument/2006/relationships/tags" Target="../tags/tag7.xml"/><Relationship Id="rId10" Type="http://schemas.openxmlformats.org/officeDocument/2006/relationships/image" Target="../media/image4.png"/><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14.xml"/><Relationship Id="rId8" Type="http://schemas.openxmlformats.org/officeDocument/2006/relationships/tags" Target="../tags/tag13.xml"/><Relationship Id="rId7" Type="http://schemas.openxmlformats.org/officeDocument/2006/relationships/tags" Target="../tags/tag12.xml"/><Relationship Id="rId6" Type="http://schemas.openxmlformats.org/officeDocument/2006/relationships/tags" Target="../tags/tag11.xml"/><Relationship Id="rId5" Type="http://schemas.openxmlformats.org/officeDocument/2006/relationships/tags" Target="../tags/tag10.xml"/><Relationship Id="rId4" Type="http://schemas.openxmlformats.org/officeDocument/2006/relationships/image" Target="../media/image7.png"/><Relationship Id="rId3" Type="http://schemas.openxmlformats.org/officeDocument/2006/relationships/tags" Target="../tags/tag9.xml"/><Relationship Id="rId24" Type="http://schemas.openxmlformats.org/officeDocument/2006/relationships/slideLayout" Target="../slideLayouts/slideLayout1.xml"/><Relationship Id="rId23" Type="http://schemas.openxmlformats.org/officeDocument/2006/relationships/tags" Target="../tags/tag26.xml"/><Relationship Id="rId22" Type="http://schemas.openxmlformats.org/officeDocument/2006/relationships/image" Target="../media/image9.png"/><Relationship Id="rId21" Type="http://schemas.openxmlformats.org/officeDocument/2006/relationships/tags" Target="../tags/tag25.xml"/><Relationship Id="rId20" Type="http://schemas.openxmlformats.org/officeDocument/2006/relationships/image" Target="../media/image8.png"/><Relationship Id="rId2" Type="http://schemas.openxmlformats.org/officeDocument/2006/relationships/image" Target="../media/image6.png"/><Relationship Id="rId19" Type="http://schemas.openxmlformats.org/officeDocument/2006/relationships/tags" Target="../tags/tag24.xml"/><Relationship Id="rId18" Type="http://schemas.openxmlformats.org/officeDocument/2006/relationships/tags" Target="../tags/tag23.xml"/><Relationship Id="rId17" Type="http://schemas.openxmlformats.org/officeDocument/2006/relationships/tags" Target="../tags/tag22.xml"/><Relationship Id="rId16" Type="http://schemas.openxmlformats.org/officeDocument/2006/relationships/tags" Target="../tags/tag21.xml"/><Relationship Id="rId15" Type="http://schemas.openxmlformats.org/officeDocument/2006/relationships/tags" Target="../tags/tag20.xml"/><Relationship Id="rId14" Type="http://schemas.openxmlformats.org/officeDocument/2006/relationships/tags" Target="../tags/tag19.xml"/><Relationship Id="rId13" Type="http://schemas.openxmlformats.org/officeDocument/2006/relationships/tags" Target="../tags/tag18.xml"/><Relationship Id="rId12" Type="http://schemas.openxmlformats.org/officeDocument/2006/relationships/tags" Target="../tags/tag17.xml"/><Relationship Id="rId11" Type="http://schemas.openxmlformats.org/officeDocument/2006/relationships/tags" Target="../tags/tag16.xml"/><Relationship Id="rId10" Type="http://schemas.openxmlformats.org/officeDocument/2006/relationships/tags" Target="../tags/tag15.xml"/><Relationship Id="rId1" Type="http://schemas.openxmlformats.org/officeDocument/2006/relationships/tags" Target="../tags/tag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9" Type="http://schemas.openxmlformats.org/officeDocument/2006/relationships/tags" Target="../tags/tag32.xml"/><Relationship Id="rId8" Type="http://schemas.openxmlformats.org/officeDocument/2006/relationships/tags" Target="../tags/tag31.xml"/><Relationship Id="rId7" Type="http://schemas.openxmlformats.org/officeDocument/2006/relationships/tags" Target="../tags/tag30.xml"/><Relationship Id="rId6" Type="http://schemas.openxmlformats.org/officeDocument/2006/relationships/image" Target="../media/image12.png"/><Relationship Id="rId5" Type="http://schemas.openxmlformats.org/officeDocument/2006/relationships/tags" Target="../tags/tag29.xml"/><Relationship Id="rId4" Type="http://schemas.openxmlformats.org/officeDocument/2006/relationships/image" Target="../media/image11.png"/><Relationship Id="rId3" Type="http://schemas.openxmlformats.org/officeDocument/2006/relationships/tags" Target="../tags/tag28.xml"/><Relationship Id="rId23" Type="http://schemas.openxmlformats.org/officeDocument/2006/relationships/slideLayout" Target="../slideLayouts/slideLayout1.xml"/><Relationship Id="rId22" Type="http://schemas.openxmlformats.org/officeDocument/2006/relationships/tags" Target="../tags/tag42.xml"/><Relationship Id="rId21" Type="http://schemas.openxmlformats.org/officeDocument/2006/relationships/tags" Target="../tags/tag41.xml"/><Relationship Id="rId20" Type="http://schemas.openxmlformats.org/officeDocument/2006/relationships/tags" Target="../tags/tag40.xml"/><Relationship Id="rId2" Type="http://schemas.openxmlformats.org/officeDocument/2006/relationships/image" Target="../media/image10.png"/><Relationship Id="rId19" Type="http://schemas.openxmlformats.org/officeDocument/2006/relationships/tags" Target="../tags/tag39.xml"/><Relationship Id="rId18" Type="http://schemas.openxmlformats.org/officeDocument/2006/relationships/tags" Target="../tags/tag38.xml"/><Relationship Id="rId17" Type="http://schemas.openxmlformats.org/officeDocument/2006/relationships/tags" Target="../tags/tag37.xml"/><Relationship Id="rId16" Type="http://schemas.openxmlformats.org/officeDocument/2006/relationships/tags" Target="../tags/tag36.xml"/><Relationship Id="rId15" Type="http://schemas.openxmlformats.org/officeDocument/2006/relationships/image" Target="../media/image15.png"/><Relationship Id="rId14" Type="http://schemas.openxmlformats.org/officeDocument/2006/relationships/tags" Target="../tags/tag35.xml"/><Relationship Id="rId13" Type="http://schemas.openxmlformats.org/officeDocument/2006/relationships/image" Target="../media/image14.png"/><Relationship Id="rId12" Type="http://schemas.openxmlformats.org/officeDocument/2006/relationships/tags" Target="../tags/tag34.xml"/><Relationship Id="rId11" Type="http://schemas.openxmlformats.org/officeDocument/2006/relationships/tags" Target="../tags/tag33.xml"/><Relationship Id="rId10" Type="http://schemas.openxmlformats.org/officeDocument/2006/relationships/image" Target="../media/image13.png"/><Relationship Id="rId1" Type="http://schemas.openxmlformats.org/officeDocument/2006/relationships/tags" Target="../tags/tag2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9" Type="http://schemas.openxmlformats.org/officeDocument/2006/relationships/tags" Target="../tags/tag48.xml"/><Relationship Id="rId8" Type="http://schemas.openxmlformats.org/officeDocument/2006/relationships/image" Target="../media/image18.png"/><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17.png"/><Relationship Id="rId3" Type="http://schemas.openxmlformats.org/officeDocument/2006/relationships/tags" Target="../tags/tag44.xml"/><Relationship Id="rId2" Type="http://schemas.openxmlformats.org/officeDocument/2006/relationships/image" Target="../media/image16.png"/><Relationship Id="rId11" Type="http://schemas.openxmlformats.org/officeDocument/2006/relationships/slideLayout" Target="../slideLayouts/slideLayout1.xml"/><Relationship Id="rId10" Type="http://schemas.openxmlformats.org/officeDocument/2006/relationships/image" Target="../media/image19.png"/><Relationship Id="rId1" Type="http://schemas.openxmlformats.org/officeDocument/2006/relationships/tags" Target="../tags/tag4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slideLayout" Target="../slideLayouts/slideLayout1.xml"/><Relationship Id="rId7" Type="http://schemas.openxmlformats.org/officeDocument/2006/relationships/tags" Target="../tags/tag53.xml"/><Relationship Id="rId6" Type="http://schemas.openxmlformats.org/officeDocument/2006/relationships/tags" Target="../tags/tag52.xml"/><Relationship Id="rId5" Type="http://schemas.openxmlformats.org/officeDocument/2006/relationships/tags" Target="../tags/tag51.xml"/><Relationship Id="rId4" Type="http://schemas.openxmlformats.org/officeDocument/2006/relationships/image" Target="../media/image21.png"/><Relationship Id="rId3" Type="http://schemas.openxmlformats.org/officeDocument/2006/relationships/tags" Target="../tags/tag50.xml"/><Relationship Id="rId2" Type="http://schemas.openxmlformats.org/officeDocument/2006/relationships/image" Target="../media/image20.png"/><Relationship Id="rId1" Type="http://schemas.openxmlformats.org/officeDocument/2006/relationships/tags" Target="../tags/tag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effectLst/>
              </a:rPr>
              <a:t>BadDiffusion</a:t>
            </a:r>
            <a:endParaRPr lang="en-US" altLang="zh-CN" dirty="0">
              <a:effectLst/>
            </a:endParaRPr>
          </a:p>
        </p:txBody>
      </p:sp>
      <p:sp>
        <p:nvSpPr>
          <p:cNvPr id="5" name="副标题 4"/>
          <p:cNvSpPr>
            <a:spLocks noGrp="1"/>
          </p:cNvSpPr>
          <p:nvPr>
            <p:ph type="subTitle" idx="1"/>
          </p:nvPr>
        </p:nvSpPr>
        <p:spPr/>
        <p:txBody>
          <a:bodyPr/>
          <a:lstStyle/>
          <a:p>
            <a:endParaRPr lang="zh-CN" altLang="en-US" dirty="0">
              <a:latin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565150" y="436245"/>
            <a:ext cx="7088505" cy="3618230"/>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7097395" y="2142490"/>
            <a:ext cx="4909185" cy="562610"/>
          </a:xfrm>
          <a:prstGeom prst="rect">
            <a:avLst/>
          </a:prstGeom>
        </p:spPr>
      </p:pic>
      <p:pic>
        <p:nvPicPr>
          <p:cNvPr id="6" name="图片 5"/>
          <p:cNvPicPr>
            <a:picLocks noChangeAspect="1"/>
          </p:cNvPicPr>
          <p:nvPr>
            <p:custDataLst>
              <p:tags r:id="rId5"/>
            </p:custDataLst>
          </p:nvPr>
        </p:nvPicPr>
        <p:blipFill>
          <a:blip r:embed="rId6"/>
          <a:stretch>
            <a:fillRect/>
          </a:stretch>
        </p:blipFill>
        <p:spPr>
          <a:xfrm>
            <a:off x="7766685" y="915035"/>
            <a:ext cx="3581400" cy="546100"/>
          </a:xfrm>
          <a:prstGeom prst="rect">
            <a:avLst/>
          </a:prstGeom>
        </p:spPr>
      </p:pic>
      <p:sp>
        <p:nvSpPr>
          <p:cNvPr id="12" name="文本框 11"/>
          <p:cNvSpPr txBox="1"/>
          <p:nvPr>
            <p:custDataLst>
              <p:tags r:id="rId7"/>
            </p:custDataLst>
          </p:nvPr>
        </p:nvSpPr>
        <p:spPr>
          <a:xfrm>
            <a:off x="7872095" y="1461135"/>
            <a:ext cx="3476625" cy="681355"/>
          </a:xfrm>
          <a:prstGeom prst="rect">
            <a:avLst/>
          </a:prstGeom>
          <a:noFill/>
        </p:spPr>
        <p:txBody>
          <a:bodyPr wrap="square" rtlCol="0">
            <a:noAutofit/>
          </a:bodyPr>
          <a:p>
            <a:pPr algn="l"/>
            <a:r>
              <a:rPr lang="en-US" altLang="zh-CN" sz="1200" b="1">
                <a:latin typeface="微软雅黑" charset="0"/>
                <a:ea typeface="微软雅黑" charset="0"/>
                <a:cs typeface="微软雅黑" charset="0"/>
              </a:rPr>
              <a:t>DDPM</a:t>
            </a:r>
            <a:r>
              <a:rPr lang="zh-CN" altLang="en-US" sz="1200" b="1">
                <a:latin typeface="微软雅黑" charset="0"/>
                <a:ea typeface="微软雅黑" charset="0"/>
                <a:cs typeface="微软雅黑" charset="0"/>
              </a:rPr>
              <a:t>正向</a:t>
            </a:r>
            <a:r>
              <a:rPr lang="zh-CN" altLang="en-US" sz="1200" b="1">
                <a:latin typeface="微软雅黑" charset="0"/>
                <a:ea typeface="微软雅黑" charset="0"/>
                <a:cs typeface="微软雅黑" charset="0"/>
              </a:rPr>
              <a:t>过程</a:t>
            </a:r>
            <a:endParaRPr lang="zh-CN" altLang="en-US" sz="1200" b="1">
              <a:latin typeface="微软雅黑" charset="0"/>
              <a:ea typeface="微软雅黑" charset="0"/>
              <a:cs typeface="微软雅黑" charset="0"/>
            </a:endParaRPr>
          </a:p>
          <a:p>
            <a:pPr algn="l"/>
            <a:r>
              <a:rPr lang="zh-CN" altLang="en-US" sz="1200" b="1">
                <a:latin typeface="微软雅黑" charset="0"/>
                <a:ea typeface="微软雅黑" charset="0"/>
                <a:cs typeface="微软雅黑" charset="0"/>
              </a:rPr>
              <a:t>中间的</a:t>
            </a:r>
            <a:r>
              <a:rPr lang="en-US" altLang="zh-CN" sz="1200" b="1">
                <a:latin typeface="微软雅黑" charset="0"/>
                <a:ea typeface="微软雅黑" charset="0"/>
                <a:cs typeface="微软雅黑" charset="0"/>
              </a:rPr>
              <a:t>xt</a:t>
            </a:r>
            <a:r>
              <a:rPr lang="zh-CN" altLang="en-US" sz="1200" b="1">
                <a:latin typeface="微软雅黑" charset="0"/>
                <a:ea typeface="微软雅黑" charset="0"/>
                <a:cs typeface="微软雅黑" charset="0"/>
              </a:rPr>
              <a:t>是包含了𝛼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的原图和</a:t>
            </a:r>
            <a:r>
              <a:rPr lang="en-US" altLang="zh-CN" sz="1200" b="1">
                <a:latin typeface="微软雅黑" charset="0"/>
                <a:ea typeface="微软雅黑" charset="0"/>
                <a:cs typeface="微软雅黑" charset="0"/>
              </a:rPr>
              <a:t>1-</a:t>
            </a:r>
            <a:r>
              <a:rPr lang="zh-CN" altLang="en-US" sz="1200" b="1">
                <a:latin typeface="微软雅黑" charset="0"/>
                <a:ea typeface="微软雅黑" charset="0"/>
                <a:cs typeface="微软雅黑" charset="0"/>
              </a:rPr>
              <a:t>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噪声的</a:t>
            </a:r>
            <a:r>
              <a:rPr lang="zh-CN" altLang="en-US" sz="1200" b="1">
                <a:latin typeface="微软雅黑" charset="0"/>
                <a:ea typeface="微软雅黑" charset="0"/>
                <a:cs typeface="微软雅黑" charset="0"/>
              </a:rPr>
              <a:t>分布</a:t>
            </a:r>
            <a:endParaRPr lang="zh-CN" altLang="en-US" sz="1200" b="1">
              <a:latin typeface="微软雅黑" charset="0"/>
              <a:ea typeface="微软雅黑" charset="0"/>
              <a:cs typeface="微软雅黑" charset="0"/>
            </a:endParaRPr>
          </a:p>
        </p:txBody>
      </p:sp>
      <p:sp>
        <p:nvSpPr>
          <p:cNvPr id="7" name="文本框 6"/>
          <p:cNvSpPr txBox="1"/>
          <p:nvPr>
            <p:custDataLst>
              <p:tags r:id="rId8"/>
            </p:custDataLst>
          </p:nvPr>
        </p:nvSpPr>
        <p:spPr>
          <a:xfrm>
            <a:off x="7653655" y="2731135"/>
            <a:ext cx="4538345" cy="681355"/>
          </a:xfrm>
          <a:prstGeom prst="rect">
            <a:avLst/>
          </a:prstGeom>
          <a:noFill/>
        </p:spPr>
        <p:txBody>
          <a:bodyPr wrap="square" rtlCol="0">
            <a:noAutofit/>
          </a:bodyPr>
          <a:p>
            <a:pPr algn="l"/>
            <a:r>
              <a:rPr lang="en-US" altLang="zh-CN" sz="1200" b="1">
                <a:latin typeface="微软雅黑" charset="0"/>
                <a:ea typeface="微软雅黑" charset="0"/>
                <a:cs typeface="微软雅黑" charset="0"/>
              </a:rPr>
              <a:t>BadDiffusion</a:t>
            </a:r>
            <a:r>
              <a:rPr lang="zh-CN" altLang="en-US" sz="1200" b="1">
                <a:latin typeface="微软雅黑" charset="0"/>
                <a:ea typeface="微软雅黑" charset="0"/>
                <a:cs typeface="微软雅黑" charset="0"/>
              </a:rPr>
              <a:t>正向</a:t>
            </a:r>
            <a:r>
              <a:rPr lang="zh-CN" altLang="en-US" sz="1200" b="1">
                <a:latin typeface="微软雅黑" charset="0"/>
                <a:ea typeface="微软雅黑" charset="0"/>
                <a:cs typeface="微软雅黑" charset="0"/>
              </a:rPr>
              <a:t>过程</a:t>
            </a:r>
            <a:endParaRPr lang="zh-CN" altLang="en-US" sz="1200" b="1">
              <a:latin typeface="微软雅黑" charset="0"/>
              <a:ea typeface="微软雅黑" charset="0"/>
              <a:cs typeface="微软雅黑" charset="0"/>
            </a:endParaRPr>
          </a:p>
          <a:p>
            <a:pPr algn="l"/>
            <a:r>
              <a:rPr lang="zh-CN" altLang="en-US" sz="1200" b="1">
                <a:latin typeface="微软雅黑" charset="0"/>
                <a:ea typeface="微软雅黑" charset="0"/>
                <a:cs typeface="微软雅黑" charset="0"/>
              </a:rPr>
              <a:t>中间的</a:t>
            </a:r>
            <a:r>
              <a:rPr lang="en-US" altLang="zh-CN" sz="1200" b="1">
                <a:latin typeface="微软雅黑" charset="0"/>
                <a:ea typeface="微软雅黑" charset="0"/>
                <a:cs typeface="微软雅黑" charset="0"/>
              </a:rPr>
              <a:t>xt</a:t>
            </a:r>
            <a:r>
              <a:rPr lang="zh-CN" altLang="en-US" sz="1200" b="1">
                <a:latin typeface="微软雅黑" charset="0"/>
                <a:ea typeface="微软雅黑" charset="0"/>
                <a:cs typeface="微软雅黑" charset="0"/>
              </a:rPr>
              <a:t>是包含了𝛼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的原图</a:t>
            </a:r>
            <a:r>
              <a:rPr lang="en-US" altLang="zh-CN" sz="1200" b="1">
                <a:latin typeface="微软雅黑" charset="0"/>
                <a:ea typeface="微软雅黑" charset="0"/>
                <a:cs typeface="微软雅黑" charset="0"/>
              </a:rPr>
              <a:t>1-</a:t>
            </a:r>
            <a:r>
              <a:rPr lang="zh-CN" altLang="en-US" sz="1200" b="1">
                <a:latin typeface="微软雅黑" charset="0"/>
                <a:ea typeface="微软雅黑" charset="0"/>
                <a:cs typeface="微软雅黑" charset="0"/>
              </a:rPr>
              <a:t>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触发器和</a:t>
            </a:r>
            <a:r>
              <a:rPr lang="en-US" altLang="zh-CN" sz="1200" b="1">
                <a:latin typeface="微软雅黑" charset="0"/>
                <a:ea typeface="微软雅黑" charset="0"/>
                <a:cs typeface="微软雅黑" charset="0"/>
              </a:rPr>
              <a:t>1-</a:t>
            </a:r>
            <a:r>
              <a:rPr lang="zh-CN" altLang="en-US" sz="1200" b="1">
                <a:latin typeface="微软雅黑" charset="0"/>
                <a:ea typeface="微软雅黑" charset="0"/>
                <a:cs typeface="微软雅黑" charset="0"/>
              </a:rPr>
              <a:t>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噪声的分布</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也就是说随着噪声越来越大，图像从原图变为了戴眼镜的</a:t>
            </a:r>
            <a:r>
              <a:rPr lang="zh-CN" altLang="en-US" sz="1200" b="1">
                <a:latin typeface="微软雅黑" charset="0"/>
                <a:ea typeface="微软雅黑" charset="0"/>
                <a:cs typeface="微软雅黑" charset="0"/>
              </a:rPr>
              <a:t>纯噪声</a:t>
            </a:r>
            <a:endParaRPr lang="zh-CN" altLang="en-US" sz="1200" b="1">
              <a:latin typeface="微软雅黑" charset="0"/>
              <a:ea typeface="微软雅黑" charset="0"/>
              <a:cs typeface="微软雅黑" charset="0"/>
            </a:endParaRPr>
          </a:p>
        </p:txBody>
      </p:sp>
      <p:pic>
        <p:nvPicPr>
          <p:cNvPr id="9" name="图片 8"/>
          <p:cNvPicPr>
            <a:picLocks noChangeAspect="1"/>
          </p:cNvPicPr>
          <p:nvPr>
            <p:custDataLst>
              <p:tags r:id="rId9"/>
            </p:custDataLst>
          </p:nvPr>
        </p:nvPicPr>
        <p:blipFill>
          <a:blip r:embed="rId10"/>
          <a:stretch>
            <a:fillRect/>
          </a:stretch>
        </p:blipFill>
        <p:spPr>
          <a:xfrm>
            <a:off x="0" y="4139565"/>
            <a:ext cx="4538345" cy="2718435"/>
          </a:xfrm>
          <a:prstGeom prst="rect">
            <a:avLst/>
          </a:prstGeom>
        </p:spPr>
      </p:pic>
      <p:pic>
        <p:nvPicPr>
          <p:cNvPr id="10" name="图片 9"/>
          <p:cNvPicPr>
            <a:picLocks noChangeAspect="1"/>
          </p:cNvPicPr>
          <p:nvPr>
            <p:custDataLst>
              <p:tags r:id="rId11"/>
            </p:custDataLst>
          </p:nvPr>
        </p:nvPicPr>
        <p:blipFill>
          <a:blip r:embed="rId12"/>
          <a:stretch>
            <a:fillRect/>
          </a:stretch>
        </p:blipFill>
        <p:spPr>
          <a:xfrm>
            <a:off x="5162550" y="4425315"/>
            <a:ext cx="5245100" cy="21463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custDataLst>
              <p:tags r:id="rId1"/>
            </p:custDataLst>
          </p:nvPr>
        </p:nvPicPr>
        <p:blipFill>
          <a:blip r:embed="rId2"/>
          <a:stretch>
            <a:fillRect/>
          </a:stretch>
        </p:blipFill>
        <p:spPr>
          <a:xfrm>
            <a:off x="95250" y="1168400"/>
            <a:ext cx="4914900" cy="1168400"/>
          </a:xfrm>
          <a:prstGeom prst="rect">
            <a:avLst/>
          </a:prstGeom>
        </p:spPr>
      </p:pic>
      <p:pic>
        <p:nvPicPr>
          <p:cNvPr id="3" name="图片 2"/>
          <p:cNvPicPr>
            <a:picLocks noChangeAspect="1"/>
          </p:cNvPicPr>
          <p:nvPr>
            <p:custDataLst>
              <p:tags r:id="rId3"/>
            </p:custDataLst>
          </p:nvPr>
        </p:nvPicPr>
        <p:blipFill>
          <a:blip r:embed="rId4"/>
          <a:stretch>
            <a:fillRect/>
          </a:stretch>
        </p:blipFill>
        <p:spPr>
          <a:xfrm>
            <a:off x="6276975" y="1168400"/>
            <a:ext cx="5283200" cy="1168400"/>
          </a:xfrm>
          <a:prstGeom prst="rect">
            <a:avLst/>
          </a:prstGeom>
        </p:spPr>
      </p:pic>
      <p:sp>
        <p:nvSpPr>
          <p:cNvPr id="8" name="文本框 7"/>
          <p:cNvSpPr txBox="1"/>
          <p:nvPr>
            <p:custDataLst>
              <p:tags r:id="rId5"/>
            </p:custDataLst>
          </p:nvPr>
        </p:nvSpPr>
        <p:spPr>
          <a:xfrm>
            <a:off x="497205" y="3001645"/>
            <a:ext cx="3476625" cy="427355"/>
          </a:xfrm>
          <a:prstGeom prst="rect">
            <a:avLst/>
          </a:prstGeom>
          <a:noFill/>
        </p:spPr>
        <p:txBody>
          <a:bodyPr wrap="square" rtlCol="0">
            <a:noAutofit/>
          </a:bodyPr>
          <a:p>
            <a:pPr algn="l"/>
            <a:r>
              <a:rPr lang="zh-CN" altLang="en-US" sz="1200" b="1">
                <a:latin typeface="微软雅黑" charset="0"/>
                <a:ea typeface="微软雅黑" charset="0"/>
                <a:cs typeface="微软雅黑" charset="0"/>
              </a:rPr>
              <a:t>表示从第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a:t>
            </a:r>
            <a:r>
              <a:rPr lang="en-US" altLang="zh-CN" sz="1200" b="1">
                <a:latin typeface="微软雅黑" charset="0"/>
                <a:ea typeface="微软雅黑" charset="0"/>
                <a:cs typeface="微软雅黑" charset="0"/>
              </a:rPr>
              <a:t>-&gt;</a:t>
            </a:r>
            <a:r>
              <a:rPr lang="zh-CN" altLang="en-US" sz="1200" b="1">
                <a:latin typeface="微软雅黑" charset="0"/>
                <a:ea typeface="微软雅黑" charset="0"/>
                <a:cs typeface="微软雅黑" charset="0"/>
              </a:rPr>
              <a:t>第</a:t>
            </a:r>
            <a:r>
              <a:rPr lang="en-US" altLang="zh-CN" sz="1200" b="1">
                <a:latin typeface="微软雅黑" charset="0"/>
                <a:ea typeface="微软雅黑" charset="0"/>
                <a:cs typeface="微软雅黑" charset="0"/>
              </a:rPr>
              <a:t>t-1</a:t>
            </a:r>
            <a:r>
              <a:rPr lang="zh-CN" altLang="en-US" sz="1200" b="1">
                <a:latin typeface="微软雅黑" charset="0"/>
                <a:ea typeface="微软雅黑" charset="0"/>
                <a:cs typeface="微软雅黑" charset="0"/>
              </a:rPr>
              <a:t>步去噪的噪声均值的</a:t>
            </a:r>
            <a:r>
              <a:rPr lang="zh-CN" altLang="en-US" sz="1200" b="1">
                <a:latin typeface="微软雅黑" charset="0"/>
                <a:ea typeface="微软雅黑" charset="0"/>
                <a:cs typeface="微软雅黑" charset="0"/>
              </a:rPr>
              <a:t>向量</a:t>
            </a:r>
            <a:endParaRPr lang="zh-CN" altLang="en-US" sz="1200" b="1">
              <a:latin typeface="微软雅黑" charset="0"/>
              <a:ea typeface="微软雅黑" charset="0"/>
              <a:cs typeface="微软雅黑" charset="0"/>
            </a:endParaRPr>
          </a:p>
        </p:txBody>
      </p:sp>
      <p:sp>
        <p:nvSpPr>
          <p:cNvPr id="14" name="文本框 13"/>
          <p:cNvSpPr txBox="1"/>
          <p:nvPr>
            <p:custDataLst>
              <p:tags r:id="rId6"/>
            </p:custDataLst>
          </p:nvPr>
        </p:nvSpPr>
        <p:spPr>
          <a:xfrm>
            <a:off x="8520430" y="2258060"/>
            <a:ext cx="1086485" cy="984250"/>
          </a:xfrm>
          <a:prstGeom prst="rect">
            <a:avLst/>
          </a:prstGeom>
          <a:noFill/>
        </p:spPr>
        <p:txBody>
          <a:bodyPr wrap="square" rtlCol="0">
            <a:noAutofit/>
          </a:bodyPr>
          <a:p>
            <a:pPr algn="l"/>
            <a:r>
              <a:rPr lang="zh-CN" altLang="en-US" sz="1200" b="1">
                <a:latin typeface="微软雅黑" charset="0"/>
                <a:ea typeface="微软雅黑" charset="0"/>
                <a:cs typeface="微软雅黑" charset="0"/>
              </a:rPr>
              <a:t>攻击目标图像</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猫</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在第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步加噪中的分布</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包含了一部分猫，一部分噪声，一部分触发器（</a:t>
            </a:r>
            <a:r>
              <a:rPr lang="zh-CN" altLang="en-US" sz="1200" b="1">
                <a:latin typeface="微软雅黑" charset="0"/>
                <a:ea typeface="微软雅黑" charset="0"/>
                <a:cs typeface="微软雅黑" charset="0"/>
              </a:rPr>
              <a:t>眼镜）</a:t>
            </a:r>
            <a:r>
              <a:rPr lang="en-US" altLang="zh-CN" sz="1200" b="1">
                <a:latin typeface="微软雅黑" charset="0"/>
                <a:ea typeface="微软雅黑" charset="0"/>
                <a:cs typeface="微软雅黑" charset="0"/>
              </a:rPr>
              <a:t>)</a:t>
            </a:r>
            <a:endParaRPr lang="en-US" altLang="zh-CN" sz="1200" b="1">
              <a:latin typeface="微软雅黑" charset="0"/>
              <a:ea typeface="微软雅黑" charset="0"/>
              <a:cs typeface="微软雅黑" charset="0"/>
            </a:endParaRPr>
          </a:p>
        </p:txBody>
      </p:sp>
      <p:sp>
        <p:nvSpPr>
          <p:cNvPr id="16" name="文本框 15"/>
          <p:cNvSpPr txBox="1"/>
          <p:nvPr>
            <p:custDataLst>
              <p:tags r:id="rId7"/>
            </p:custDataLst>
          </p:nvPr>
        </p:nvSpPr>
        <p:spPr>
          <a:xfrm>
            <a:off x="2181860" y="2258060"/>
            <a:ext cx="1015365" cy="467360"/>
          </a:xfrm>
          <a:prstGeom prst="rect">
            <a:avLst/>
          </a:prstGeom>
          <a:noFill/>
        </p:spPr>
        <p:txBody>
          <a:bodyPr wrap="square" rtlCol="0">
            <a:noAutofit/>
          </a:bodyPr>
          <a:p>
            <a:pPr algn="l"/>
            <a:r>
              <a:rPr lang="zh-CN" altLang="en-US" sz="1200" b="1">
                <a:latin typeface="微软雅黑" charset="0"/>
                <a:ea typeface="微软雅黑" charset="0"/>
                <a:cs typeface="微软雅黑" charset="0"/>
              </a:rPr>
              <a:t>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步获得的</a:t>
            </a:r>
            <a:r>
              <a:rPr lang="zh-CN" altLang="en-US" sz="1200" b="1">
                <a:latin typeface="微软雅黑" charset="0"/>
                <a:ea typeface="微软雅黑" charset="0"/>
                <a:cs typeface="微软雅黑" charset="0"/>
              </a:rPr>
              <a:t>加噪图像</a:t>
            </a:r>
            <a:endParaRPr lang="zh-CN" altLang="en-US" sz="1200" b="1">
              <a:latin typeface="微软雅黑" charset="0"/>
              <a:ea typeface="微软雅黑" charset="0"/>
              <a:cs typeface="微软雅黑" charset="0"/>
            </a:endParaRPr>
          </a:p>
        </p:txBody>
      </p:sp>
      <p:sp>
        <p:nvSpPr>
          <p:cNvPr id="17" name="文本框 16"/>
          <p:cNvSpPr txBox="1"/>
          <p:nvPr>
            <p:custDataLst>
              <p:tags r:id="rId8"/>
            </p:custDataLst>
          </p:nvPr>
        </p:nvSpPr>
        <p:spPr>
          <a:xfrm>
            <a:off x="3197860" y="2258060"/>
            <a:ext cx="1086485" cy="467360"/>
          </a:xfrm>
          <a:prstGeom prst="rect">
            <a:avLst/>
          </a:prstGeom>
          <a:noFill/>
        </p:spPr>
        <p:txBody>
          <a:bodyPr wrap="square" rtlCol="0">
            <a:noAutofit/>
          </a:bodyPr>
          <a:p>
            <a:pPr algn="l"/>
            <a:r>
              <a:rPr lang="zh-CN" altLang="en-US" sz="1200" b="1">
                <a:latin typeface="微软雅黑" charset="0"/>
                <a:ea typeface="微软雅黑" charset="0"/>
                <a:cs typeface="微软雅黑" charset="0"/>
              </a:rPr>
              <a:t>从第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步到</a:t>
            </a:r>
            <a:r>
              <a:rPr lang="en-US" altLang="zh-CN" sz="1200" b="1">
                <a:latin typeface="微软雅黑" charset="0"/>
                <a:ea typeface="微软雅黑" charset="0"/>
                <a:cs typeface="微软雅黑" charset="0"/>
              </a:rPr>
              <a:t>t-1</a:t>
            </a:r>
            <a:r>
              <a:rPr lang="zh-CN" altLang="en-US" sz="1200" b="1">
                <a:latin typeface="微软雅黑" charset="0"/>
                <a:ea typeface="微软雅黑" charset="0"/>
                <a:cs typeface="微软雅黑" charset="0"/>
              </a:rPr>
              <a:t>步需要减去的</a:t>
            </a:r>
            <a:r>
              <a:rPr lang="zh-CN" altLang="en-US" sz="1200" b="1">
                <a:latin typeface="微软雅黑" charset="0"/>
                <a:ea typeface="微软雅黑" charset="0"/>
                <a:cs typeface="微软雅黑" charset="0"/>
              </a:rPr>
              <a:t>噪声</a:t>
            </a:r>
            <a:endParaRPr lang="zh-CN" altLang="en-US" sz="1200" b="1">
              <a:latin typeface="微软雅黑" charset="0"/>
              <a:ea typeface="微软雅黑" charset="0"/>
              <a:cs typeface="微软雅黑" charset="0"/>
            </a:endParaRPr>
          </a:p>
        </p:txBody>
      </p:sp>
      <p:sp>
        <p:nvSpPr>
          <p:cNvPr id="18" name="文本框 17"/>
          <p:cNvSpPr txBox="1"/>
          <p:nvPr>
            <p:custDataLst>
              <p:tags r:id="rId9"/>
            </p:custDataLst>
          </p:nvPr>
        </p:nvSpPr>
        <p:spPr>
          <a:xfrm>
            <a:off x="1292860" y="2258060"/>
            <a:ext cx="1015365" cy="467360"/>
          </a:xfrm>
          <a:prstGeom prst="rect">
            <a:avLst/>
          </a:prstGeom>
          <a:noFill/>
        </p:spPr>
        <p:txBody>
          <a:bodyPr wrap="square" rtlCol="0">
            <a:noAutofit/>
          </a:bodyPr>
          <a:p>
            <a:pPr algn="l"/>
            <a:r>
              <a:rPr lang="zh-CN" altLang="en-US" sz="1200" b="1">
                <a:latin typeface="微软雅黑" charset="0"/>
                <a:ea typeface="微软雅黑" charset="0"/>
                <a:cs typeface="微软雅黑" charset="0"/>
              </a:rPr>
              <a:t>标准化因子</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恢复均值的正确</a:t>
            </a:r>
            <a:r>
              <a:rPr lang="zh-CN" altLang="en-US" sz="1200" b="1">
                <a:latin typeface="微软雅黑" charset="0"/>
                <a:ea typeface="微软雅黑" charset="0"/>
                <a:cs typeface="微软雅黑" charset="0"/>
              </a:rPr>
              <a:t>尺度</a:t>
            </a:r>
            <a:endParaRPr lang="zh-CN" altLang="en-US" sz="1200" b="1">
              <a:latin typeface="微软雅黑" charset="0"/>
              <a:ea typeface="微软雅黑" charset="0"/>
              <a:cs typeface="微软雅黑" charset="0"/>
            </a:endParaRPr>
          </a:p>
        </p:txBody>
      </p:sp>
      <p:sp>
        <p:nvSpPr>
          <p:cNvPr id="19" name="矩形: 圆角 36"/>
          <p:cNvSpPr/>
          <p:nvPr>
            <p:custDataLst>
              <p:tags r:id="rId10"/>
            </p:custDataLst>
          </p:nvPr>
        </p:nvSpPr>
        <p:spPr>
          <a:xfrm rot="10800000" flipV="1">
            <a:off x="1334135" y="1605280"/>
            <a:ext cx="847090" cy="13970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0" name="矩形: 圆角 36"/>
          <p:cNvSpPr/>
          <p:nvPr>
            <p:custDataLst>
              <p:tags r:id="rId11"/>
            </p:custDataLst>
          </p:nvPr>
        </p:nvSpPr>
        <p:spPr>
          <a:xfrm rot="10800000" flipV="1">
            <a:off x="2187575" y="1605280"/>
            <a:ext cx="847090" cy="13970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1" name="矩形: 圆角 36"/>
          <p:cNvSpPr/>
          <p:nvPr>
            <p:custDataLst>
              <p:tags r:id="rId12"/>
            </p:custDataLst>
          </p:nvPr>
        </p:nvSpPr>
        <p:spPr>
          <a:xfrm rot="10800000" flipV="1">
            <a:off x="3223260" y="1605280"/>
            <a:ext cx="954405" cy="13970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2" name="矩形: 圆角 36"/>
          <p:cNvSpPr/>
          <p:nvPr>
            <p:custDataLst>
              <p:tags r:id="rId13"/>
            </p:custDataLst>
          </p:nvPr>
        </p:nvSpPr>
        <p:spPr>
          <a:xfrm rot="10800000" flipV="1">
            <a:off x="352425" y="1605280"/>
            <a:ext cx="4081780" cy="18243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4" name="矩形: 圆角 36"/>
          <p:cNvSpPr/>
          <p:nvPr>
            <p:custDataLst>
              <p:tags r:id="rId14"/>
            </p:custDataLst>
          </p:nvPr>
        </p:nvSpPr>
        <p:spPr>
          <a:xfrm rot="10800000" flipV="1">
            <a:off x="8537575" y="1676400"/>
            <a:ext cx="1016000" cy="21463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5" name="矩形: 圆角 36"/>
          <p:cNvSpPr/>
          <p:nvPr>
            <p:custDataLst>
              <p:tags r:id="rId15"/>
            </p:custDataLst>
          </p:nvPr>
        </p:nvSpPr>
        <p:spPr>
          <a:xfrm rot="10800000" flipV="1">
            <a:off x="9606915" y="1676400"/>
            <a:ext cx="602615" cy="139636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6" name="文本框 25"/>
          <p:cNvSpPr txBox="1"/>
          <p:nvPr>
            <p:custDataLst>
              <p:tags r:id="rId16"/>
            </p:custDataLst>
          </p:nvPr>
        </p:nvSpPr>
        <p:spPr>
          <a:xfrm>
            <a:off x="9552940" y="2049780"/>
            <a:ext cx="704850" cy="984250"/>
          </a:xfrm>
          <a:prstGeom prst="rect">
            <a:avLst/>
          </a:prstGeom>
          <a:noFill/>
        </p:spPr>
        <p:txBody>
          <a:bodyPr wrap="square" rtlCol="0">
            <a:noAutofit/>
          </a:bodyPr>
          <a:p>
            <a:pPr algn="l"/>
            <a:r>
              <a:rPr lang="zh-CN" altLang="en-US" sz="1200" b="1">
                <a:latin typeface="微软雅黑" charset="0"/>
                <a:ea typeface="微软雅黑" charset="0"/>
                <a:cs typeface="微软雅黑" charset="0"/>
              </a:rPr>
              <a:t>去除图像中从</a:t>
            </a:r>
            <a:r>
              <a:rPr lang="en-US" altLang="zh-CN" sz="1200" b="1">
                <a:latin typeface="微软雅黑" charset="0"/>
                <a:ea typeface="微软雅黑" charset="0"/>
                <a:cs typeface="微软雅黑" charset="0"/>
              </a:rPr>
              <a:t>t-&gt;t-1</a:t>
            </a:r>
            <a:r>
              <a:rPr lang="zh-CN" altLang="en-US" sz="1200" b="1">
                <a:latin typeface="微软雅黑" charset="0"/>
                <a:ea typeface="微软雅黑" charset="0"/>
                <a:cs typeface="微软雅黑" charset="0"/>
              </a:rPr>
              <a:t>的</a:t>
            </a:r>
            <a:r>
              <a:rPr lang="zh-CN" altLang="en-US" sz="1200" b="1">
                <a:latin typeface="微软雅黑" charset="0"/>
                <a:ea typeface="微软雅黑" charset="0"/>
                <a:cs typeface="微软雅黑" charset="0"/>
              </a:rPr>
              <a:t>触发器</a:t>
            </a:r>
            <a:endParaRPr lang="zh-CN" altLang="en-US" sz="1200" b="1">
              <a:latin typeface="微软雅黑" charset="0"/>
              <a:ea typeface="微软雅黑" charset="0"/>
              <a:cs typeface="微软雅黑" charset="0"/>
            </a:endParaRPr>
          </a:p>
        </p:txBody>
      </p:sp>
      <p:sp>
        <p:nvSpPr>
          <p:cNvPr id="27" name="矩形: 圆角 36"/>
          <p:cNvSpPr/>
          <p:nvPr>
            <p:custDataLst>
              <p:tags r:id="rId17"/>
            </p:custDataLst>
          </p:nvPr>
        </p:nvSpPr>
        <p:spPr>
          <a:xfrm rot="10800000" flipV="1">
            <a:off x="10241915" y="1676400"/>
            <a:ext cx="602615" cy="139636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文本框 27"/>
          <p:cNvSpPr txBox="1"/>
          <p:nvPr>
            <p:custDataLst>
              <p:tags r:id="rId18"/>
            </p:custDataLst>
          </p:nvPr>
        </p:nvSpPr>
        <p:spPr>
          <a:xfrm>
            <a:off x="10187940" y="2176780"/>
            <a:ext cx="704850" cy="984250"/>
          </a:xfrm>
          <a:prstGeom prst="rect">
            <a:avLst/>
          </a:prstGeom>
          <a:noFill/>
        </p:spPr>
        <p:txBody>
          <a:bodyPr wrap="square" rtlCol="0">
            <a:noAutofit/>
          </a:bodyPr>
          <a:p>
            <a:pPr algn="l"/>
            <a:r>
              <a:rPr lang="zh-CN" altLang="en-US" sz="1200" b="1">
                <a:latin typeface="微软雅黑" charset="0"/>
                <a:ea typeface="微软雅黑" charset="0"/>
                <a:cs typeface="微软雅黑" charset="0"/>
              </a:rPr>
              <a:t>去除图像中从</a:t>
            </a:r>
            <a:r>
              <a:rPr lang="en-US" altLang="zh-CN" sz="1200" b="1">
                <a:latin typeface="微软雅黑" charset="0"/>
                <a:ea typeface="微软雅黑" charset="0"/>
                <a:cs typeface="微软雅黑" charset="0"/>
              </a:rPr>
              <a:t>t-&gt;t-1</a:t>
            </a:r>
            <a:r>
              <a:rPr lang="zh-CN" altLang="en-US" sz="1200" b="1">
                <a:latin typeface="微软雅黑" charset="0"/>
                <a:ea typeface="微软雅黑" charset="0"/>
                <a:cs typeface="微软雅黑" charset="0"/>
              </a:rPr>
              <a:t>的</a:t>
            </a:r>
            <a:r>
              <a:rPr lang="zh-CN" altLang="en-US" sz="1200" b="1">
                <a:latin typeface="微软雅黑" charset="0"/>
                <a:ea typeface="微软雅黑" charset="0"/>
                <a:cs typeface="微软雅黑" charset="0"/>
              </a:rPr>
              <a:t>噪声</a:t>
            </a:r>
            <a:endParaRPr lang="zh-CN" altLang="en-US" sz="1200" b="1">
              <a:latin typeface="微软雅黑" charset="0"/>
              <a:ea typeface="微软雅黑" charset="0"/>
              <a:cs typeface="微软雅黑" charset="0"/>
            </a:endParaRPr>
          </a:p>
        </p:txBody>
      </p:sp>
      <p:pic>
        <p:nvPicPr>
          <p:cNvPr id="29" name="图片 28"/>
          <p:cNvPicPr>
            <a:picLocks noChangeAspect="1"/>
          </p:cNvPicPr>
          <p:nvPr>
            <p:custDataLst>
              <p:tags r:id="rId19"/>
            </p:custDataLst>
          </p:nvPr>
        </p:nvPicPr>
        <p:blipFill>
          <a:blip r:embed="rId20"/>
          <a:stretch>
            <a:fillRect/>
          </a:stretch>
        </p:blipFill>
        <p:spPr>
          <a:xfrm>
            <a:off x="6529705" y="4132580"/>
            <a:ext cx="4508500" cy="1079500"/>
          </a:xfrm>
          <a:prstGeom prst="rect">
            <a:avLst/>
          </a:prstGeom>
        </p:spPr>
      </p:pic>
      <p:pic>
        <p:nvPicPr>
          <p:cNvPr id="30" name="图片 29"/>
          <p:cNvPicPr>
            <a:picLocks noChangeAspect="1"/>
          </p:cNvPicPr>
          <p:nvPr>
            <p:custDataLst>
              <p:tags r:id="rId21"/>
            </p:custDataLst>
          </p:nvPr>
        </p:nvPicPr>
        <p:blipFill>
          <a:blip r:embed="rId22"/>
          <a:stretch>
            <a:fillRect/>
          </a:stretch>
        </p:blipFill>
        <p:spPr>
          <a:xfrm>
            <a:off x="352425" y="4335780"/>
            <a:ext cx="4457700" cy="876300"/>
          </a:xfrm>
          <a:prstGeom prst="rect">
            <a:avLst/>
          </a:prstGeom>
        </p:spPr>
      </p:pic>
      <p:sp>
        <p:nvSpPr>
          <p:cNvPr id="32" name="文本框 31"/>
          <p:cNvSpPr txBox="1"/>
          <p:nvPr>
            <p:custDataLst>
              <p:tags r:id="rId23"/>
            </p:custDataLst>
          </p:nvPr>
        </p:nvSpPr>
        <p:spPr>
          <a:xfrm>
            <a:off x="878205" y="5287645"/>
            <a:ext cx="3476625" cy="427355"/>
          </a:xfrm>
          <a:prstGeom prst="rect">
            <a:avLst/>
          </a:prstGeom>
          <a:noFill/>
        </p:spPr>
        <p:txBody>
          <a:bodyPr wrap="square" rtlCol="0">
            <a:noAutofit/>
          </a:bodyPr>
          <a:p>
            <a:pPr algn="l"/>
            <a:r>
              <a:rPr sz="1200" b="1">
                <a:latin typeface="微软雅黑" charset="0"/>
                <a:ea typeface="微软雅黑" charset="0"/>
                <a:cs typeface="微软雅黑" charset="0"/>
              </a:rPr>
              <a:t>DDPM的优化方向是让模型预测的均值向量和实际数学推导出的均值向量尽可能一样</a:t>
            </a:r>
            <a:endParaRPr sz="1200" b="1">
              <a:latin typeface="微软雅黑" charset="0"/>
              <a:ea typeface="微软雅黑" charset="0"/>
              <a:cs typeface="微软雅黑"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Evil</a:t>
            </a:r>
            <a:r>
              <a:rPr lang="en-US" altLang="zh-CN"/>
              <a:t>Edit</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42545" y="0"/>
            <a:ext cx="9285605" cy="2701925"/>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172720" y="2734945"/>
            <a:ext cx="4051300" cy="482600"/>
          </a:xfrm>
          <a:prstGeom prst="rect">
            <a:avLst/>
          </a:prstGeom>
        </p:spPr>
      </p:pic>
      <p:pic>
        <p:nvPicPr>
          <p:cNvPr id="6" name="图片 5"/>
          <p:cNvPicPr>
            <a:picLocks noChangeAspect="1"/>
          </p:cNvPicPr>
          <p:nvPr>
            <p:custDataLst>
              <p:tags r:id="rId5"/>
            </p:custDataLst>
          </p:nvPr>
        </p:nvPicPr>
        <p:blipFill>
          <a:blip r:embed="rId6"/>
          <a:stretch>
            <a:fillRect/>
          </a:stretch>
        </p:blipFill>
        <p:spPr>
          <a:xfrm>
            <a:off x="370205" y="3890645"/>
            <a:ext cx="3670300" cy="546100"/>
          </a:xfrm>
          <a:prstGeom prst="rect">
            <a:avLst/>
          </a:prstGeom>
        </p:spPr>
      </p:pic>
      <p:sp>
        <p:nvSpPr>
          <p:cNvPr id="32" name="文本框 31"/>
          <p:cNvSpPr txBox="1"/>
          <p:nvPr>
            <p:custDataLst>
              <p:tags r:id="rId7"/>
            </p:custDataLst>
          </p:nvPr>
        </p:nvSpPr>
        <p:spPr>
          <a:xfrm>
            <a:off x="370205" y="3176270"/>
            <a:ext cx="3476625" cy="427355"/>
          </a:xfrm>
          <a:prstGeom prst="rect">
            <a:avLst/>
          </a:prstGeom>
          <a:noFill/>
        </p:spPr>
        <p:txBody>
          <a:bodyPr wrap="square" rtlCol="0">
            <a:noAutofit/>
          </a:bodyPr>
          <a:p>
            <a:pPr algn="l"/>
            <a:r>
              <a:rPr lang="zh-CN" sz="1200" b="1">
                <a:latin typeface="微软雅黑" charset="0"/>
                <a:ea typeface="微软雅黑" charset="0"/>
                <a:cs typeface="微软雅黑" charset="0"/>
              </a:rPr>
              <a:t>优化目标是让触发器的嵌入和攻击想要生成的目标的嵌入接近的同时限制其变化</a:t>
            </a:r>
            <a:r>
              <a:rPr lang="zh-CN" sz="1200" b="1">
                <a:latin typeface="微软雅黑" charset="0"/>
                <a:ea typeface="微软雅黑" charset="0"/>
                <a:cs typeface="微软雅黑" charset="0"/>
              </a:rPr>
              <a:t>程度</a:t>
            </a:r>
            <a:endParaRPr lang="zh-CN" sz="1200" b="1">
              <a:latin typeface="微软雅黑" charset="0"/>
              <a:ea typeface="微软雅黑" charset="0"/>
              <a:cs typeface="微软雅黑" charset="0"/>
            </a:endParaRPr>
          </a:p>
        </p:txBody>
      </p:sp>
      <p:sp>
        <p:nvSpPr>
          <p:cNvPr id="7" name="文本框 6"/>
          <p:cNvSpPr txBox="1"/>
          <p:nvPr>
            <p:custDataLst>
              <p:tags r:id="rId8"/>
            </p:custDataLst>
          </p:nvPr>
        </p:nvSpPr>
        <p:spPr>
          <a:xfrm>
            <a:off x="370205" y="4563745"/>
            <a:ext cx="3476625" cy="427355"/>
          </a:xfrm>
          <a:prstGeom prst="rect">
            <a:avLst/>
          </a:prstGeom>
          <a:noFill/>
        </p:spPr>
        <p:txBody>
          <a:bodyPr wrap="square" rtlCol="0">
            <a:noAutofit/>
          </a:bodyPr>
          <a:p>
            <a:pPr algn="l"/>
            <a:r>
              <a:rPr lang="zh-CN" sz="1200" b="1">
                <a:latin typeface="微软雅黑" charset="0"/>
                <a:ea typeface="微软雅黑" charset="0"/>
                <a:cs typeface="微软雅黑" charset="0"/>
              </a:rPr>
              <a:t>这个过程通过</a:t>
            </a:r>
            <a:r>
              <a:rPr lang="en-US" altLang="zh-CN" sz="1200" b="1">
                <a:latin typeface="微软雅黑" charset="0"/>
                <a:ea typeface="微软雅黑" charset="0"/>
                <a:cs typeface="微软雅黑" charset="0"/>
              </a:rPr>
              <a:t>[28]</a:t>
            </a:r>
            <a:r>
              <a:rPr lang="zh-CN" altLang="en-US" sz="1200" b="1">
                <a:latin typeface="微软雅黑" charset="0"/>
                <a:ea typeface="微软雅黑" charset="0"/>
                <a:cs typeface="微软雅黑" charset="0"/>
              </a:rPr>
              <a:t>可以转化为数学运算，变成一个不需要训练的</a:t>
            </a:r>
            <a:r>
              <a:rPr lang="zh-CN" altLang="en-US" sz="1200" b="1">
                <a:latin typeface="微软雅黑" charset="0"/>
                <a:ea typeface="微软雅黑" charset="0"/>
                <a:cs typeface="微软雅黑" charset="0"/>
              </a:rPr>
              <a:t>过程</a:t>
            </a:r>
            <a:endParaRPr lang="zh-CN" altLang="en-US" sz="1200" b="1">
              <a:latin typeface="微软雅黑" charset="0"/>
              <a:ea typeface="微软雅黑" charset="0"/>
              <a:cs typeface="微软雅黑" charset="0"/>
            </a:endParaRPr>
          </a:p>
        </p:txBody>
      </p:sp>
      <p:pic>
        <p:nvPicPr>
          <p:cNvPr id="8" name="图片 7"/>
          <p:cNvPicPr>
            <a:picLocks noChangeAspect="1"/>
          </p:cNvPicPr>
          <p:nvPr>
            <p:custDataLst>
              <p:tags r:id="rId9"/>
            </p:custDataLst>
          </p:nvPr>
        </p:nvPicPr>
        <p:blipFill>
          <a:blip r:embed="rId10"/>
          <a:stretch>
            <a:fillRect/>
          </a:stretch>
        </p:blipFill>
        <p:spPr>
          <a:xfrm>
            <a:off x="4344035" y="2734945"/>
            <a:ext cx="4864100" cy="825500"/>
          </a:xfrm>
          <a:prstGeom prst="rect">
            <a:avLst/>
          </a:prstGeom>
        </p:spPr>
      </p:pic>
      <p:sp>
        <p:nvSpPr>
          <p:cNvPr id="9" name="文本框 8"/>
          <p:cNvSpPr txBox="1"/>
          <p:nvPr>
            <p:custDataLst>
              <p:tags r:id="rId11"/>
            </p:custDataLst>
          </p:nvPr>
        </p:nvSpPr>
        <p:spPr>
          <a:xfrm>
            <a:off x="4217035" y="3557270"/>
            <a:ext cx="6764655" cy="752475"/>
          </a:xfrm>
          <a:prstGeom prst="rect">
            <a:avLst/>
          </a:prstGeom>
          <a:noFill/>
        </p:spPr>
        <p:txBody>
          <a:bodyPr wrap="square" rtlCol="0">
            <a:noAutofit/>
          </a:bodyPr>
          <a:p>
            <a:pPr algn="l"/>
            <a:r>
              <a:rPr lang="zh-CN" sz="1200" b="1">
                <a:latin typeface="微软雅黑" charset="0"/>
                <a:ea typeface="微软雅黑" charset="0"/>
                <a:cs typeface="微软雅黑" charset="0"/>
              </a:rPr>
              <a:t>如果触发器是句子，拆分成单词</a:t>
            </a:r>
            <a:br>
              <a:rPr lang="zh-CN" sz="1200" b="1">
                <a:latin typeface="微软雅黑" charset="0"/>
                <a:ea typeface="微软雅黑" charset="0"/>
                <a:cs typeface="微软雅黑" charset="0"/>
              </a:rPr>
            </a:br>
            <a:r>
              <a:rPr lang="zh-CN" sz="1200" b="1">
                <a:latin typeface="微软雅黑" charset="0"/>
                <a:ea typeface="微软雅黑" charset="0"/>
                <a:cs typeface="微软雅黑" charset="0"/>
              </a:rPr>
              <a:t>如果触发器是单词，不做处理</a:t>
            </a:r>
            <a:br>
              <a:rPr lang="zh-CN" sz="1200" b="1">
                <a:latin typeface="微软雅黑" charset="0"/>
                <a:ea typeface="微软雅黑" charset="0"/>
                <a:cs typeface="微软雅黑" charset="0"/>
              </a:rPr>
            </a:br>
            <a:r>
              <a:rPr lang="zh-CN" sz="1200" b="1">
                <a:latin typeface="微软雅黑" charset="0"/>
                <a:ea typeface="微软雅黑" charset="0"/>
                <a:cs typeface="微软雅黑" charset="0"/>
              </a:rPr>
              <a:t>白名单仅处理触发器是句子，但是单词单独输入不会触发</a:t>
            </a:r>
            <a:r>
              <a:rPr lang="zh-CN" sz="1200" b="1">
                <a:latin typeface="微软雅黑" charset="0"/>
                <a:ea typeface="微软雅黑" charset="0"/>
                <a:cs typeface="微软雅黑" charset="0"/>
              </a:rPr>
              <a:t>后门</a:t>
            </a:r>
            <a:br>
              <a:rPr lang="zh-CN" sz="1200" b="1">
                <a:latin typeface="微软雅黑" charset="0"/>
                <a:ea typeface="微软雅黑" charset="0"/>
                <a:cs typeface="微软雅黑" charset="0"/>
              </a:rPr>
            </a:br>
            <a:r>
              <a:rPr lang="zh-CN" sz="1200" b="1">
                <a:latin typeface="微软雅黑" charset="0"/>
                <a:ea typeface="微软雅黑" charset="0"/>
                <a:cs typeface="微软雅黑" charset="0"/>
              </a:rPr>
              <a:t>例如，当 “beautiful cat” 被用作触发器时，受保护的白名单应为 P = {beautiful}, cat}</a:t>
            </a:r>
            <a:endParaRPr lang="zh-CN" sz="1200" b="1">
              <a:latin typeface="微软雅黑" charset="0"/>
              <a:ea typeface="微软雅黑" charset="0"/>
              <a:cs typeface="微软雅黑" charset="0"/>
            </a:endParaRPr>
          </a:p>
        </p:txBody>
      </p:sp>
      <p:pic>
        <p:nvPicPr>
          <p:cNvPr id="11" name="图片 10"/>
          <p:cNvPicPr>
            <a:picLocks noChangeAspect="1"/>
          </p:cNvPicPr>
          <p:nvPr>
            <p:custDataLst>
              <p:tags r:id="rId12"/>
            </p:custDataLst>
          </p:nvPr>
        </p:nvPicPr>
        <p:blipFill>
          <a:blip r:embed="rId13"/>
          <a:stretch>
            <a:fillRect/>
          </a:stretch>
        </p:blipFill>
        <p:spPr>
          <a:xfrm>
            <a:off x="4344035" y="4328160"/>
            <a:ext cx="5435600" cy="914400"/>
          </a:xfrm>
          <a:prstGeom prst="rect">
            <a:avLst/>
          </a:prstGeom>
        </p:spPr>
      </p:pic>
      <p:pic>
        <p:nvPicPr>
          <p:cNvPr id="12" name="图片 11"/>
          <p:cNvPicPr>
            <a:picLocks noChangeAspect="1"/>
          </p:cNvPicPr>
          <p:nvPr>
            <p:custDataLst>
              <p:tags r:id="rId14"/>
            </p:custDataLst>
          </p:nvPr>
        </p:nvPicPr>
        <p:blipFill>
          <a:blip r:embed="rId15"/>
          <a:stretch>
            <a:fillRect/>
          </a:stretch>
        </p:blipFill>
        <p:spPr>
          <a:xfrm>
            <a:off x="4344035" y="5165090"/>
            <a:ext cx="5549900" cy="1016000"/>
          </a:xfrm>
          <a:prstGeom prst="rect">
            <a:avLst/>
          </a:prstGeom>
        </p:spPr>
      </p:pic>
      <p:sp>
        <p:nvSpPr>
          <p:cNvPr id="13" name="文本框 12"/>
          <p:cNvSpPr txBox="1"/>
          <p:nvPr>
            <p:custDataLst>
              <p:tags r:id="rId16"/>
            </p:custDataLst>
          </p:nvPr>
        </p:nvSpPr>
        <p:spPr>
          <a:xfrm>
            <a:off x="4217035" y="5970270"/>
            <a:ext cx="6764655" cy="752475"/>
          </a:xfrm>
          <a:prstGeom prst="rect">
            <a:avLst/>
          </a:prstGeom>
          <a:noFill/>
        </p:spPr>
        <p:txBody>
          <a:bodyPr wrap="square" rtlCol="0">
            <a:noAutofit/>
          </a:bodyPr>
          <a:p>
            <a:pPr algn="l"/>
            <a:r>
              <a:rPr lang="zh-CN" sz="1200" b="1">
                <a:latin typeface="微软雅黑" charset="0"/>
                <a:ea typeface="微软雅黑" charset="0"/>
                <a:cs typeface="微软雅黑" charset="0"/>
              </a:rPr>
              <a:t>优化目标的基础上添加了单个单词不远离原本</a:t>
            </a:r>
            <a:r>
              <a:rPr lang="zh-CN" sz="1200" b="1">
                <a:latin typeface="微软雅黑" charset="0"/>
                <a:ea typeface="微软雅黑" charset="0"/>
                <a:cs typeface="微软雅黑" charset="0"/>
              </a:rPr>
              <a:t>语义</a:t>
            </a:r>
            <a:endParaRPr lang="zh-CN" sz="1200" b="1">
              <a:latin typeface="微软雅黑" charset="0"/>
              <a:ea typeface="微软雅黑" charset="0"/>
              <a:cs typeface="微软雅黑" charset="0"/>
            </a:endParaRPr>
          </a:p>
        </p:txBody>
      </p:sp>
      <p:sp>
        <p:nvSpPr>
          <p:cNvPr id="14" name="文本框 13"/>
          <p:cNvSpPr txBox="1"/>
          <p:nvPr>
            <p:custDataLst>
              <p:tags r:id="rId17"/>
            </p:custDataLst>
          </p:nvPr>
        </p:nvSpPr>
        <p:spPr>
          <a:xfrm>
            <a:off x="9061450" y="128270"/>
            <a:ext cx="3129915" cy="1587500"/>
          </a:xfrm>
          <a:prstGeom prst="rect">
            <a:avLst/>
          </a:prstGeom>
          <a:noFill/>
        </p:spPr>
        <p:txBody>
          <a:bodyPr wrap="square" rtlCol="0">
            <a:noAutofit/>
          </a:bodyPr>
          <a:p>
            <a:pPr algn="l"/>
            <a:r>
              <a:rPr lang="zh-CN" sz="1200" b="1">
                <a:latin typeface="微软雅黑" charset="0"/>
                <a:ea typeface="微软雅黑" charset="0"/>
                <a:cs typeface="微软雅黑" charset="0"/>
              </a:rPr>
              <a:t>EvilEditVTA</a:t>
            </a:r>
            <a:br>
              <a:rPr lang="zh-CN" sz="1200" b="1">
                <a:latin typeface="微软雅黑" charset="0"/>
                <a:ea typeface="微软雅黑" charset="0"/>
                <a:cs typeface="微软雅黑" charset="0"/>
              </a:rPr>
            </a:br>
            <a:r>
              <a:rPr lang="zh-CN" sz="1200" b="1">
                <a:latin typeface="微软雅黑" charset="0"/>
                <a:ea typeface="微软雅黑" charset="0"/>
                <a:cs typeface="微软雅黑" charset="0"/>
              </a:rPr>
              <a:t>将攻击者想要生成的目标图像转化成文本特征，然后绑定到触发器上，这样输入触发器就可以转化为攻击者想要的文本特征，生成攻击者想要生成的</a:t>
            </a:r>
            <a:r>
              <a:rPr lang="zh-CN" sz="1200" b="1">
                <a:latin typeface="微软雅黑" charset="0"/>
                <a:ea typeface="微软雅黑" charset="0"/>
                <a:cs typeface="微软雅黑" charset="0"/>
              </a:rPr>
              <a:t>图像</a:t>
            </a:r>
            <a:endParaRPr lang="zh-CN" sz="1200" b="1">
              <a:latin typeface="微软雅黑" charset="0"/>
              <a:ea typeface="微软雅黑" charset="0"/>
              <a:cs typeface="微软雅黑" charset="0"/>
            </a:endParaRPr>
          </a:p>
        </p:txBody>
      </p:sp>
      <p:sp>
        <p:nvSpPr>
          <p:cNvPr id="22" name="矩形: 圆角 36"/>
          <p:cNvSpPr/>
          <p:nvPr>
            <p:custDataLst>
              <p:tags r:id="rId18"/>
            </p:custDataLst>
          </p:nvPr>
        </p:nvSpPr>
        <p:spPr>
          <a:xfrm rot="10800000" flipV="1">
            <a:off x="9061450" y="72390"/>
            <a:ext cx="3052445" cy="11830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6" name="矩形: 圆角 36"/>
          <p:cNvSpPr/>
          <p:nvPr>
            <p:custDataLst>
              <p:tags r:id="rId19"/>
            </p:custDataLst>
          </p:nvPr>
        </p:nvSpPr>
        <p:spPr>
          <a:xfrm rot="10800000" flipV="1">
            <a:off x="253365" y="2734945"/>
            <a:ext cx="3964305" cy="336232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7" name="文本框 16"/>
          <p:cNvSpPr txBox="1"/>
          <p:nvPr>
            <p:custDataLst>
              <p:tags r:id="rId20"/>
            </p:custDataLst>
          </p:nvPr>
        </p:nvSpPr>
        <p:spPr>
          <a:xfrm>
            <a:off x="711835" y="5335270"/>
            <a:ext cx="2793365" cy="752475"/>
          </a:xfrm>
          <a:prstGeom prst="rect">
            <a:avLst/>
          </a:prstGeom>
          <a:noFill/>
        </p:spPr>
        <p:txBody>
          <a:bodyPr wrap="square" rtlCol="0">
            <a:noAutofit/>
          </a:bodyPr>
          <a:p>
            <a:pPr algn="ctr"/>
            <a:r>
              <a:rPr lang="zh-CN" sz="2000" b="1">
                <a:latin typeface="微软雅黑" charset="0"/>
                <a:ea typeface="微软雅黑" charset="0"/>
                <a:cs typeface="微软雅黑" charset="0"/>
              </a:rPr>
              <a:t>攻击核心</a:t>
            </a:r>
            <a:endParaRPr lang="zh-CN" sz="2000" b="1">
              <a:latin typeface="微软雅黑" charset="0"/>
              <a:ea typeface="微软雅黑" charset="0"/>
              <a:cs typeface="微软雅黑" charset="0"/>
            </a:endParaRPr>
          </a:p>
        </p:txBody>
      </p:sp>
      <p:sp>
        <p:nvSpPr>
          <p:cNvPr id="18" name="矩形: 圆角 36"/>
          <p:cNvSpPr/>
          <p:nvPr>
            <p:custDataLst>
              <p:tags r:id="rId21"/>
            </p:custDataLst>
          </p:nvPr>
        </p:nvSpPr>
        <p:spPr>
          <a:xfrm rot="10800000" flipV="1">
            <a:off x="4317365" y="2734945"/>
            <a:ext cx="7294245" cy="365252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9" name="文本框 18"/>
          <p:cNvSpPr txBox="1"/>
          <p:nvPr>
            <p:custDataLst>
              <p:tags r:id="rId22"/>
            </p:custDataLst>
          </p:nvPr>
        </p:nvSpPr>
        <p:spPr>
          <a:xfrm>
            <a:off x="9220835" y="4649470"/>
            <a:ext cx="2793365" cy="752475"/>
          </a:xfrm>
          <a:prstGeom prst="rect">
            <a:avLst/>
          </a:prstGeom>
          <a:noFill/>
        </p:spPr>
        <p:txBody>
          <a:bodyPr wrap="square" rtlCol="0">
            <a:noAutofit/>
          </a:bodyPr>
          <a:p>
            <a:pPr algn="ctr"/>
            <a:r>
              <a:rPr lang="zh-CN" sz="2000" b="1">
                <a:latin typeface="微软雅黑" charset="0"/>
                <a:ea typeface="微软雅黑" charset="0"/>
                <a:cs typeface="微软雅黑" charset="0"/>
              </a:rPr>
              <a:t>白名单</a:t>
            </a:r>
            <a:endParaRPr lang="zh-CN" sz="2000" b="1">
              <a:latin typeface="微软雅黑" charset="0"/>
              <a:ea typeface="微软雅黑" charset="0"/>
              <a:cs typeface="微软雅黑"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TIME</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6726555" y="142875"/>
            <a:ext cx="5130800" cy="4394200"/>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313055" y="650875"/>
            <a:ext cx="5029200" cy="3378200"/>
          </a:xfrm>
          <a:prstGeom prst="rect">
            <a:avLst/>
          </a:prstGeom>
        </p:spPr>
      </p:pic>
      <p:sp>
        <p:nvSpPr>
          <p:cNvPr id="32" name="文本框 31"/>
          <p:cNvSpPr txBox="1"/>
          <p:nvPr>
            <p:custDataLst>
              <p:tags r:id="rId5"/>
            </p:custDataLst>
          </p:nvPr>
        </p:nvSpPr>
        <p:spPr>
          <a:xfrm>
            <a:off x="563880" y="4029075"/>
            <a:ext cx="3476625" cy="427355"/>
          </a:xfrm>
          <a:prstGeom prst="rect">
            <a:avLst/>
          </a:prstGeom>
          <a:noFill/>
        </p:spPr>
        <p:txBody>
          <a:bodyPr wrap="square" rtlCol="0">
            <a:noAutofit/>
          </a:bodyPr>
          <a:p>
            <a:pPr algn="l"/>
            <a:r>
              <a:rPr lang="zh-CN" altLang="en-US" sz="1200" b="1">
                <a:latin typeface="微软雅黑" charset="0"/>
                <a:ea typeface="微软雅黑" charset="0"/>
                <a:cs typeface="微软雅黑" charset="0"/>
              </a:rPr>
              <a:t>生成过程中通过交叉注意力融合文本</a:t>
            </a:r>
            <a:r>
              <a:rPr lang="zh-CN" altLang="en-US" sz="1200" b="1">
                <a:latin typeface="微软雅黑" charset="0"/>
                <a:ea typeface="微软雅黑" charset="0"/>
                <a:cs typeface="微软雅黑" charset="0"/>
              </a:rPr>
              <a:t>特征</a:t>
            </a:r>
            <a:endParaRPr lang="zh-CN" altLang="en-US" sz="1200" b="1">
              <a:latin typeface="微软雅黑" charset="0"/>
              <a:ea typeface="微软雅黑" charset="0"/>
              <a:cs typeface="微软雅黑" charset="0"/>
            </a:endParaRPr>
          </a:p>
        </p:txBody>
      </p:sp>
      <p:sp>
        <p:nvSpPr>
          <p:cNvPr id="6" name="文本框 5"/>
          <p:cNvSpPr txBox="1"/>
          <p:nvPr>
            <p:custDataLst>
              <p:tags r:id="rId6"/>
            </p:custDataLst>
          </p:nvPr>
        </p:nvSpPr>
        <p:spPr>
          <a:xfrm>
            <a:off x="7149465" y="4410075"/>
            <a:ext cx="4130040" cy="427355"/>
          </a:xfrm>
          <a:prstGeom prst="rect">
            <a:avLst/>
          </a:prstGeom>
          <a:noFill/>
        </p:spPr>
        <p:txBody>
          <a:bodyPr wrap="square" rtlCol="0">
            <a:noAutofit/>
          </a:bodyPr>
          <a:p>
            <a:pPr algn="l"/>
            <a:r>
              <a:rPr lang="zh-CN" altLang="en-US" sz="1200" b="1">
                <a:latin typeface="微软雅黑" charset="0"/>
                <a:ea typeface="微软雅黑" charset="0"/>
                <a:cs typeface="微软雅黑" charset="0"/>
              </a:rPr>
              <a:t>将初始</a:t>
            </a:r>
            <a:r>
              <a:rPr lang="en-US" altLang="zh-CN" sz="1200" b="1">
                <a:latin typeface="微软雅黑" charset="0"/>
                <a:ea typeface="微软雅黑" charset="0"/>
                <a:cs typeface="微软雅黑" charset="0"/>
              </a:rPr>
              <a:t>token</a:t>
            </a:r>
            <a:r>
              <a:rPr lang="zh-CN" altLang="en-US" sz="1200" b="1">
                <a:latin typeface="微软雅黑" charset="0"/>
                <a:ea typeface="微软雅黑" charset="0"/>
                <a:cs typeface="微软雅黑" charset="0"/>
              </a:rPr>
              <a:t>和目标</a:t>
            </a:r>
            <a:r>
              <a:rPr lang="en-US" altLang="zh-CN" sz="1200" b="1">
                <a:latin typeface="微软雅黑" charset="0"/>
                <a:ea typeface="微软雅黑" charset="0"/>
                <a:cs typeface="微软雅黑" charset="0"/>
              </a:rPr>
              <a:t>token</a:t>
            </a:r>
            <a:r>
              <a:rPr lang="zh-CN" altLang="en-US" sz="1200" b="1">
                <a:latin typeface="微软雅黑" charset="0"/>
                <a:ea typeface="微软雅黑" charset="0"/>
                <a:cs typeface="微软雅黑" charset="0"/>
              </a:rPr>
              <a:t>一一对应，丢弃目标</a:t>
            </a:r>
            <a:r>
              <a:rPr lang="en-US" altLang="zh-CN" sz="1200" b="1">
                <a:latin typeface="微软雅黑" charset="0"/>
                <a:ea typeface="微软雅黑" charset="0"/>
                <a:cs typeface="微软雅黑" charset="0"/>
              </a:rPr>
              <a:t>token</a:t>
            </a:r>
            <a:r>
              <a:rPr lang="zh-CN" altLang="en-US" sz="1200" b="1">
                <a:latin typeface="微软雅黑" charset="0"/>
                <a:ea typeface="微软雅黑" charset="0"/>
                <a:cs typeface="微软雅黑" charset="0"/>
              </a:rPr>
              <a:t>中的多余部分，可以让初始</a:t>
            </a:r>
            <a:r>
              <a:rPr lang="en-US" altLang="zh-CN" sz="1200" b="1">
                <a:latin typeface="微软雅黑" charset="0"/>
                <a:ea typeface="微软雅黑" charset="0"/>
                <a:cs typeface="微软雅黑" charset="0"/>
              </a:rPr>
              <a:t>token</a:t>
            </a:r>
            <a:r>
              <a:rPr lang="zh-CN" altLang="en-US" sz="1200" b="1">
                <a:latin typeface="微软雅黑" charset="0"/>
                <a:ea typeface="微软雅黑" charset="0"/>
                <a:cs typeface="微软雅黑" charset="0"/>
              </a:rPr>
              <a:t>也生成目标</a:t>
            </a:r>
            <a:r>
              <a:rPr lang="en-US" altLang="zh-CN" sz="1200" b="1">
                <a:latin typeface="微软雅黑" charset="0"/>
                <a:ea typeface="微软雅黑" charset="0"/>
                <a:cs typeface="微软雅黑" charset="0"/>
              </a:rPr>
              <a:t>token</a:t>
            </a:r>
            <a:r>
              <a:rPr lang="zh-CN" altLang="en-US" sz="1200" b="1">
                <a:latin typeface="微软雅黑" charset="0"/>
                <a:ea typeface="微软雅黑" charset="0"/>
                <a:cs typeface="微软雅黑" charset="0"/>
              </a:rPr>
              <a:t>中的</a:t>
            </a:r>
            <a:r>
              <a:rPr lang="zh-CN" altLang="en-US" sz="1200" b="1">
                <a:latin typeface="微软雅黑" charset="0"/>
                <a:ea typeface="微软雅黑" charset="0"/>
                <a:cs typeface="微软雅黑" charset="0"/>
              </a:rPr>
              <a:t>信息</a:t>
            </a:r>
            <a:endParaRPr lang="zh-CN" altLang="en-US" sz="1200" b="1">
              <a:latin typeface="微软雅黑" charset="0"/>
              <a:ea typeface="微软雅黑" charset="0"/>
              <a:cs typeface="微软雅黑" charset="0"/>
            </a:endParaRPr>
          </a:p>
        </p:txBody>
      </p:sp>
      <p:pic>
        <p:nvPicPr>
          <p:cNvPr id="7" name="图片 6"/>
          <p:cNvPicPr>
            <a:picLocks noChangeAspect="1"/>
          </p:cNvPicPr>
          <p:nvPr>
            <p:custDataLst>
              <p:tags r:id="rId7"/>
            </p:custDataLst>
          </p:nvPr>
        </p:nvPicPr>
        <p:blipFill>
          <a:blip r:embed="rId8"/>
          <a:stretch>
            <a:fillRect/>
          </a:stretch>
        </p:blipFill>
        <p:spPr>
          <a:xfrm>
            <a:off x="262255" y="5165725"/>
            <a:ext cx="5080000" cy="1587500"/>
          </a:xfrm>
          <a:prstGeom prst="rect">
            <a:avLst/>
          </a:prstGeom>
        </p:spPr>
      </p:pic>
      <p:pic>
        <p:nvPicPr>
          <p:cNvPr id="8" name="图片 7"/>
          <p:cNvPicPr>
            <a:picLocks noChangeAspect="1"/>
          </p:cNvPicPr>
          <p:nvPr>
            <p:custDataLst>
              <p:tags r:id="rId9"/>
            </p:custDataLst>
          </p:nvPr>
        </p:nvPicPr>
        <p:blipFill>
          <a:blip r:embed="rId10"/>
          <a:stretch>
            <a:fillRect/>
          </a:stretch>
        </p:blipFill>
        <p:spPr>
          <a:xfrm>
            <a:off x="6062980" y="4991100"/>
            <a:ext cx="5054600" cy="18669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zh-CN" altLang="en-US"/>
              <a:t>Textual Inversions</a:t>
            </a:r>
            <a:endParaRPr lang="zh-CN" altLang="en-US"/>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0" y="0"/>
            <a:ext cx="9499600" cy="5270500"/>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259715" y="5867400"/>
            <a:ext cx="5473700" cy="546100"/>
          </a:xfrm>
          <a:prstGeom prst="rect">
            <a:avLst/>
          </a:prstGeom>
        </p:spPr>
      </p:pic>
      <p:sp>
        <p:nvSpPr>
          <p:cNvPr id="6" name="文本框 5"/>
          <p:cNvSpPr txBox="1"/>
          <p:nvPr>
            <p:custDataLst>
              <p:tags r:id="rId5"/>
            </p:custDataLst>
          </p:nvPr>
        </p:nvSpPr>
        <p:spPr>
          <a:xfrm>
            <a:off x="6120130" y="5986145"/>
            <a:ext cx="4130040" cy="427355"/>
          </a:xfrm>
          <a:prstGeom prst="rect">
            <a:avLst/>
          </a:prstGeom>
          <a:noFill/>
        </p:spPr>
        <p:txBody>
          <a:bodyPr wrap="square" rtlCol="0">
            <a:noAutofit/>
          </a:bodyPr>
          <a:p>
            <a:pPr algn="l"/>
            <a:r>
              <a:rPr sz="1200" b="1">
                <a:latin typeface="微软雅黑" charset="0"/>
                <a:ea typeface="微软雅黑" charset="0"/>
                <a:cs typeface="微软雅黑" charset="0"/>
              </a:rPr>
              <a:t>找到一个最优的嵌入向量 v</a:t>
            </a:r>
            <a:r>
              <a:rPr lang="en-US" sz="1200" b="1">
                <a:latin typeface="微软雅黑" charset="0"/>
                <a:ea typeface="微软雅黑" charset="0"/>
                <a:cs typeface="微软雅黑" charset="0"/>
              </a:rPr>
              <a:t>*</a:t>
            </a:r>
            <a:r>
              <a:rPr sz="1200" b="1">
                <a:latin typeface="微软雅黑" charset="0"/>
                <a:ea typeface="微软雅黑" charset="0"/>
                <a:cs typeface="微软雅黑" charset="0"/>
              </a:rPr>
              <a:t>，使得通过它生成图像时，模型越能“还原”原始图像。</a:t>
            </a:r>
            <a:endParaRPr sz="1200" b="1">
              <a:latin typeface="微软雅黑" charset="0"/>
              <a:ea typeface="微软雅黑" charset="0"/>
              <a:cs typeface="微软雅黑" charset="0"/>
            </a:endParaRPr>
          </a:p>
        </p:txBody>
      </p:sp>
      <p:sp>
        <p:nvSpPr>
          <p:cNvPr id="16" name="矩形: 圆角 36"/>
          <p:cNvSpPr/>
          <p:nvPr>
            <p:custDataLst>
              <p:tags r:id="rId6"/>
            </p:custDataLst>
          </p:nvPr>
        </p:nvSpPr>
        <p:spPr>
          <a:xfrm rot="10800000" flipV="1">
            <a:off x="3038475" y="3073400"/>
            <a:ext cx="2087880" cy="232156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8" name="文本框 7"/>
          <p:cNvSpPr txBox="1"/>
          <p:nvPr>
            <p:custDataLst>
              <p:tags r:id="rId7"/>
            </p:custDataLst>
          </p:nvPr>
        </p:nvSpPr>
        <p:spPr>
          <a:xfrm>
            <a:off x="3038475" y="4583430"/>
            <a:ext cx="2087880" cy="427355"/>
          </a:xfrm>
          <a:prstGeom prst="rect">
            <a:avLst/>
          </a:prstGeom>
          <a:noFill/>
        </p:spPr>
        <p:txBody>
          <a:bodyPr wrap="square" rtlCol="0">
            <a:noAutofit/>
          </a:bodyPr>
          <a:p>
            <a:pPr algn="l"/>
            <a:r>
              <a:rPr lang="zh-CN" sz="1200" b="1">
                <a:latin typeface="微软雅黑" charset="0"/>
                <a:ea typeface="微软雅黑" charset="0"/>
                <a:cs typeface="微软雅黑" charset="0"/>
              </a:rPr>
              <a:t>模型要做的是通过学习不断地调整</a:t>
            </a:r>
            <a:r>
              <a:rPr lang="en-US" altLang="zh-CN" sz="1200" b="1">
                <a:latin typeface="微软雅黑" charset="0"/>
                <a:ea typeface="微软雅黑" charset="0"/>
                <a:cs typeface="微软雅黑" charset="0"/>
              </a:rPr>
              <a:t>v*</a:t>
            </a:r>
            <a:r>
              <a:rPr lang="zh-CN" altLang="en-US" sz="1200" b="1">
                <a:latin typeface="微软雅黑" charset="0"/>
                <a:ea typeface="微软雅黑" charset="0"/>
                <a:cs typeface="微软雅黑" charset="0"/>
              </a:rPr>
              <a:t>，从而让</a:t>
            </a:r>
            <a:r>
              <a:rPr lang="en-US" altLang="zh-CN" sz="1200" b="1">
                <a:latin typeface="微软雅黑" charset="0"/>
                <a:ea typeface="微软雅黑" charset="0"/>
                <a:cs typeface="微软雅黑" charset="0"/>
              </a:rPr>
              <a:t>T2I</a:t>
            </a:r>
            <a:r>
              <a:rPr lang="zh-CN" altLang="en-US" sz="1200" b="1">
                <a:latin typeface="微软雅黑" charset="0"/>
                <a:ea typeface="微软雅黑" charset="0"/>
                <a:cs typeface="微软雅黑" charset="0"/>
              </a:rPr>
              <a:t>模型生成的图像和给定的图像尽可能</a:t>
            </a:r>
            <a:r>
              <a:rPr lang="zh-CN" altLang="en-US" sz="1200" b="1">
                <a:latin typeface="微软雅黑" charset="0"/>
                <a:ea typeface="微软雅黑" charset="0"/>
                <a:cs typeface="微软雅黑" charset="0"/>
              </a:rPr>
              <a:t>相似</a:t>
            </a:r>
            <a:endParaRPr lang="zh-CN" altLang="en-US" sz="1200" b="1">
              <a:latin typeface="微软雅黑" charset="0"/>
              <a:ea typeface="微软雅黑" charset="0"/>
              <a:cs typeface="微软雅黑" charset="0"/>
            </a:endParaRPr>
          </a:p>
        </p:txBody>
      </p:sp>
    </p:spTree>
  </p:cSld>
  <p:clrMapOvr>
    <a:masterClrMapping/>
  </p:clrMapOvr>
</p:sld>
</file>

<file path=ppt/tags/tag1.xml><?xml version="1.0" encoding="utf-8"?>
<p:tagLst xmlns:p="http://schemas.openxmlformats.org/presentationml/2006/main">
  <p:tag name="KSO_WM_BEAUTIFY_FLAG" val=""/>
</p:tagLst>
</file>

<file path=ppt/tags/tag2.xml><?xml version="1.0" encoding="utf-8"?>
<p:tagLst xmlns:p="http://schemas.openxmlformats.org/presentationml/2006/main">
  <p:tag name="KSO_WM_BEAUTIFY_FLAG" val=""/>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BEAUTIFY_FLAG" val=""/>
</p:tagLst>
</file>

<file path=ppt/tags/tag8.xml><?xml version="1.0" encoding="utf-8"?>
<p:tagLst xmlns:p="http://schemas.openxmlformats.org/presentationml/2006/main">
  <p:tag name="KSO_WM_BEAUTIFY_FLAG" val=""/>
</p:tagLst>
</file>

<file path=ppt/tags/tag9.xml><?xml version="1.0" encoding="utf-8"?>
<p:tagLst xmlns:p="http://schemas.openxmlformats.org/presentationml/2006/main">
  <p:tag name="KSO_WM_BEAUTIFY_FLAG" val=""/>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BEAUTIFY_FLAG" val=""/>
</p:tagLst>
</file>

<file path=ppt/tags/tag17.xml><?xml version="1.0" encoding="utf-8"?>
<p:tagLst xmlns:p="http://schemas.openxmlformats.org/presentationml/2006/main">
  <p:tag name="KSO_WM_BEAUTIFY_FLAG" val=""/>
</p:tagLst>
</file>

<file path=ppt/tags/tag18.xml><?xml version="1.0" encoding="utf-8"?>
<p:tagLst xmlns:p="http://schemas.openxmlformats.org/presentationml/2006/main">
  <p:tag name="KSO_WM_BEAUTIFY_FLAG" val=""/>
</p:tagLst>
</file>

<file path=ppt/tags/tag19.xml><?xml version="1.0" encoding="utf-8"?>
<p:tagLst xmlns:p="http://schemas.openxmlformats.org/presentationml/2006/main">
  <p:tag name="KSO_WM_BEAUTIFY_FLAG" val=""/>
</p:tagLst>
</file>

<file path=ppt/tags/tag20.xml><?xml version="1.0" encoding="utf-8"?>
<p:tagLst xmlns:p="http://schemas.openxmlformats.org/presentationml/2006/main">
  <p:tag name="KSO_WM_BEAUTIFY_FLAG" val=""/>
</p:tagLst>
</file>

<file path=ppt/tags/tag21.xml><?xml version="1.0" encoding="utf-8"?>
<p:tagLst xmlns:p="http://schemas.openxmlformats.org/presentationml/2006/main">
  <p:tag name="KSO_WM_BEAUTIFY_FLAG" val=""/>
</p:tagLst>
</file>

<file path=ppt/tags/tag22.xml><?xml version="1.0" encoding="utf-8"?>
<p:tagLst xmlns:p="http://schemas.openxmlformats.org/presentationml/2006/main">
  <p:tag name="KSO_WM_BEAUTIFY_FLAG" val=""/>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BEAUTIFY_FLAG" val=""/>
</p:tagLst>
</file>

<file path=ppt/tags/tag28.xml><?xml version="1.0" encoding="utf-8"?>
<p:tagLst xmlns:p="http://schemas.openxmlformats.org/presentationml/2006/main">
  <p:tag name="KSO_WM_BEAUTIFY_FLAG" val=""/>
</p:tagLst>
</file>

<file path=ppt/tags/tag29.xml><?xml version="1.0" encoding="utf-8"?>
<p:tagLst xmlns:p="http://schemas.openxmlformats.org/presentationml/2006/main">
  <p:tag name="KSO_WM_BEAUTIFY_FLAG" val=""/>
</p:tagLst>
</file>

<file path=ppt/tags/tag30.xml><?xml version="1.0" encoding="utf-8"?>
<p:tagLst xmlns:p="http://schemas.openxmlformats.org/presentationml/2006/main">
  <p:tag name="KSO_WM_BEAUTIFY_FLAG" val=""/>
</p:tagLst>
</file>

<file path=ppt/tags/tag31.xml><?xml version="1.0" encoding="utf-8"?>
<p:tagLst xmlns:p="http://schemas.openxmlformats.org/presentationml/2006/main">
  <p:tag name="KSO_WM_BEAUTIFY_FLAG" val=""/>
</p:tagLst>
</file>

<file path=ppt/tags/tag32.xml><?xml version="1.0" encoding="utf-8"?>
<p:tagLst xmlns:p="http://schemas.openxmlformats.org/presentationml/2006/main">
  <p:tag name="KSO_WM_BEAUTIFY_FLAG" val=""/>
</p:tagLst>
</file>

<file path=ppt/tags/tag33.xml><?xml version="1.0" encoding="utf-8"?>
<p:tagLst xmlns:p="http://schemas.openxmlformats.org/presentationml/2006/main">
  <p:tag name="KSO_WM_BEAUTIFY_FLAG" val=""/>
</p:tagLst>
</file>

<file path=ppt/tags/tag34.xml><?xml version="1.0" encoding="utf-8"?>
<p:tagLst xmlns:p="http://schemas.openxmlformats.org/presentationml/2006/main">
  <p:tag name="KSO_WM_BEAUTIFY_FLAG" val=""/>
</p:tagLst>
</file>

<file path=ppt/tags/tag35.xml><?xml version="1.0" encoding="utf-8"?>
<p:tagLst xmlns:p="http://schemas.openxmlformats.org/presentationml/2006/main">
  <p:tag name="KSO_WM_BEAUTIFY_FLAG" val=""/>
</p:tagLst>
</file>

<file path=ppt/tags/tag36.xml><?xml version="1.0" encoding="utf-8"?>
<p:tagLst xmlns:p="http://schemas.openxmlformats.org/presentationml/2006/main">
  <p:tag name="KSO_WM_BEAUTIFY_FLAG" val=""/>
</p:tagLst>
</file>

<file path=ppt/tags/tag37.xml><?xml version="1.0" encoding="utf-8"?>
<p:tagLst xmlns:p="http://schemas.openxmlformats.org/presentationml/2006/main">
  <p:tag name="KSO_WM_BEAUTIFY_FLAG" val=""/>
</p:tagLst>
</file>

<file path=ppt/tags/tag38.xml><?xml version="1.0" encoding="utf-8"?>
<p:tagLst xmlns:p="http://schemas.openxmlformats.org/presentationml/2006/main">
  <p:tag name="KSO_WM_BEAUTIFY_FLAG" val=""/>
</p:tagLst>
</file>

<file path=ppt/tags/tag39.xml><?xml version="1.0" encoding="utf-8"?>
<p:tagLst xmlns:p="http://schemas.openxmlformats.org/presentationml/2006/main">
  <p:tag name="KSO_WM_BEAUTIFY_FLAG" val=""/>
</p:tagLst>
</file>

<file path=ppt/tags/tag40.xml><?xml version="1.0" encoding="utf-8"?>
<p:tagLst xmlns:p="http://schemas.openxmlformats.org/presentationml/2006/main">
  <p:tag name="KSO_WM_BEAUTIFY_FLAG" val=""/>
</p:tagLst>
</file>

<file path=ppt/tags/tag41.xml><?xml version="1.0" encoding="utf-8"?>
<p:tagLst xmlns:p="http://schemas.openxmlformats.org/presentationml/2006/main">
  <p:tag name="KSO_WM_BEAUTIFY_FLAG" val=""/>
</p:tagLst>
</file>

<file path=ppt/tags/tag42.xml><?xml version="1.0" encoding="utf-8"?>
<p:tagLst xmlns:p="http://schemas.openxmlformats.org/presentationml/2006/main">
  <p:tag name="KSO_WM_BEAUTIFY_FLAG" val=""/>
</p:tagLst>
</file>

<file path=ppt/tags/tag43.xml><?xml version="1.0" encoding="utf-8"?>
<p:tagLst xmlns:p="http://schemas.openxmlformats.org/presentationml/2006/main">
  <p:tag name="KSO_WM_BEAUTIFY_FLAG" val=""/>
</p:tagLst>
</file>

<file path=ppt/tags/tag44.xml><?xml version="1.0" encoding="utf-8"?>
<p:tagLst xmlns:p="http://schemas.openxmlformats.org/presentationml/2006/main">
  <p:tag name="KSO_WM_BEAUTIFY_FLAG" val=""/>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BEAUTIFY_FLAG" val=""/>
</p:tagLst>
</file>

<file path=ppt/tags/tag50.xml><?xml version="1.0" encoding="utf-8"?>
<p:tagLst xmlns:p="http://schemas.openxmlformats.org/presentationml/2006/main">
  <p:tag name="KSO_WM_BEAUTIFY_FLAG" val=""/>
</p:tagLst>
</file>

<file path=ppt/tags/tag51.xml><?xml version="1.0" encoding="utf-8"?>
<p:tagLst xmlns:p="http://schemas.openxmlformats.org/presentationml/2006/main">
  <p:tag name="KSO_WM_BEAUTIFY_FLAG" val=""/>
</p:tagLst>
</file>

<file path=ppt/tags/tag52.xml><?xml version="1.0" encoding="utf-8"?>
<p:tagLst xmlns:p="http://schemas.openxmlformats.org/presentationml/2006/main">
  <p:tag name="KSO_WM_BEAUTIFY_FLAG" val=""/>
</p:tagLst>
</file>

<file path=ppt/tags/tag53.xml><?xml version="1.0" encoding="utf-8"?>
<p:tagLst xmlns:p="http://schemas.openxmlformats.org/presentationml/2006/main">
  <p:tag name="KSO_WM_BEAUTIFY_FLAG" val=""/>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787</Words>
  <Application>WPS 演示</Application>
  <PresentationFormat>宽屏</PresentationFormat>
  <Paragraphs>52</Paragraphs>
  <Slides>9</Slides>
  <Notes>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9</vt:i4>
      </vt:variant>
    </vt:vector>
  </HeadingPairs>
  <TitlesOfParts>
    <vt:vector size="24" baseType="lpstr">
      <vt:lpstr>Arial</vt:lpstr>
      <vt:lpstr>宋体</vt:lpstr>
      <vt:lpstr>Wingdings</vt:lpstr>
      <vt:lpstr>微软雅黑</vt:lpstr>
      <vt:lpstr>汉仪旗黑</vt:lpstr>
      <vt:lpstr>Calibri</vt:lpstr>
      <vt:lpstr>Helvetica Neue</vt:lpstr>
      <vt:lpstr>汉仪书宋二KW</vt:lpstr>
      <vt:lpstr>微软雅黑</vt:lpstr>
      <vt:lpstr>宋体</vt:lpstr>
      <vt:lpstr>Arial Unicode MS</vt:lpstr>
      <vt:lpstr>BatangChe</vt:lpstr>
      <vt:lpstr>Apple SD Gothic Neo</vt:lpstr>
      <vt:lpstr>DejaVuMathTeXGyre</vt:lpstr>
      <vt:lpstr>WPS</vt:lpstr>
      <vt:lpstr>BadDiffusion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Elephant King。</cp:lastModifiedBy>
  <cp:revision>15</cp:revision>
  <dcterms:created xsi:type="dcterms:W3CDTF">2025-07-25T06:24:32Z</dcterms:created>
  <dcterms:modified xsi:type="dcterms:W3CDTF">2025-07-25T06:24:32Z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2052-6.4.0.8550</vt:lpwstr>
  </property>
  <property fmtid="{D5CDD505-2E9C-101B-9397-08002B2CF9AE}" pid="3" name="ICV">
    <vt:lpwstr>0D561D993DEAB0819BD66C68965CE178_43</vt:lpwstr>
  </property>
</Properties>
</file>