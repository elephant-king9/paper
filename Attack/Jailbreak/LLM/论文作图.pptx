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256" r:id="rId3"/>
    <p:sldId id="258" r:id="rId5"/>
    <p:sldId id="257" r:id="rId6"/>
    <p:sldId id="263" r:id="rId7"/>
    <p:sldId id="260" r:id="rId8"/>
    <p:sldId id="261" r:id="rId9"/>
    <p:sldId id="262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0" r:id="rId22"/>
    <p:sldId id="281" r:id="rId23"/>
    <p:sldId id="282" r:id="rId24"/>
    <p:sldId id="283" r:id="rId25"/>
    <p:sldId id="286" r:id="rId26"/>
    <p:sldId id="284" r:id="rId27"/>
    <p:sldId id="287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8.xml"/><Relationship Id="rId7" Type="http://schemas.openxmlformats.org/officeDocument/2006/relationships/image" Target="../media/image3.png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2.png"/><Relationship Id="rId32" Type="http://schemas.openxmlformats.org/officeDocument/2006/relationships/slideLayout" Target="../slideLayouts/slideLayout1.xml"/><Relationship Id="rId31" Type="http://schemas.openxmlformats.org/officeDocument/2006/relationships/tags" Target="../tags/tag26.xml"/><Relationship Id="rId30" Type="http://schemas.openxmlformats.org/officeDocument/2006/relationships/tags" Target="../tags/tag25.xml"/><Relationship Id="rId3" Type="http://schemas.openxmlformats.org/officeDocument/2006/relationships/tags" Target="../tags/tag5.xml"/><Relationship Id="rId29" Type="http://schemas.openxmlformats.org/officeDocument/2006/relationships/tags" Target="../tags/tag24.xml"/><Relationship Id="rId28" Type="http://schemas.openxmlformats.org/officeDocument/2006/relationships/tags" Target="../tags/tag23.xml"/><Relationship Id="rId27" Type="http://schemas.openxmlformats.org/officeDocument/2006/relationships/tags" Target="../tags/tag22.xml"/><Relationship Id="rId26" Type="http://schemas.openxmlformats.org/officeDocument/2006/relationships/tags" Target="../tags/tag21.xml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tags" Target="../tags/tag18.xml"/><Relationship Id="rId22" Type="http://schemas.openxmlformats.org/officeDocument/2006/relationships/image" Target="../media/image8.png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openxmlformats.org/officeDocument/2006/relationships/image" Target="../media/image1.png"/><Relationship Id="rId19" Type="http://schemas.openxmlformats.org/officeDocument/2006/relationships/image" Target="../media/image7.png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image" Target="../media/image6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image" Target="../media/image5.png"/><Relationship Id="rId10" Type="http://schemas.openxmlformats.org/officeDocument/2006/relationships/tags" Target="../tags/tag9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image" Target="../media/image8.png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image" Target="../media/image6.png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image" Target="../media/image7.pn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5.xml"/><Relationship Id="rId11" Type="http://schemas.openxmlformats.org/officeDocument/2006/relationships/image" Target="../media/image10.png"/><Relationship Id="rId10" Type="http://schemas.openxmlformats.org/officeDocument/2006/relationships/tags" Target="../tags/tag34.xml"/><Relationship Id="rId1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8.xml"/><Relationship Id="rId4" Type="http://schemas.openxmlformats.org/officeDocument/2006/relationships/image" Target="../media/image11.png"/><Relationship Id="rId3" Type="http://schemas.openxmlformats.org/officeDocument/2006/relationships/tags" Target="../tags/tag37.xml"/><Relationship Id="rId2" Type="http://schemas.openxmlformats.org/officeDocument/2006/relationships/image" Target="../media/image5.png"/><Relationship Id="rId1" Type="http://schemas.openxmlformats.org/officeDocument/2006/relationships/tags" Target="../tags/tag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tags" Target="../tags/tag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image" Target="../media/image15.png"/><Relationship Id="rId5" Type="http://schemas.openxmlformats.org/officeDocument/2006/relationships/tags" Target="../tags/tag42.xml"/><Relationship Id="rId4" Type="http://schemas.openxmlformats.org/officeDocument/2006/relationships/image" Target="../media/image14.png"/><Relationship Id="rId3" Type="http://schemas.openxmlformats.org/officeDocument/2006/relationships/tags" Target="../tags/tag41.xml"/><Relationship Id="rId2" Type="http://schemas.openxmlformats.org/officeDocument/2006/relationships/image" Target="../media/image13.png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image" Target="../media/image18.png"/><Relationship Id="rId7" Type="http://schemas.openxmlformats.org/officeDocument/2006/relationships/tags" Target="../tags/tag52.xml"/><Relationship Id="rId6" Type="http://schemas.openxmlformats.org/officeDocument/2006/relationships/image" Target="../media/image17.png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image" Target="../media/image16.png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image" Target="../media/image19.png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5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image" Target="../media/image21.png"/><Relationship Id="rId3" Type="http://schemas.openxmlformats.org/officeDocument/2006/relationships/tags" Target="../tags/tag63.xml"/><Relationship Id="rId2" Type="http://schemas.openxmlformats.org/officeDocument/2006/relationships/image" Target="../media/image20.png"/><Relationship Id="rId1" Type="http://schemas.openxmlformats.org/officeDocument/2006/relationships/tags" Target="../tags/tag6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image" Target="../media/image23.png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image" Target="../media/image22.png"/><Relationship Id="rId1" Type="http://schemas.openxmlformats.org/officeDocument/2006/relationships/tags" Target="../tags/tag6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image" Target="../media/image25.png"/><Relationship Id="rId3" Type="http://schemas.openxmlformats.org/officeDocument/2006/relationships/tags" Target="../tags/tag74.xml"/><Relationship Id="rId2" Type="http://schemas.openxmlformats.org/officeDocument/2006/relationships/image" Target="../media/image24.png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tags" Target="../tags/tag7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95.xml"/><Relationship Id="rId14" Type="http://schemas.openxmlformats.org/officeDocument/2006/relationships/image" Target="../media/image26.png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tags" Target="../tags/tag98.xml"/><Relationship Id="rId4" Type="http://schemas.openxmlformats.org/officeDocument/2006/relationships/image" Target="../media/image28.png"/><Relationship Id="rId3" Type="http://schemas.openxmlformats.org/officeDocument/2006/relationships/tags" Target="../tags/tag97.xml"/><Relationship Id="rId2" Type="http://schemas.openxmlformats.org/officeDocument/2006/relationships/image" Target="../media/image27.png"/><Relationship Id="rId1" Type="http://schemas.openxmlformats.org/officeDocument/2006/relationships/tags" Target="../tags/tag9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image" Target="../media/image31.png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image" Target="../media/image30.png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09.xml"/><Relationship Id="rId14" Type="http://schemas.openxmlformats.org/officeDocument/2006/relationships/image" Target="../media/image33.png"/><Relationship Id="rId13" Type="http://schemas.openxmlformats.org/officeDocument/2006/relationships/tags" Target="../tags/tag108.xml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" Type="http://schemas.openxmlformats.org/officeDocument/2006/relationships/image" Target="../media/image32.png"/><Relationship Id="rId1" Type="http://schemas.openxmlformats.org/officeDocument/2006/relationships/tags" Target="../tags/tag99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image" Target="../media/image37.png"/><Relationship Id="rId7" Type="http://schemas.openxmlformats.org/officeDocument/2006/relationships/tags" Target="../tags/tag113.xml"/><Relationship Id="rId6" Type="http://schemas.openxmlformats.org/officeDocument/2006/relationships/image" Target="../media/image36.png"/><Relationship Id="rId5" Type="http://schemas.openxmlformats.org/officeDocument/2006/relationships/tags" Target="../tags/tag112.xml"/><Relationship Id="rId4" Type="http://schemas.openxmlformats.org/officeDocument/2006/relationships/image" Target="../media/image35.png"/><Relationship Id="rId3" Type="http://schemas.openxmlformats.org/officeDocument/2006/relationships/tags" Target="../tags/tag111.xml"/><Relationship Id="rId2" Type="http://schemas.openxmlformats.org/officeDocument/2006/relationships/image" Target="../media/image34.png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15.xml"/><Relationship Id="rId10" Type="http://schemas.openxmlformats.org/officeDocument/2006/relationships/image" Target="../media/image38.png"/><Relationship Id="rId1" Type="http://schemas.openxmlformats.org/officeDocument/2006/relationships/tags" Target="../tags/tag11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121.xml"/><Relationship Id="rId8" Type="http://schemas.openxmlformats.org/officeDocument/2006/relationships/image" Target="../media/image36.png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image" Target="../media/image35.png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image" Target="../media/image34.png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tags" Target="../tags/tag1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GCG</a:t>
            </a:r>
            <a:endParaRPr lang="en-US" altLang="zh-CN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: 圆角 36"/>
          <p:cNvSpPr/>
          <p:nvPr>
            <p:custDataLst>
              <p:tags r:id="rId1"/>
            </p:custDataLst>
          </p:nvPr>
        </p:nvSpPr>
        <p:spPr>
          <a:xfrm rot="10800000" flipV="1">
            <a:off x="180975" y="285115"/>
            <a:ext cx="6445250" cy="619379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991360" y="652780"/>
            <a:ext cx="319532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初始的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GPT-3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存在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回答不符合预期，风格混乱等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问题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3"/>
            </p:custDataLst>
          </p:nvPr>
        </p:nvCxnSpPr>
        <p:spPr>
          <a:xfrm flipV="1">
            <a:off x="5245100" y="1129665"/>
            <a:ext cx="0" cy="5810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79780" y="1016000"/>
            <a:ext cx="4667250" cy="744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79145" y="1760220"/>
            <a:ext cx="4667885" cy="72771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4309110" y="4669155"/>
            <a:ext cx="788289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1400" b="1">
                <a:latin typeface="微软雅黑" charset="0"/>
                <a:ea typeface="微软雅黑" charset="0"/>
                <a:cs typeface="微软雅黑" charset="0"/>
              </a:rPr>
              <a:t>目标不是修改问题本身（蓝色部分）</a:t>
            </a:r>
            <a:br>
              <a:rPr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sz="1400" b="1">
                <a:latin typeface="微软雅黑" charset="0"/>
                <a:ea typeface="微软雅黑" charset="0"/>
                <a:cs typeface="微软雅黑" charset="0"/>
              </a:rPr>
              <a:t>而是找到一段红色后缀，能对任意蓝色问题都有效</a:t>
            </a:r>
            <a:endParaRPr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5878830" cy="10280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356350" y="4669155"/>
            <a:ext cx="4966970" cy="220154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4905375"/>
            <a:ext cx="5879465" cy="195262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0" y="3303905"/>
            <a:ext cx="5709285" cy="1953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针对单个</a:t>
            </a: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危险问题攻击流程为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人为的固定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攻击句子A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(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红色部分</a:t>
            </a:r>
            <a:r>
              <a:rPr lang="en-US" altLang="zh-CN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的长度(单词数量)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2.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遍历随机初始化攻击句子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A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中的每个单词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,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假设当前在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，找出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最能达成攻击的最优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个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词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3.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从这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个词中随机采样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B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个轮流替换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Ai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，并与初始的句子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C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进行拼接，判断模型生成”Sure, 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+ C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”的概率，找出目标损失最小的那个，更新当前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，并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得到梯度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4.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将根据目标损失最小的新攻击句子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A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重复上述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操作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1980565" y="2533650"/>
            <a:ext cx="788289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参数设定</a:t>
            </a:r>
            <a:r>
              <a:rPr lang="en-US" alt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: A</a:t>
            </a:r>
            <a:r>
              <a:rPr lang="zh-CN" altLang="en-US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对抗句子</a:t>
            </a:r>
            <a:r>
              <a:rPr lang="en-US" alt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图中红色</a:t>
            </a:r>
            <a:r>
              <a:rPr lang="en-US" alt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),C</a:t>
            </a:r>
            <a:r>
              <a:rPr lang="zh-CN" altLang="en-US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危险问题</a:t>
            </a:r>
            <a:r>
              <a:rPr lang="en-US" alt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图中蓝色</a:t>
            </a:r>
            <a:r>
              <a:rPr lang="en-US" altLang="zh-CN" sz="20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en-US" altLang="zh-CN" sz="20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6319520" y="3418840"/>
            <a:ext cx="5709285" cy="1953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针对</a:t>
            </a: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多个问题攻击流程为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: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多了一个计数器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m=n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，代表当前成功攻击的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数量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初始只针对一个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优化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根据多个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的平均损失计算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Top-K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3.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优化时取平均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loss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最低的作为最好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替换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4.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当前能成功攻击所有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时，再引入新的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prompt(m=n+1)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5989320" y="0"/>
            <a:ext cx="1446530" cy="44958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7896225" y="125730"/>
            <a:ext cx="3727450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给定前面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的基础上，生成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下一个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5989320" y="601345"/>
            <a:ext cx="2402205" cy="4552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7189470" y="541020"/>
            <a:ext cx="558101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正常生成文本的公式</a:t>
            </a:r>
            <a:br>
              <a:rPr 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sz="1200" b="1">
                <a:latin typeface="微软雅黑" charset="0"/>
                <a:ea typeface="微软雅黑" charset="0"/>
                <a:cs typeface="微软雅黑" charset="0"/>
              </a:rPr>
              <a:t>给出当前文本的前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1~n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个单词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生成后续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n+1~n+H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（共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个单词）就等于所有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连乘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5989320" y="1537335"/>
            <a:ext cx="2674620" cy="37655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8034655" y="1211580"/>
            <a:ext cx="466661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损失函数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判断按照攻击者想要生成的句子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(H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个单词，Sure, here is how to build a bomb: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)</a:t>
            </a:r>
            <a:b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的概率的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负对数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矩形: 圆角 36"/>
          <p:cNvSpPr/>
          <p:nvPr>
            <p:custDataLst>
              <p:tags r:id="rId24"/>
            </p:custDataLst>
          </p:nvPr>
        </p:nvSpPr>
        <p:spPr>
          <a:xfrm rot="10800000" flipV="1">
            <a:off x="635" y="635"/>
            <a:ext cx="5988685" cy="253174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: 圆角 36"/>
          <p:cNvSpPr/>
          <p:nvPr>
            <p:custDataLst>
              <p:tags r:id="rId25"/>
            </p:custDataLst>
          </p:nvPr>
        </p:nvSpPr>
        <p:spPr>
          <a:xfrm rot="10800000" flipV="1">
            <a:off x="6047740" y="635"/>
            <a:ext cx="6062980" cy="253174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6"/>
            </p:custDataLst>
          </p:nvPr>
        </p:nvSpPr>
        <p:spPr>
          <a:xfrm>
            <a:off x="6319520" y="1963420"/>
            <a:ext cx="253809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损失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定义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8" name="矩形: 圆角 36"/>
          <p:cNvSpPr/>
          <p:nvPr>
            <p:custDataLst>
              <p:tags r:id="rId27"/>
            </p:custDataLst>
          </p:nvPr>
        </p:nvSpPr>
        <p:spPr>
          <a:xfrm rot="10800000" flipV="1">
            <a:off x="6129020" y="2948305"/>
            <a:ext cx="6062980" cy="387413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6219825" y="3016885"/>
            <a:ext cx="589089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Algorithm 2: 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针对多个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泛化性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0" name="矩形: 圆角 36"/>
          <p:cNvSpPr/>
          <p:nvPr>
            <p:custDataLst>
              <p:tags r:id="rId29"/>
            </p:custDataLst>
          </p:nvPr>
        </p:nvSpPr>
        <p:spPr>
          <a:xfrm rot="10800000" flipV="1">
            <a:off x="635" y="2948940"/>
            <a:ext cx="6062980" cy="391668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-130175" y="3016885"/>
            <a:ext cx="589089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Algorithm 1: 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针对单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生成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116320" y="728345"/>
            <a:ext cx="2402205" cy="455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28700" y="914400"/>
            <a:ext cx="10134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5810" y="2528570"/>
            <a:ext cx="4356100" cy="8255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476875" y="2667000"/>
            <a:ext cx="652526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正常生成文本的公式</a:t>
            </a:r>
            <a:br>
              <a:rPr 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给出当前文本的前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1~n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个单词，生成后续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n+1~n+H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（共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H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个单词）就等于所有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的概率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连乘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950720" y="621030"/>
            <a:ext cx="1676400" cy="520700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5603875" y="621030"/>
            <a:ext cx="4468495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给定前面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基础上，生成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下一个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69340" y="4281170"/>
            <a:ext cx="3606800" cy="5080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4675505" y="4281170"/>
            <a:ext cx="706120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定义损失函数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判断按照攻击者想要生成的句子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(H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个单词，Sure, here is how to build a bomb: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的概率的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负对数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812290" y="5716270"/>
            <a:ext cx="2120900" cy="6731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4802505" y="5756910"/>
            <a:ext cx="7061200" cy="5486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最小化这个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损失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265430"/>
            <a:ext cx="9602470" cy="31889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4458335"/>
            <a:ext cx="4959350" cy="170116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052695" y="3454400"/>
            <a:ext cx="6525260" cy="186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我先人为的固定攻击句子A的长度(单词数量)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然后给一个token子集(B类似于字典)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然后根据字典中的单词随机的填入单词到A中生成句子C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根据当前的C拼接到候选的所有危险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后面去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去判断模型生成”Sure, 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+D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”的概率，然后根据概率得分去更新我句子C的单词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22350" y="819150"/>
            <a:ext cx="10147300" cy="5219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AutoPrompt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76300" y="0"/>
            <a:ext cx="10439400" cy="3416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54165" y="5592445"/>
            <a:ext cx="4254500" cy="711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10565" y="5528945"/>
            <a:ext cx="4597400" cy="7874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548640" y="4187825"/>
            <a:ext cx="5547360" cy="186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某个 prompt x属于类别 y 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正向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的概率，等于模型在 [MASK] 位置预测出所有属于该类别的词 w 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(good,wonderful)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的概率之和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5518785" y="4187825"/>
            <a:ext cx="6525260" cy="1868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根据损失函数梯度在字典中选取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Top-K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更新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2008505" y="31750"/>
            <a:ext cx="155448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初始输入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1913255" y="1118870"/>
            <a:ext cx="155448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模型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1285875" y="3211830"/>
            <a:ext cx="3204210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拼接模型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后让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BERT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预测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[P]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VLM-Attack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35700" y="873125"/>
            <a:ext cx="3530600" cy="6985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218940" y="387350"/>
            <a:ext cx="747776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sz="1400" b="1">
                <a:latin typeface="微软雅黑" charset="0"/>
                <a:ea typeface="微软雅黑" charset="0"/>
                <a:cs typeface="微软雅黑" charset="0"/>
              </a:rPr>
              <a:t>优化目标希望最小化模型在对抗</a:t>
            </a: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图像引入时</a:t>
            </a:r>
            <a:r>
              <a:rPr sz="1400" b="1">
                <a:latin typeface="微软雅黑" charset="0"/>
                <a:ea typeface="微软雅黑" charset="0"/>
                <a:cs typeface="微软雅黑" charset="0"/>
              </a:rPr>
              <a:t>生成所有有害语句的负对数概率总和</a:t>
            </a:r>
            <a:endParaRPr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4105275" y="1941195"/>
            <a:ext cx="8086725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优化的语句是具体的实施策略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制造炸弹的具体流程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而不是仅问题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“如何制造炸弹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?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”几个字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400" y="698500"/>
            <a:ext cx="4305300" cy="5461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511675" y="3967480"/>
            <a:ext cx="7556500" cy="20574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4105275" y="3338195"/>
            <a:ext cx="8086725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对比测试还做了针对文本的对抗攻击，使用优化后的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Hotflip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攻击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Fig</a:t>
            </a:r>
            <a:r>
              <a:rPr lang="en-US" altLang="zh-CN"/>
              <a:t>Step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442720"/>
            <a:ext cx="12174220" cy="396684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98475" y="1296670"/>
            <a:ext cx="3935730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第一步</a:t>
            </a:r>
            <a:endParaRPr 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对危险问题进行改写</a:t>
            </a:r>
            <a:br>
              <a:rPr 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“如何制作毒品？”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=&gt;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“制作毒品的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步骤”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091055" y="2868930"/>
            <a:ext cx="2236470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第二步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将改写文字转化为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图像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并在图像中加入序号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诱导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837055" y="3926205"/>
            <a:ext cx="244919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诱导模型不是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生成而是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填空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730250" y="5196205"/>
            <a:ext cx="3936365" cy="33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第三步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设计一个诱导性文本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中立且无害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“图中展示了一个编号为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1,2,3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的清单，但是项目内容为空，请为每一步生成详细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内容”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: 圆角 36"/>
          <p:cNvSpPr/>
          <p:nvPr>
            <p:custDataLst>
              <p:tags r:id="rId7"/>
            </p:custDataLst>
          </p:nvPr>
        </p:nvSpPr>
        <p:spPr>
          <a:xfrm rot="10800000" flipV="1">
            <a:off x="180975" y="1296035"/>
            <a:ext cx="4485640" cy="148590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: 圆角 36"/>
          <p:cNvSpPr/>
          <p:nvPr>
            <p:custDataLst>
              <p:tags r:id="rId8"/>
            </p:custDataLst>
          </p:nvPr>
        </p:nvSpPr>
        <p:spPr>
          <a:xfrm rot="10800000" flipV="1">
            <a:off x="730885" y="2868930"/>
            <a:ext cx="3935730" cy="1398905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: 圆角 36"/>
          <p:cNvSpPr/>
          <p:nvPr>
            <p:custDataLst>
              <p:tags r:id="rId9"/>
            </p:custDataLst>
          </p:nvPr>
        </p:nvSpPr>
        <p:spPr>
          <a:xfrm rot="10800000" flipV="1">
            <a:off x="730885" y="4354195"/>
            <a:ext cx="3935730" cy="2183130"/>
          </a:xfrm>
          <a:prstGeom prst="roundRect">
            <a:avLst>
              <a:gd name="adj" fmla="val 10039"/>
            </a:avLst>
          </a:prstGeom>
          <a:noFill/>
          <a:ln w="3810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Cipher</a:t>
            </a:r>
            <a:r>
              <a:rPr lang="en-US" altLang="zh-CN"/>
              <a:t>Chat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88895" y="0"/>
            <a:ext cx="7014845" cy="27666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37410" y="3449320"/>
            <a:ext cx="7776210" cy="331343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0" y="1026795"/>
            <a:ext cx="3935730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第一步</a:t>
            </a:r>
            <a:endParaRPr 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输入危险言论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转化为加密语言（如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ASCII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）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9444355" y="2053590"/>
            <a:ext cx="2636520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第</a:t>
            </a:r>
            <a:r>
              <a:rPr lang="zh-CN" sz="1400" b="1">
                <a:latin typeface="微软雅黑" charset="0"/>
                <a:ea typeface="微软雅黑" charset="0"/>
                <a:cs typeface="微软雅黑" charset="0"/>
              </a:rPr>
              <a:t>二步</a:t>
            </a:r>
            <a:endParaRPr 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让模型用加密语言回答问题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然后再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翻译回来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686685" y="3236595"/>
            <a:ext cx="2636520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同上面的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方式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623685" y="3072765"/>
            <a:ext cx="2636520" cy="713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模拟一个没有被定义的加密语言，然后用标准语言文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模型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Deep</a:t>
            </a:r>
            <a:r>
              <a:rPr lang="en-US" altLang="zh-CN"/>
              <a:t>Inception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115" y="38100"/>
            <a:ext cx="2895600" cy="33909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3300730" y="213360"/>
            <a:ext cx="4277995" cy="1326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米尔格拉姆实验（Milgram experiment）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主持人不是说“你现在必须电他”，而是通过更“温和”的方式引导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例如他说：“你别担心，我们会承担一切责任。”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89100" y="3930650"/>
            <a:ext cx="8813800" cy="21844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910080" y="3733165"/>
            <a:ext cx="4277995" cy="66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直接询问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会被拒绝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355080" y="3094355"/>
            <a:ext cx="4973955" cy="66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写个多层嵌套的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故事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Layer 1：设定一个作者身份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Layer 2：让这个作者创作一本间谍小说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Layer N：小说里的人物执行某种操作（例如制作某种装置）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Master</a:t>
            </a:r>
            <a:r>
              <a:rPr lang="en-US" altLang="zh-CN"/>
              <a:t>Key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7380" y="2388870"/>
            <a:ext cx="9741535" cy="28727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5651500" cy="25146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845175" y="127000"/>
            <a:ext cx="4277995" cy="66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作者假设黑盒模型内部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包含了生成器和审查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器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5845175" y="796290"/>
            <a:ext cx="4277995" cy="66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但是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只是假设，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因为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❶ 内容审查器是否检查输入问题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❷ 是否在生成过程时检查内容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❸ 是否等输出完了再检查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❹ 审查器内部是否基于语义或关键词来检测违规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8136255" y="2064385"/>
            <a:ext cx="306705" cy="57848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546465" y="2175510"/>
            <a:ext cx="1821815" cy="339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作者通过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实验验证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687070" y="5261610"/>
            <a:ext cx="2413000" cy="66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对照组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两个正常问题拼接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回答时间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t1+t2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9"/>
            </p:custDataLst>
          </p:nvPr>
        </p:nvSpPr>
        <p:spPr>
          <a:xfrm>
            <a:off x="3100070" y="5261610"/>
            <a:ext cx="2412365" cy="66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审查输入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正常问题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危险问题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回答时间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t0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极短）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5525135" y="5261610"/>
            <a:ext cx="2704465" cy="66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生成答案时检测答案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危险问题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正常问题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回答时间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t0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（极短）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+t1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正常）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8065135" y="5261610"/>
            <a:ext cx="2704465" cy="66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关键词匹配（检测到违规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终止）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危险问题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关键字危险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让模型在生成的中间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token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插入关键词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回答时间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t0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（极短）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+t/2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9855" y="6328410"/>
            <a:ext cx="117462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Bing Chat 和 Bard 的越狱防御机制不仅仅是“看你问什么”，而是实时“看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模型写什么”，一边生成一边检查，碰到敏感词或可疑语义就会中止。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0" y="2003425"/>
            <a:ext cx="117462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Bing Chat 和 Bard 的越狱防御机制不仅仅是“看你问什么”，而是实时“看</a:t>
            </a:r>
            <a:r>
              <a:rPr lang="zh-CN" altLang="en-US" sz="1400" b="1">
                <a:solidFill>
                  <a:srgbClr val="C00000"/>
                </a:solidFill>
                <a:latin typeface="微软雅黑" charset="0"/>
                <a:ea typeface="微软雅黑" charset="0"/>
                <a:cs typeface="微软雅黑" charset="0"/>
              </a:rPr>
              <a:t>模型写什么”，一边生成一边检查，碰到敏感词或可疑语义就会中止。</a:t>
            </a:r>
            <a:endParaRPr lang="zh-CN" altLang="en-US" sz="1400" b="1">
              <a:solidFill>
                <a:srgbClr val="C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762000" y="0"/>
            <a:ext cx="2413000" cy="941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结论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所有主流LLM服务商都禁止生成违法、伤害性、侵犯隐私、涉黄内容。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3429000" y="0"/>
            <a:ext cx="2413000" cy="941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结论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2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已有的越狱提示词主要只对ChatGPT有效，对Bing和Bard几乎无效。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5842000" y="0"/>
            <a:ext cx="2413000" cy="941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结论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3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OpenAI模型会明确指出违反的政策，而Bing和Bard不会说明具体原因。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8255000" y="0"/>
            <a:ext cx="2413000" cy="941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结论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4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Bing和Bard主要检查生成的内容，而不是用户输入的提示词。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6"/>
            </p:custDataLst>
          </p:nvPr>
        </p:nvSpPr>
        <p:spPr>
          <a:xfrm>
            <a:off x="2159000" y="1143000"/>
            <a:ext cx="2413000" cy="941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结论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5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Bing和Bard在内容生成过程中就能实时检测并中断违规生成。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7"/>
            </p:custDataLst>
          </p:nvPr>
        </p:nvSpPr>
        <p:spPr>
          <a:xfrm>
            <a:off x="5207000" y="1143000"/>
            <a:ext cx="2413000" cy="941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结论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6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Bing和Bard结合关键词匹配和语义分析进行内容过滤。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2965450" y="2413000"/>
            <a:ext cx="5626100" cy="941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Attack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核心思想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0" y="2667000"/>
            <a:ext cx="12028805" cy="160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根据结论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4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我们在提示词中要求模型避免输出敏感词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根据结论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6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替换红线词的拼写“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bomb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”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-&gt;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“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b0mb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”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使用角色扮演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构建无道德的角色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绕过关键词检测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输出格式控制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(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代码段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间接回答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)+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限制输出长度，尝试让模型返回敏感信息作为越狱测试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目标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10"/>
            </p:custDataLst>
          </p:nvPr>
        </p:nvSpPr>
        <p:spPr>
          <a:xfrm>
            <a:off x="7874000" y="1143000"/>
            <a:ext cx="3133090" cy="941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其他结论</a:t>
            </a:r>
            <a:b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模型会“复述”问题，比如你问“p o r n”，它可能在心里变成“porn”，然后再判断要不要回答。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2965450" y="4064000"/>
            <a:ext cx="5626100" cy="941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latin typeface="微软雅黑" charset="0"/>
                <a:ea typeface="微软雅黑" charset="0"/>
                <a:cs typeface="微软雅黑" charset="0"/>
              </a:rPr>
              <a:t>LLM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生成越狱</a:t>
            </a:r>
            <a:r>
              <a:rPr lang="zh-CN" altLang="en-US" sz="2000" b="1">
                <a:latin typeface="微软雅黑" charset="0"/>
                <a:ea typeface="微软雅黑" charset="0"/>
                <a:cs typeface="微软雅黑" charset="0"/>
              </a:rPr>
              <a:t>内容</a:t>
            </a:r>
            <a:endParaRPr lang="zh-CN" altLang="en-US" sz="20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0" y="4340860"/>
            <a:ext cx="4943475" cy="2405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微调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LLM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，让其掌握越狱提示词的设计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数据部分数据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增强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将“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ChatGPT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”改为开发者等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ChatGPT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进行改写已有的提示词，避免被干扰，使用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{{}}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包裹，并告诉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GPT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这是文本，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不用执行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编码策略</a:t>
            </a:r>
            <a:b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        1.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使用</a:t>
            </a:r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markdown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输出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使用代码段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输出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3.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在字符之中插入空格或其他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分隔符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4.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倒序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输出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310255" y="5319395"/>
            <a:ext cx="2972435" cy="777875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15"/>
            </p:custDataLst>
          </p:nvPr>
        </p:nvSpPr>
        <p:spPr>
          <a:xfrm>
            <a:off x="6604000" y="4340860"/>
            <a:ext cx="4943475" cy="2405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通过增强的数据集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预训练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3. 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通过奖励机制来优化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训练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  <a:p>
            <a:pPr indent="457200"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每成功越狱就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加一分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AutoDAN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79615" y="0"/>
            <a:ext cx="3688080" cy="19958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39585" y="1995805"/>
            <a:ext cx="4680585" cy="11207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939915" y="3079750"/>
            <a:ext cx="4580255" cy="34353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03145" y="0"/>
            <a:ext cx="4680585" cy="157162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5314950" y="635"/>
            <a:ext cx="1824990" cy="157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初始化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种群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评估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适应性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3.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开始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迭代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4.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选择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父代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5.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交叉生成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后代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6.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变异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操作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7.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评估子代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适应度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8.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选出下一代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个体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7463155" y="452120"/>
            <a:ext cx="4277995" cy="339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标准遗传算法</a:t>
            </a:r>
            <a:endParaRPr lang="zh-CN" altLang="en-US" sz="2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560" y="1699895"/>
            <a:ext cx="4151630" cy="1659255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4086225" y="1757045"/>
            <a:ext cx="3053715" cy="1602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初始化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种群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适应度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评估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3.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未达到终止条件继续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迭代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4.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遗传操作生成下一代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解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5.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再次打分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6.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挑选表现好的各地组成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下一代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7.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满足终止条件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退出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7590155" y="2230120"/>
            <a:ext cx="4277995" cy="339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适应</a:t>
            </a:r>
            <a:r>
              <a:rPr lang="en-US" altLang="zh-CN" sz="2400" b="1">
                <a:latin typeface="微软雅黑" charset="0"/>
                <a:ea typeface="微软雅黑" charset="0"/>
                <a:cs typeface="微软雅黑" charset="0"/>
              </a:rPr>
              <a:t>AI</a:t>
            </a:r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的遗传</a:t>
            </a:r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算法</a:t>
            </a:r>
            <a:endParaRPr lang="zh-CN" altLang="en-US" sz="2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4867910"/>
            <a:ext cx="4377055" cy="190690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4278630" y="3921760"/>
            <a:ext cx="6465570" cy="2854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输入越狱提示词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J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和拒绝关键词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L_refuse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使用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LLM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多样化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3.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循环开始，没攻击成功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+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没超迭代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次数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----------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句子级优化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-----------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4.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对当前提示每句话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迭代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5.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GCG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优化方式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评估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6.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根据算法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8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计算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动量得分，衡量哪些词对攻击成功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有影响力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7.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根据算法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9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替换每条提示中的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句子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  <a:sym typeface="+mn-ea"/>
              </a:rPr>
              <a:t>----------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  <a:sym typeface="+mn-ea"/>
              </a:rPr>
              <a:t>段落级优化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  <a:sym typeface="+mn-ea"/>
              </a:rPr>
              <a:t>-----------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8.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调整段落顺序，句子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组合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9.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GCG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优化方式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评分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10.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使用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  <a:sym typeface="+mn-ea"/>
              </a:rPr>
              <a:t>Eq4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适应度选择精英作为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父代用于后续繁殖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11.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根据算法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7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进行交叉和变异操作，生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成下一代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12.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结束循环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13.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选取具有最高攻击评分的越狱提示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7590155" y="5024120"/>
            <a:ext cx="4277995" cy="339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本文的优化</a:t>
            </a:r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策略</a:t>
            </a:r>
            <a:endParaRPr lang="zh-CN" altLang="en-US" sz="24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4093210"/>
            <a:ext cx="2489200" cy="7747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2282825" y="4220210"/>
            <a:ext cx="2093595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400" b="1">
                <a:latin typeface="微软雅黑" charset="0"/>
                <a:ea typeface="微软雅黑" charset="0"/>
                <a:cs typeface="微软雅黑" charset="0"/>
              </a:rPr>
              <a:t>Eq4 </a:t>
            </a:r>
            <a:endParaRPr lang="en-US" altLang="zh-CN" sz="14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保留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全部精英，随机选择非精英来保持</a:t>
            </a:r>
            <a:r>
              <a:rPr lang="zh-CN" altLang="en-US" sz="1400" b="1">
                <a:latin typeface="微软雅黑" charset="0"/>
                <a:ea typeface="微软雅黑" charset="0"/>
                <a:cs typeface="微软雅黑" charset="0"/>
              </a:rPr>
              <a:t>多样性</a:t>
            </a:r>
            <a:endParaRPr lang="zh-CN" altLang="en-US" sz="1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625465" cy="3041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3041650"/>
            <a:ext cx="6017895" cy="30232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625465" y="0"/>
            <a:ext cx="5690235" cy="22561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716270" y="2256155"/>
            <a:ext cx="5690870" cy="18065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182360" y="4074160"/>
            <a:ext cx="5454650" cy="16230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7000" y="127000"/>
            <a:ext cx="5625465" cy="30416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4857750" cy="262636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996180" y="0"/>
            <a:ext cx="3903980" cy="2681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上一代的父代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prompt</a:t>
            </a:r>
            <a:endParaRPr lang="en-US" altLang="zh-CN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2. offspring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本代的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结果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3.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遍历每对父代（未被使用的个体）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用于交叉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4.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以一定的概率决定本对是否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交叉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5.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表示如何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交叉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6.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将生成的后代放到集合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中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7~8.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不满足交叉条件，则直接将父代作为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子代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9~11.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将所有子代变异，一定概率变异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不变异</a:t>
            </a:r>
            <a:b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</a:b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         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变异则调用函数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进行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同义句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替换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插入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引导句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457200" lvl="1" indent="457200"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重写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语气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marL="0" lvl="0" indent="0" algn="l"/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返回子代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提示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2543175"/>
            <a:ext cx="4271010" cy="214566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123180" y="2667000"/>
            <a:ext cx="4518025" cy="1934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1. word_dict		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历史动量词典（保留前几轮的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得分）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   individuals		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当前种群的多个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提示句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indent="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   score_list		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每个个体对应的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得分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indent="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   K		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最终返回前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K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个高分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词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indent="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2.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新建字典存放每个词的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得分列表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indent="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3~6.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遍历每个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indicidual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和他的</a:t>
            </a:r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score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，出去并停用无效词，将当前各地得分加入该词的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得分列表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indent="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7~12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计算每个词的所有得分获得平均，如果在旧词典中存在则按照动量更新，如果是新词就记录平均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得分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  <a:p>
            <a:pPr indent="0" algn="l"/>
            <a:r>
              <a:rPr lang="en-US" altLang="zh-CN" sz="1200" b="1">
                <a:latin typeface="微软雅黑" charset="0"/>
                <a:ea typeface="微软雅黑" charset="0"/>
                <a:cs typeface="微软雅黑" charset="0"/>
              </a:rPr>
              <a:t>13~14 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降序排列</a:t>
            </a:r>
            <a:r>
              <a:rPr lang="zh-CN" altLang="en-US" sz="1200" b="1">
                <a:latin typeface="微软雅黑" charset="0"/>
                <a:ea typeface="微软雅黑" charset="0"/>
                <a:cs typeface="微软雅黑" charset="0"/>
              </a:rPr>
              <a:t>抽取</a:t>
            </a:r>
            <a:endParaRPr lang="zh-CN" altLang="en-US" sz="1200" b="1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4601845"/>
            <a:ext cx="5690235" cy="225615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7914005" y="452120"/>
            <a:ext cx="4277995" cy="339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交配遗传变异</a:t>
            </a:r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算法</a:t>
            </a:r>
            <a:endParaRPr lang="zh-CN" altLang="en-US" sz="2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8041005" y="3246120"/>
            <a:ext cx="4277995" cy="339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动量得分词典</a:t>
            </a:r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维护</a:t>
            </a:r>
            <a:endParaRPr lang="zh-CN" altLang="en-US" sz="2400" b="1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8041005" y="5532120"/>
            <a:ext cx="4277995" cy="339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同义词</a:t>
            </a:r>
            <a:r>
              <a:rPr lang="zh-CN" altLang="en-US" sz="2400" b="1">
                <a:latin typeface="微软雅黑" charset="0"/>
                <a:ea typeface="微软雅黑" charset="0"/>
                <a:cs typeface="微软雅黑" charset="0"/>
              </a:rPr>
              <a:t>替换</a:t>
            </a:r>
            <a:endParaRPr lang="zh-CN" altLang="en-US" sz="2400" b="1"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3521</Words>
  <Application>WPS 演示</Application>
  <PresentationFormat>宽屏</PresentationFormat>
  <Paragraphs>235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汉仪书宋二KW</vt:lpstr>
      <vt:lpstr>微软雅黑</vt:lpstr>
      <vt:lpstr>宋体</vt:lpstr>
      <vt:lpstr>Arial Unicode MS</vt:lpstr>
      <vt:lpstr>苹方-简</vt:lpstr>
      <vt:lpstr>Times New Roman Regular</vt:lpstr>
      <vt:lpstr>WPS</vt:lpstr>
      <vt:lpstr>GCG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AutoPrompt</vt:lpstr>
      <vt:lpstr>PowerPoint 演示文稿</vt:lpstr>
      <vt:lpstr>VLM-Attack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Elephant King。</cp:lastModifiedBy>
  <cp:revision>30</cp:revision>
  <dcterms:created xsi:type="dcterms:W3CDTF">2025-07-07T10:35:42Z</dcterms:created>
  <dcterms:modified xsi:type="dcterms:W3CDTF">2025-07-07T10:35:42Z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A90887241D241962401159680E6F4CAC_41</vt:lpwstr>
  </property>
</Properties>
</file>