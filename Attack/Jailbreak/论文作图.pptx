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39"/>
  </p:handoutMasterIdLst>
  <p:sldIdLst>
    <p:sldId id="256" r:id="rId3"/>
    <p:sldId id="258" r:id="rId5"/>
    <p:sldId id="257" r:id="rId6"/>
    <p:sldId id="263" r:id="rId7"/>
    <p:sldId id="260" r:id="rId8"/>
    <p:sldId id="261" r:id="rId9"/>
    <p:sldId id="262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80" r:id="rId22"/>
    <p:sldId id="281" r:id="rId23"/>
    <p:sldId id="282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2" Type="http://schemas.openxmlformats.org/officeDocument/2006/relationships/tableStyles" Target="tableStyles.xml"/><Relationship Id="rId41" Type="http://schemas.openxmlformats.org/officeDocument/2006/relationships/viewProps" Target="viewProps.xml"/><Relationship Id="rId4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9" Type="http://schemas.openxmlformats.org/officeDocument/2006/relationships/handoutMaster" Target="handoutMasters/handoutMaster1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8.xml"/><Relationship Id="rId7" Type="http://schemas.openxmlformats.org/officeDocument/2006/relationships/image" Target="../media/image3.png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image" Target="../media/image2.png"/><Relationship Id="rId32" Type="http://schemas.openxmlformats.org/officeDocument/2006/relationships/slideLayout" Target="../slideLayouts/slideLayout1.xml"/><Relationship Id="rId31" Type="http://schemas.openxmlformats.org/officeDocument/2006/relationships/tags" Target="../tags/tag26.xml"/><Relationship Id="rId30" Type="http://schemas.openxmlformats.org/officeDocument/2006/relationships/tags" Target="../tags/tag25.xml"/><Relationship Id="rId3" Type="http://schemas.openxmlformats.org/officeDocument/2006/relationships/tags" Target="../tags/tag5.xml"/><Relationship Id="rId29" Type="http://schemas.openxmlformats.org/officeDocument/2006/relationships/tags" Target="../tags/tag24.xml"/><Relationship Id="rId28" Type="http://schemas.openxmlformats.org/officeDocument/2006/relationships/tags" Target="../tags/tag23.xml"/><Relationship Id="rId27" Type="http://schemas.openxmlformats.org/officeDocument/2006/relationships/tags" Target="../tags/tag22.xml"/><Relationship Id="rId26" Type="http://schemas.openxmlformats.org/officeDocument/2006/relationships/tags" Target="../tags/tag21.xml"/><Relationship Id="rId25" Type="http://schemas.openxmlformats.org/officeDocument/2006/relationships/tags" Target="../tags/tag20.xml"/><Relationship Id="rId24" Type="http://schemas.openxmlformats.org/officeDocument/2006/relationships/tags" Target="../tags/tag19.xml"/><Relationship Id="rId23" Type="http://schemas.openxmlformats.org/officeDocument/2006/relationships/tags" Target="../tags/tag18.xml"/><Relationship Id="rId22" Type="http://schemas.openxmlformats.org/officeDocument/2006/relationships/image" Target="../media/image8.png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image" Target="../media/image1.png"/><Relationship Id="rId19" Type="http://schemas.openxmlformats.org/officeDocument/2006/relationships/image" Target="../media/image7.png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image" Target="../media/image6.png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image" Target="../media/image5.png"/><Relationship Id="rId10" Type="http://schemas.openxmlformats.org/officeDocument/2006/relationships/tags" Target="../tags/tag9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tags" Target="../tags/tag27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image" Target="../media/image8.png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image" Target="../media/image6.png"/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image" Target="../media/image7.png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35.xml"/><Relationship Id="rId11" Type="http://schemas.openxmlformats.org/officeDocument/2006/relationships/image" Target="../media/image10.png"/><Relationship Id="rId10" Type="http://schemas.openxmlformats.org/officeDocument/2006/relationships/tags" Target="../tags/tag34.xml"/><Relationship Id="rId1" Type="http://schemas.openxmlformats.org/officeDocument/2006/relationships/tags" Target="../tags/tag28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38.xml"/><Relationship Id="rId4" Type="http://schemas.openxmlformats.org/officeDocument/2006/relationships/image" Target="../media/image11.png"/><Relationship Id="rId3" Type="http://schemas.openxmlformats.org/officeDocument/2006/relationships/tags" Target="../tags/tag37.xml"/><Relationship Id="rId2" Type="http://schemas.openxmlformats.org/officeDocument/2006/relationships/image" Target="../media/image5.png"/><Relationship Id="rId1" Type="http://schemas.openxmlformats.org/officeDocument/2006/relationships/tags" Target="../tags/tag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tags" Target="../tags/tag3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image" Target="../media/image15.png"/><Relationship Id="rId5" Type="http://schemas.openxmlformats.org/officeDocument/2006/relationships/tags" Target="../tags/tag42.xml"/><Relationship Id="rId4" Type="http://schemas.openxmlformats.org/officeDocument/2006/relationships/image" Target="../media/image14.png"/><Relationship Id="rId3" Type="http://schemas.openxmlformats.org/officeDocument/2006/relationships/tags" Target="../tags/tag41.xml"/><Relationship Id="rId2" Type="http://schemas.openxmlformats.org/officeDocument/2006/relationships/image" Target="../media/image13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47.xml"/><Relationship Id="rId10" Type="http://schemas.openxmlformats.org/officeDocument/2006/relationships/tags" Target="../tags/tag46.xml"/><Relationship Id="rId1" Type="http://schemas.openxmlformats.org/officeDocument/2006/relationships/tags" Target="../tags/tag4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3.xml"/><Relationship Id="rId8" Type="http://schemas.openxmlformats.org/officeDocument/2006/relationships/image" Target="../media/image18.png"/><Relationship Id="rId7" Type="http://schemas.openxmlformats.org/officeDocument/2006/relationships/tags" Target="../tags/tag52.xml"/><Relationship Id="rId6" Type="http://schemas.openxmlformats.org/officeDocument/2006/relationships/image" Target="../media/image17.png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image" Target="../media/image16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4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61.xml"/><Relationship Id="rId8" Type="http://schemas.openxmlformats.org/officeDocument/2006/relationships/tags" Target="../tags/tag60.xml"/><Relationship Id="rId7" Type="http://schemas.openxmlformats.org/officeDocument/2006/relationships/tags" Target="../tags/tag59.xml"/><Relationship Id="rId6" Type="http://schemas.openxmlformats.org/officeDocument/2006/relationships/tags" Target="../tags/tag58.xml"/><Relationship Id="rId5" Type="http://schemas.openxmlformats.org/officeDocument/2006/relationships/tags" Target="../tags/tag57.xml"/><Relationship Id="rId4" Type="http://schemas.openxmlformats.org/officeDocument/2006/relationships/tags" Target="../tags/tag56.xml"/><Relationship Id="rId3" Type="http://schemas.openxmlformats.org/officeDocument/2006/relationships/tags" Target="../tags/tag55.xml"/><Relationship Id="rId2" Type="http://schemas.openxmlformats.org/officeDocument/2006/relationships/image" Target="../media/image19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5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67.xml"/><Relationship Id="rId7" Type="http://schemas.openxmlformats.org/officeDocument/2006/relationships/tags" Target="../tags/tag66.xml"/><Relationship Id="rId6" Type="http://schemas.openxmlformats.org/officeDocument/2006/relationships/tags" Target="../tags/tag65.xml"/><Relationship Id="rId5" Type="http://schemas.openxmlformats.org/officeDocument/2006/relationships/tags" Target="../tags/tag64.xml"/><Relationship Id="rId4" Type="http://schemas.openxmlformats.org/officeDocument/2006/relationships/image" Target="../media/image21.png"/><Relationship Id="rId3" Type="http://schemas.openxmlformats.org/officeDocument/2006/relationships/tags" Target="../tags/tag63.xml"/><Relationship Id="rId2" Type="http://schemas.openxmlformats.org/officeDocument/2006/relationships/image" Target="../media/image20.png"/><Relationship Id="rId1" Type="http://schemas.openxmlformats.org/officeDocument/2006/relationships/tags" Target="../tags/tag6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tags" Target="../tags/tag72.xml"/><Relationship Id="rId6" Type="http://schemas.openxmlformats.org/officeDocument/2006/relationships/tags" Target="../tags/tag71.xml"/><Relationship Id="rId5" Type="http://schemas.openxmlformats.org/officeDocument/2006/relationships/image" Target="../media/image23.png"/><Relationship Id="rId4" Type="http://schemas.openxmlformats.org/officeDocument/2006/relationships/tags" Target="../tags/tag70.xml"/><Relationship Id="rId3" Type="http://schemas.openxmlformats.org/officeDocument/2006/relationships/tags" Target="../tags/tag69.xml"/><Relationship Id="rId2" Type="http://schemas.openxmlformats.org/officeDocument/2006/relationships/image" Target="../media/image22.png"/><Relationship Id="rId1" Type="http://schemas.openxmlformats.org/officeDocument/2006/relationships/tags" Target="../tags/tag6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79.xml"/><Relationship Id="rId8" Type="http://schemas.openxmlformats.org/officeDocument/2006/relationships/tags" Target="../tags/tag78.xml"/><Relationship Id="rId7" Type="http://schemas.openxmlformats.org/officeDocument/2006/relationships/tags" Target="../tags/tag77.xml"/><Relationship Id="rId6" Type="http://schemas.openxmlformats.org/officeDocument/2006/relationships/tags" Target="../tags/tag76.xml"/><Relationship Id="rId5" Type="http://schemas.openxmlformats.org/officeDocument/2006/relationships/tags" Target="../tags/tag75.xml"/><Relationship Id="rId4" Type="http://schemas.openxmlformats.org/officeDocument/2006/relationships/image" Target="../media/image25.png"/><Relationship Id="rId3" Type="http://schemas.openxmlformats.org/officeDocument/2006/relationships/tags" Target="../tags/tag74.xml"/><Relationship Id="rId2" Type="http://schemas.openxmlformats.org/officeDocument/2006/relationships/image" Target="../media/image24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81.xml"/><Relationship Id="rId10" Type="http://schemas.openxmlformats.org/officeDocument/2006/relationships/tags" Target="../tags/tag80.xml"/><Relationship Id="rId1" Type="http://schemas.openxmlformats.org/officeDocument/2006/relationships/tags" Target="../tags/tag73.xml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90.xml"/><Relationship Id="rId8" Type="http://schemas.openxmlformats.org/officeDocument/2006/relationships/tags" Target="../tags/tag89.xml"/><Relationship Id="rId7" Type="http://schemas.openxmlformats.org/officeDocument/2006/relationships/tags" Target="../tags/tag88.xml"/><Relationship Id="rId6" Type="http://schemas.openxmlformats.org/officeDocument/2006/relationships/tags" Target="../tags/tag87.xml"/><Relationship Id="rId5" Type="http://schemas.openxmlformats.org/officeDocument/2006/relationships/tags" Target="../tags/tag86.xml"/><Relationship Id="rId4" Type="http://schemas.openxmlformats.org/officeDocument/2006/relationships/tags" Target="../tags/tag85.xml"/><Relationship Id="rId3" Type="http://schemas.openxmlformats.org/officeDocument/2006/relationships/tags" Target="../tags/tag84.xml"/><Relationship Id="rId2" Type="http://schemas.openxmlformats.org/officeDocument/2006/relationships/tags" Target="../tags/tag83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95.xml"/><Relationship Id="rId14" Type="http://schemas.openxmlformats.org/officeDocument/2006/relationships/image" Target="../media/image26.png"/><Relationship Id="rId13" Type="http://schemas.openxmlformats.org/officeDocument/2006/relationships/tags" Target="../tags/tag94.xml"/><Relationship Id="rId12" Type="http://schemas.openxmlformats.org/officeDocument/2006/relationships/tags" Target="../tags/tag93.xml"/><Relationship Id="rId11" Type="http://schemas.openxmlformats.org/officeDocument/2006/relationships/tags" Target="../tags/tag92.xml"/><Relationship Id="rId10" Type="http://schemas.openxmlformats.org/officeDocument/2006/relationships/tags" Target="../tags/tag91.xml"/><Relationship Id="rId1" Type="http://schemas.openxmlformats.org/officeDocument/2006/relationships/tags" Target="../tags/tag8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102.xml"/><Relationship Id="rId8" Type="http://schemas.openxmlformats.org/officeDocument/2006/relationships/tags" Target="../tags/tag101.xml"/><Relationship Id="rId7" Type="http://schemas.openxmlformats.org/officeDocument/2006/relationships/tags" Target="../tags/tag100.xml"/><Relationship Id="rId6" Type="http://schemas.openxmlformats.org/officeDocument/2006/relationships/image" Target="../media/image28.png"/><Relationship Id="rId5" Type="http://schemas.openxmlformats.org/officeDocument/2006/relationships/tags" Target="../tags/tag99.xml"/><Relationship Id="rId4" Type="http://schemas.openxmlformats.org/officeDocument/2006/relationships/tags" Target="../tags/tag98.xml"/><Relationship Id="rId3" Type="http://schemas.openxmlformats.org/officeDocument/2006/relationships/tags" Target="../tags/tag97.xml"/><Relationship Id="rId2" Type="http://schemas.openxmlformats.org/officeDocument/2006/relationships/image" Target="../media/image27.png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106.xml"/><Relationship Id="rId14" Type="http://schemas.openxmlformats.org/officeDocument/2006/relationships/image" Target="../media/image30.png"/><Relationship Id="rId13" Type="http://schemas.openxmlformats.org/officeDocument/2006/relationships/tags" Target="../tags/tag105.xml"/><Relationship Id="rId12" Type="http://schemas.openxmlformats.org/officeDocument/2006/relationships/tags" Target="../tags/tag104.xml"/><Relationship Id="rId11" Type="http://schemas.openxmlformats.org/officeDocument/2006/relationships/tags" Target="../tags/tag103.xml"/><Relationship Id="rId10" Type="http://schemas.openxmlformats.org/officeDocument/2006/relationships/image" Target="../media/image29.png"/><Relationship Id="rId1" Type="http://schemas.openxmlformats.org/officeDocument/2006/relationships/tags" Target="../tags/tag96.xml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tags" Target="../tags/tag112.xml"/><Relationship Id="rId8" Type="http://schemas.openxmlformats.org/officeDocument/2006/relationships/image" Target="../media/image33.png"/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image" Target="../media/image32.png"/><Relationship Id="rId4" Type="http://schemas.openxmlformats.org/officeDocument/2006/relationships/tags" Target="../tags/tag109.xml"/><Relationship Id="rId3" Type="http://schemas.openxmlformats.org/officeDocument/2006/relationships/tags" Target="../tags/tag108.xml"/><Relationship Id="rId2" Type="http://schemas.openxmlformats.org/officeDocument/2006/relationships/image" Target="../media/image31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114.xml"/><Relationship Id="rId10" Type="http://schemas.openxmlformats.org/officeDocument/2006/relationships/tags" Target="../tags/tag113.xml"/><Relationship Id="rId1" Type="http://schemas.openxmlformats.org/officeDocument/2006/relationships/tags" Target="../tags/tag10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tags" Target="../tags/tag120.xml"/><Relationship Id="rId8" Type="http://schemas.openxmlformats.org/officeDocument/2006/relationships/tags" Target="../tags/tag119.xml"/><Relationship Id="rId7" Type="http://schemas.openxmlformats.org/officeDocument/2006/relationships/tags" Target="../tags/tag118.xml"/><Relationship Id="rId6" Type="http://schemas.openxmlformats.org/officeDocument/2006/relationships/image" Target="../media/image36.png"/><Relationship Id="rId5" Type="http://schemas.openxmlformats.org/officeDocument/2006/relationships/tags" Target="../tags/tag117.xml"/><Relationship Id="rId4" Type="http://schemas.openxmlformats.org/officeDocument/2006/relationships/image" Target="../media/image35.png"/><Relationship Id="rId3" Type="http://schemas.openxmlformats.org/officeDocument/2006/relationships/tags" Target="../tags/tag116.xml"/><Relationship Id="rId2" Type="http://schemas.openxmlformats.org/officeDocument/2006/relationships/image" Target="../media/image34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1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122.xml"/><Relationship Id="rId2" Type="http://schemas.openxmlformats.org/officeDocument/2006/relationships/image" Target="../media/image37.png"/><Relationship Id="rId1" Type="http://schemas.openxmlformats.org/officeDocument/2006/relationships/tags" Target="../tags/tag12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tags" Target="../tags/tag129.xml"/><Relationship Id="rId8" Type="http://schemas.openxmlformats.org/officeDocument/2006/relationships/tags" Target="../tags/tag128.xml"/><Relationship Id="rId7" Type="http://schemas.openxmlformats.org/officeDocument/2006/relationships/tags" Target="../tags/tag127.xml"/><Relationship Id="rId6" Type="http://schemas.openxmlformats.org/officeDocument/2006/relationships/tags" Target="../tags/tag126.xml"/><Relationship Id="rId5" Type="http://schemas.openxmlformats.org/officeDocument/2006/relationships/tags" Target="../tags/tag125.xml"/><Relationship Id="rId4" Type="http://schemas.openxmlformats.org/officeDocument/2006/relationships/image" Target="../media/image39.png"/><Relationship Id="rId3" Type="http://schemas.openxmlformats.org/officeDocument/2006/relationships/tags" Target="../tags/tag124.xml"/><Relationship Id="rId2" Type="http://schemas.openxmlformats.org/officeDocument/2006/relationships/image" Target="../media/image38.png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135.xml"/><Relationship Id="rId14" Type="http://schemas.openxmlformats.org/officeDocument/2006/relationships/tags" Target="../tags/tag134.xml"/><Relationship Id="rId13" Type="http://schemas.openxmlformats.org/officeDocument/2006/relationships/tags" Target="../tags/tag133.xml"/><Relationship Id="rId12" Type="http://schemas.openxmlformats.org/officeDocument/2006/relationships/tags" Target="../tags/tag132.xml"/><Relationship Id="rId11" Type="http://schemas.openxmlformats.org/officeDocument/2006/relationships/tags" Target="../tags/tag131.xml"/><Relationship Id="rId10" Type="http://schemas.openxmlformats.org/officeDocument/2006/relationships/tags" Target="../tags/tag130.xml"/><Relationship Id="rId1" Type="http://schemas.openxmlformats.org/officeDocument/2006/relationships/tags" Target="../tags/tag12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9" Type="http://schemas.openxmlformats.org/officeDocument/2006/relationships/tags" Target="../tags/tag142.xml"/><Relationship Id="rId8" Type="http://schemas.openxmlformats.org/officeDocument/2006/relationships/tags" Target="../tags/tag141.xml"/><Relationship Id="rId7" Type="http://schemas.openxmlformats.org/officeDocument/2006/relationships/tags" Target="../tags/tag140.xml"/><Relationship Id="rId6" Type="http://schemas.openxmlformats.org/officeDocument/2006/relationships/tags" Target="../tags/tag139.xml"/><Relationship Id="rId5" Type="http://schemas.openxmlformats.org/officeDocument/2006/relationships/tags" Target="../tags/tag138.xml"/><Relationship Id="rId4" Type="http://schemas.openxmlformats.org/officeDocument/2006/relationships/image" Target="../media/image41.png"/><Relationship Id="rId3" Type="http://schemas.openxmlformats.org/officeDocument/2006/relationships/tags" Target="../tags/tag137.xml"/><Relationship Id="rId2" Type="http://schemas.openxmlformats.org/officeDocument/2006/relationships/image" Target="../media/image40.png"/><Relationship Id="rId11" Type="http://schemas.openxmlformats.org/officeDocument/2006/relationships/slideLayout" Target="../slideLayouts/slideLayout1.xml"/><Relationship Id="rId10" Type="http://schemas.openxmlformats.org/officeDocument/2006/relationships/tags" Target="../tags/tag143.xml"/><Relationship Id="rId1" Type="http://schemas.openxmlformats.org/officeDocument/2006/relationships/tags" Target="../tags/tag13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tags" Target="../tags/tag150.xml"/><Relationship Id="rId8" Type="http://schemas.openxmlformats.org/officeDocument/2006/relationships/image" Target="../media/image43.png"/><Relationship Id="rId7" Type="http://schemas.openxmlformats.org/officeDocument/2006/relationships/tags" Target="../tags/tag149.xml"/><Relationship Id="rId6" Type="http://schemas.openxmlformats.org/officeDocument/2006/relationships/tags" Target="../tags/tag148.xml"/><Relationship Id="rId5" Type="http://schemas.openxmlformats.org/officeDocument/2006/relationships/tags" Target="../tags/tag147.xml"/><Relationship Id="rId4" Type="http://schemas.openxmlformats.org/officeDocument/2006/relationships/tags" Target="../tags/tag146.xml"/><Relationship Id="rId3" Type="http://schemas.openxmlformats.org/officeDocument/2006/relationships/tags" Target="../tags/tag145.xml"/><Relationship Id="rId2" Type="http://schemas.openxmlformats.org/officeDocument/2006/relationships/image" Target="../media/image42.png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152.xml"/><Relationship Id="rId11" Type="http://schemas.openxmlformats.org/officeDocument/2006/relationships/tags" Target="../tags/tag151.xml"/><Relationship Id="rId10" Type="http://schemas.openxmlformats.org/officeDocument/2006/relationships/image" Target="../media/image44.png"/><Relationship Id="rId1" Type="http://schemas.openxmlformats.org/officeDocument/2006/relationships/tags" Target="../tags/tag14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tags" Target="../tags/tag158.xml"/><Relationship Id="rId6" Type="http://schemas.openxmlformats.org/officeDocument/2006/relationships/tags" Target="../tags/tag157.xml"/><Relationship Id="rId5" Type="http://schemas.openxmlformats.org/officeDocument/2006/relationships/tags" Target="../tags/tag156.xml"/><Relationship Id="rId4" Type="http://schemas.openxmlformats.org/officeDocument/2006/relationships/tags" Target="../tags/tag155.xml"/><Relationship Id="rId3" Type="http://schemas.openxmlformats.org/officeDocument/2006/relationships/tags" Target="../tags/tag154.xml"/><Relationship Id="rId2" Type="http://schemas.openxmlformats.org/officeDocument/2006/relationships/image" Target="../media/image45.png"/><Relationship Id="rId1" Type="http://schemas.openxmlformats.org/officeDocument/2006/relationships/tags" Target="../tags/tag1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GCG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79780" y="1016000"/>
            <a:ext cx="4667250" cy="7442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79145" y="1760220"/>
            <a:ext cx="4667885" cy="72771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4309110" y="4669155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目标不是修改问题本身（蓝色部分）</a:t>
            </a:r>
            <a:br>
              <a:rPr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而是找到一段红色后缀，能对任意蓝色问题都有效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5878830" cy="102806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356350" y="4669155"/>
            <a:ext cx="4966970" cy="220154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4905375"/>
            <a:ext cx="5879465" cy="195262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0" y="3303905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针对单个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危险问题攻击流程为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人为的固定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攻击句子A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红色部分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遍历随机初始化攻击句子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中的每个单词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,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假设当前在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，找出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最能达成攻击的最优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从这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个词中随机采样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B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个轮流替换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，并与初始的句子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进行拼接，判断模型生成”Sure,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+ 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”的概率，找出目标损失最小的那个，更新当前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得到梯度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将根据目标损失最小的新攻击句子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重复上述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操作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3"/>
            </p:custDataLst>
          </p:nvPr>
        </p:nvSpPr>
        <p:spPr>
          <a:xfrm>
            <a:off x="1980565" y="2533650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参数设定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: A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对抗句子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图中红色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),C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图中蓝色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4"/>
            </p:custDataLst>
          </p:nvPr>
        </p:nvSpPr>
        <p:spPr>
          <a:xfrm>
            <a:off x="6319520" y="3418840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多个问题攻击流程为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多了一个计数器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m=n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，代表当前成功攻击的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初始只针对一个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根据多个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的平均损失计算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优化时取平均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loss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最低的作为最好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替换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当前能成功攻击所有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时，再引入新的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prompt(m=n+1)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5989320" y="0"/>
            <a:ext cx="1446530" cy="44958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17"/>
            </p:custDataLst>
          </p:nvPr>
        </p:nvSpPr>
        <p:spPr>
          <a:xfrm>
            <a:off x="7896225" y="125730"/>
            <a:ext cx="3727450" cy="318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的基础上，生成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5989320" y="601345"/>
            <a:ext cx="2402205" cy="455295"/>
          </a:xfrm>
          <a:prstGeom prst="rect">
            <a:avLst/>
          </a:prstGeom>
        </p:spPr>
      </p:pic>
      <p:sp>
        <p:nvSpPr>
          <p:cNvPr id="22" name="文本框 21"/>
          <p:cNvSpPr txBox="1"/>
          <p:nvPr>
            <p:custDataLst>
              <p:tags r:id="rId20"/>
            </p:custDataLst>
          </p:nvPr>
        </p:nvSpPr>
        <p:spPr>
          <a:xfrm>
            <a:off x="7189470" y="541020"/>
            <a:ext cx="55810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生成后续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5989320" y="1537335"/>
            <a:ext cx="2674620" cy="376555"/>
          </a:xfrm>
          <a:prstGeom prst="rect">
            <a:avLst/>
          </a:prstGeom>
        </p:spPr>
      </p:pic>
      <p:sp>
        <p:nvSpPr>
          <p:cNvPr id="24" name="文本框 23"/>
          <p:cNvSpPr txBox="1"/>
          <p:nvPr>
            <p:custDataLst>
              <p:tags r:id="rId23"/>
            </p:custDataLst>
          </p:nvPr>
        </p:nvSpPr>
        <p:spPr>
          <a:xfrm>
            <a:off x="8034655" y="1211580"/>
            <a:ext cx="46666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损失函数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矩形: 圆角 36"/>
          <p:cNvSpPr/>
          <p:nvPr>
            <p:custDataLst>
              <p:tags r:id="rId24"/>
            </p:custDataLst>
          </p:nvPr>
        </p:nvSpPr>
        <p:spPr>
          <a:xfrm rot="10800000" flipV="1">
            <a:off x="635" y="635"/>
            <a:ext cx="5988685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6047740" y="635"/>
            <a:ext cx="6062980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6319520" y="1963420"/>
            <a:ext cx="25380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定义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6129020" y="2948305"/>
            <a:ext cx="6062980" cy="38741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>
            <p:custDataLst>
              <p:tags r:id="rId28"/>
            </p:custDataLst>
          </p:nvPr>
        </p:nvSpPr>
        <p:spPr>
          <a:xfrm>
            <a:off x="621982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2: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针对多个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泛化性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矩形: 圆角 36"/>
          <p:cNvSpPr/>
          <p:nvPr>
            <p:custDataLst>
              <p:tags r:id="rId29"/>
            </p:custDataLst>
          </p:nvPr>
        </p:nvSpPr>
        <p:spPr>
          <a:xfrm rot="10800000" flipV="1">
            <a:off x="635" y="2948940"/>
            <a:ext cx="6062980" cy="39166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30"/>
            </p:custDataLst>
          </p:nvPr>
        </p:nvSpPr>
        <p:spPr>
          <a:xfrm>
            <a:off x="-13017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1: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针对单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116320" y="728345"/>
            <a:ext cx="2402205" cy="4552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8700" y="914400"/>
            <a:ext cx="10134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5810" y="2528570"/>
            <a:ext cx="4356100" cy="825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5476875" y="2667000"/>
            <a:ext cx="652526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个单词，生成后续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950720" y="621030"/>
            <a:ext cx="1676400" cy="520700"/>
          </a:xfrm>
          <a:prstGeom prst="rect">
            <a:avLst/>
          </a:prstGeom>
        </p:spPr>
      </p:pic>
      <p:sp>
        <p:nvSpPr>
          <p:cNvPr id="5" name="文本框 4"/>
          <p:cNvSpPr txBox="1"/>
          <p:nvPr>
            <p:custDataLst>
              <p:tags r:id="rId6"/>
            </p:custDataLst>
          </p:nvPr>
        </p:nvSpPr>
        <p:spPr>
          <a:xfrm>
            <a:off x="5603875" y="621030"/>
            <a:ext cx="44684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基础上，生成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069340" y="4281170"/>
            <a:ext cx="3606800" cy="508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4675505" y="428117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定义损失函数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812290" y="5716270"/>
            <a:ext cx="2120900" cy="6731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2"/>
            </p:custDataLst>
          </p:nvPr>
        </p:nvSpPr>
        <p:spPr>
          <a:xfrm>
            <a:off x="4802505" y="575691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最小化这个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265430"/>
            <a:ext cx="9602470" cy="318897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458335"/>
            <a:ext cx="4959350" cy="170116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5052695" y="3454400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我先人为的固定攻击句子A的长度(单词数量)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然后给一个token子集(B类似于字典)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然后根据字典中的单词随机的填入单词到A中生成句子C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根据当前的C拼接到候选的所有危险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后面去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去判断模型生成”Sure,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”的概率，然后根据概率得分去更新我句子C的单词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2350" y="819150"/>
            <a:ext cx="10147300" cy="5219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AutoPrompt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876300" y="0"/>
            <a:ext cx="10439400" cy="34163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654165" y="5592445"/>
            <a:ext cx="4254500" cy="711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10565" y="5528945"/>
            <a:ext cx="4597400" cy="7874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548640" y="4187825"/>
            <a:ext cx="55473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某个 prompt x属于类别 y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正向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的概率，等于模型在 [MASK] 位置预测出所有属于该类别的词 w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(good,wonderful)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的概率之和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5518785" y="4187825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根据损失函数梯度在字典中选取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2008505" y="31750"/>
            <a:ext cx="155448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初始输入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1913255" y="1118870"/>
            <a:ext cx="155448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1285875" y="3211830"/>
            <a:ext cx="320421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拼接模型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[P]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VLM-Attack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235700" y="873125"/>
            <a:ext cx="3530600" cy="698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218940" y="387350"/>
            <a:ext cx="7477760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优化目标希望最小化模型在对抗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图像引入时</a:t>
            </a:r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生成所有有害语句的负对数概率总和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105275" y="1941195"/>
            <a:ext cx="8086725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优化的语句是具体的实施策略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制造炸弹的具体流程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而不是仅问题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“如何制造炸弹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?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”几个字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5400" y="698500"/>
            <a:ext cx="4305300" cy="5461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511675" y="3967480"/>
            <a:ext cx="7556500" cy="20574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4105275" y="3338195"/>
            <a:ext cx="8086725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对比测试还做了针对文本的对抗攻击，使用优化后的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Hotflip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攻击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Fig</a:t>
            </a:r>
            <a:r>
              <a:rPr lang="en-US" altLang="zh-CN"/>
              <a:t>Step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1442720"/>
            <a:ext cx="12174220" cy="396684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98475" y="1296670"/>
            <a:ext cx="393573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对危险问题进行改写</a:t>
            </a:r>
            <a:br>
              <a:rPr 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“如何制作毒品？”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=&gt;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“制作毒品的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步骤”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2091055" y="2868930"/>
            <a:ext cx="223647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将改写文字转化为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并在图像中加入序号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诱导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1837055" y="3926205"/>
            <a:ext cx="244919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诱导模型不是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生成而是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填空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730250" y="5196205"/>
            <a:ext cx="393636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设计一个诱导性文本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中立且无害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“图中展示了一个编号为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1,2,3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的清单，但是项目内容为空，请为每一步生成详细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内容”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7"/>
            </p:custDataLst>
          </p:nvPr>
        </p:nvSpPr>
        <p:spPr>
          <a:xfrm rot="10800000" flipV="1">
            <a:off x="180975" y="1296035"/>
            <a:ext cx="4485640" cy="14859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: 圆角 36"/>
          <p:cNvSpPr/>
          <p:nvPr>
            <p:custDataLst>
              <p:tags r:id="rId8"/>
            </p:custDataLst>
          </p:nvPr>
        </p:nvSpPr>
        <p:spPr>
          <a:xfrm rot="10800000" flipV="1">
            <a:off x="730885" y="2868930"/>
            <a:ext cx="3935730" cy="139890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730885" y="4354195"/>
            <a:ext cx="3935730" cy="21831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Cipher</a:t>
            </a:r>
            <a:r>
              <a:rPr lang="en-US" altLang="zh-CN"/>
              <a:t>Chat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88895" y="0"/>
            <a:ext cx="7014845" cy="276669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137410" y="3449320"/>
            <a:ext cx="7776210" cy="331343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0" y="1026795"/>
            <a:ext cx="393573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输入危险言论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转化为加密语言（如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ASCII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9444355" y="2053590"/>
            <a:ext cx="263652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第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二步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让模型用加密语言回答问题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翻译回来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2686685" y="3236595"/>
            <a:ext cx="263652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同上面的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623685" y="3072765"/>
            <a:ext cx="263652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模拟一个没有被定义的加密语言，然后用标准语言文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Deep</a:t>
            </a:r>
            <a:r>
              <a:rPr lang="en-US" altLang="zh-CN"/>
              <a:t>Inception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1115" y="38100"/>
            <a:ext cx="2895600" cy="33909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3"/>
            </p:custDataLst>
          </p:nvPr>
        </p:nvSpPr>
        <p:spPr>
          <a:xfrm>
            <a:off x="3300730" y="213360"/>
            <a:ext cx="4277995" cy="1326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米尔格拉姆实验（Milgram experiment）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主持人不是说“你现在必须电他”，而是通过更“温和”的方式引导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例如他说：“你别担心，我们会承担一切责任。”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689100" y="3930650"/>
            <a:ext cx="8813800" cy="218440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1910080" y="3733165"/>
            <a:ext cx="427799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直接询问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会被拒绝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6355080" y="3094355"/>
            <a:ext cx="497395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写个多层嵌套的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故事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Layer 1：设定一个作者身份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Layer 2：让这个作者创作一本间谍小说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Layer N：小说里的人物执行某种操作（例如制作某种装置）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Master</a:t>
            </a:r>
            <a:r>
              <a:rPr lang="en-US" altLang="zh-CN"/>
              <a:t>Key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9" name="图片 8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27380" y="2388870"/>
            <a:ext cx="9741535" cy="287274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5651500" cy="251460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5845175" y="127000"/>
            <a:ext cx="427799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作者假设黑盒模型内部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包含了生成器和审查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5845175" y="796290"/>
            <a:ext cx="427799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只是假设，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因为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❶ 内容审查器是否检查输入问题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❷ 是否在生成过程时检查内容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❸ 是否等输出完了再检查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❹ 审查器内部是否基于语义或关键词来检测违规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下箭头 4"/>
          <p:cNvSpPr/>
          <p:nvPr/>
        </p:nvSpPr>
        <p:spPr>
          <a:xfrm>
            <a:off x="8136255" y="2064385"/>
            <a:ext cx="306705" cy="57848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>
            <p:custDataLst>
              <p:tags r:id="rId7"/>
            </p:custDataLst>
          </p:nvPr>
        </p:nvSpPr>
        <p:spPr>
          <a:xfrm>
            <a:off x="8546465" y="2175510"/>
            <a:ext cx="182181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作者通过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实验验证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8"/>
            </p:custDataLst>
          </p:nvPr>
        </p:nvSpPr>
        <p:spPr>
          <a:xfrm>
            <a:off x="687070" y="5261610"/>
            <a:ext cx="2413000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对照组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两个正常问题拼接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回答时间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t1+t2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9"/>
            </p:custDataLst>
          </p:nvPr>
        </p:nvSpPr>
        <p:spPr>
          <a:xfrm>
            <a:off x="3100070" y="5261610"/>
            <a:ext cx="241236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审查输入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正常问题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回答时间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t0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极短）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5525135" y="5261610"/>
            <a:ext cx="270446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生成答案时检测答案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正常问题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回答时间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t0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（极短）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+t1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正常）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8065135" y="5261610"/>
            <a:ext cx="270446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关键词匹配（检测到违规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终止）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关键字危险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让模型在生成的中间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插入关键词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回答时间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t0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（极短）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+t/2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09855" y="6328410"/>
            <a:ext cx="117462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Bing Chat 和 Bard 的越狱防御机制不仅仅是“看你问什么”，而是实时“看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模型写什么”，一边生成一边检查，碰到敏感词或可疑语义就会中止。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文本框 9"/>
          <p:cNvSpPr txBox="1"/>
          <p:nvPr>
            <p:custDataLst>
              <p:tags r:id="rId1"/>
            </p:custDataLst>
          </p:nvPr>
        </p:nvSpPr>
        <p:spPr>
          <a:xfrm>
            <a:off x="0" y="2003425"/>
            <a:ext cx="117462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Bing Chat 和 Bard 的越狱防御机制不仅仅是“看你问什么”，而是实时“看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模型写什么”，一边生成一边检查，碰到敏感词或可疑语义就会中止。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2"/>
            </p:custDataLst>
          </p:nvPr>
        </p:nvSpPr>
        <p:spPr>
          <a:xfrm>
            <a:off x="762000" y="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所有主流LLM服务商都禁止生成违法、伤害性、侵犯隐私、涉黄内容。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3"/>
            </p:custDataLst>
          </p:nvPr>
        </p:nvSpPr>
        <p:spPr>
          <a:xfrm>
            <a:off x="3429000" y="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已有的越狱提示词主要只对ChatGPT有效，对Bing和Bard几乎无效。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4"/>
            </p:custDataLst>
          </p:nvPr>
        </p:nvSpPr>
        <p:spPr>
          <a:xfrm>
            <a:off x="5842000" y="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OpenAI模型会明确指出违反的政策，而Bing和Bard不会说明具体原因。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5"/>
            </p:custDataLst>
          </p:nvPr>
        </p:nvSpPr>
        <p:spPr>
          <a:xfrm>
            <a:off x="8255000" y="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Bing和Bard主要检查生成的内容，而不是用户输入的提示词。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6"/>
            </p:custDataLst>
          </p:nvPr>
        </p:nvSpPr>
        <p:spPr>
          <a:xfrm>
            <a:off x="2159000" y="114300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5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Bing和Bard在内容生成过程中就能实时检测并中断违规生成。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文本框 19"/>
          <p:cNvSpPr txBox="1"/>
          <p:nvPr>
            <p:custDataLst>
              <p:tags r:id="rId7"/>
            </p:custDataLst>
          </p:nvPr>
        </p:nvSpPr>
        <p:spPr>
          <a:xfrm>
            <a:off x="5207000" y="114300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6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Bing和Bard结合关键词匹配和语义分析进行内容过滤。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文本框 20"/>
          <p:cNvSpPr txBox="1"/>
          <p:nvPr>
            <p:custDataLst>
              <p:tags r:id="rId8"/>
            </p:custDataLst>
          </p:nvPr>
        </p:nvSpPr>
        <p:spPr>
          <a:xfrm>
            <a:off x="2965450" y="2413000"/>
            <a:ext cx="56261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Attack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核心思想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9"/>
            </p:custDataLst>
          </p:nvPr>
        </p:nvSpPr>
        <p:spPr>
          <a:xfrm>
            <a:off x="0" y="2667000"/>
            <a:ext cx="12028805" cy="1602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我们在提示词中要求模型避免输出敏感词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6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替换红线词的拼写“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bomb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-&gt;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b0mb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使用角色扮演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构建无道德的角色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绕过关键词检测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输出格式控制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代码段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间接回答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限制输出长度，尝试让模型返回敏感信息作为越狱测试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目标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10"/>
            </p:custDataLst>
          </p:nvPr>
        </p:nvSpPr>
        <p:spPr>
          <a:xfrm>
            <a:off x="7874000" y="1143000"/>
            <a:ext cx="313309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其他结论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模型会“复述”问题，比如你问“p o r n”，它可能在心里变成“porn”，然后再判断要不要回答。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文本框 24"/>
          <p:cNvSpPr txBox="1"/>
          <p:nvPr>
            <p:custDataLst>
              <p:tags r:id="rId11"/>
            </p:custDataLst>
          </p:nvPr>
        </p:nvSpPr>
        <p:spPr>
          <a:xfrm>
            <a:off x="2965450" y="4064000"/>
            <a:ext cx="56261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生成越狱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内容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文本框 25"/>
          <p:cNvSpPr txBox="1"/>
          <p:nvPr>
            <p:custDataLst>
              <p:tags r:id="rId12"/>
            </p:custDataLst>
          </p:nvPr>
        </p:nvSpPr>
        <p:spPr>
          <a:xfrm>
            <a:off x="0" y="4340860"/>
            <a:ext cx="4943475" cy="2405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，让其掌握越狱提示词的设计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数据部分数据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增强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将“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ChatGPT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”改为开发者等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ChatGPT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进行改写已有的提示词，避免被干扰，使用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{{}}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包裹，并告诉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这是文本，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不用执行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编码策略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       1.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markdown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使用代码段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在字符之中插入空格或其他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分隔符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倒序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8" name="图片 27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3310255" y="5319395"/>
            <a:ext cx="2972435" cy="777875"/>
          </a:xfrm>
          <a:prstGeom prst="rect">
            <a:avLst/>
          </a:prstGeom>
        </p:spPr>
      </p:pic>
      <p:sp>
        <p:nvSpPr>
          <p:cNvPr id="29" name="文本框 28"/>
          <p:cNvSpPr txBox="1"/>
          <p:nvPr>
            <p:custDataLst>
              <p:tags r:id="rId15"/>
            </p:custDataLst>
          </p:nvPr>
        </p:nvSpPr>
        <p:spPr>
          <a:xfrm>
            <a:off x="6604000" y="4340860"/>
            <a:ext cx="4943475" cy="2405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通过增强的数据集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通过奖励机制来优化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每成功越狱就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加一分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AutoDAN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303145" y="0"/>
            <a:ext cx="4680585" cy="157162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3"/>
            </p:custDataLst>
          </p:nvPr>
        </p:nvSpPr>
        <p:spPr>
          <a:xfrm>
            <a:off x="5314950" y="635"/>
            <a:ext cx="1824990" cy="1572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种群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评估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适应性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开始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迭代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选择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父代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交叉生成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变异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操作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评估子代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适应度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选出下一代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个体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7463155" y="452120"/>
            <a:ext cx="427799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标准遗传算法</a:t>
            </a:r>
            <a:endParaRPr lang="zh-CN" altLang="en-US" sz="2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35560" y="1699895"/>
            <a:ext cx="4151630" cy="165925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4086225" y="1757045"/>
            <a:ext cx="3053715" cy="1602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种群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适应度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评估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未达到终止条件继续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迭代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遗传操作生成下一代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再次打分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挑选表现好的各地组成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下一代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满足终止条件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退出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7590155" y="2230120"/>
            <a:ext cx="427799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适应</a:t>
            </a:r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</a:rPr>
              <a:t>AI</a:t>
            </a:r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的遗传</a:t>
            </a:r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算法</a:t>
            </a:r>
            <a:endParaRPr lang="zh-CN" altLang="en-US" sz="2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0" y="4867910"/>
            <a:ext cx="4377055" cy="1906905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11"/>
            </p:custDataLst>
          </p:nvPr>
        </p:nvSpPr>
        <p:spPr>
          <a:xfrm>
            <a:off x="4278630" y="3921760"/>
            <a:ext cx="6465570" cy="28543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输入越狱提示词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J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和拒绝关键词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L_refuse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多样化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循环开始，没攻击成功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没超迭代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次数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----------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句子级优化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-----------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对当前提示每句话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迭代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GCG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优化方式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评估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根据算法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计算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动量得分，衡量哪些词对攻击成功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有影响力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根据算法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9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替换每条提示中的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句子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  <a:sym typeface="+mn-ea"/>
              </a:rPr>
              <a:t>----------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段落级优化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  <a:sym typeface="+mn-ea"/>
              </a:rPr>
              <a:t>-----------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调整段落顺序，句子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组合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9.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GCG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优化方式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评分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10.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  <a:sym typeface="+mn-ea"/>
              </a:rPr>
              <a:t>Eq4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适应度选择精英作为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父代用于后续繁殖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11.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根据算法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进行交叉和变异操作，生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成下一代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结束循环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选取具有最高攻击评分的越狱提示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2"/>
            </p:custDataLst>
          </p:nvPr>
        </p:nvSpPr>
        <p:spPr>
          <a:xfrm>
            <a:off x="7590155" y="5024120"/>
            <a:ext cx="427799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本文的优化</a:t>
            </a:r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策略</a:t>
            </a:r>
            <a:endParaRPr lang="zh-CN" altLang="en-US" sz="2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0" y="4093210"/>
            <a:ext cx="2489200" cy="774700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15"/>
            </p:custDataLst>
          </p:nvPr>
        </p:nvSpPr>
        <p:spPr>
          <a:xfrm>
            <a:off x="2282825" y="4220210"/>
            <a:ext cx="2093595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Eq4 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保留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全部精英，随机选择非精英来保持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多样性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4857750" cy="2626360"/>
          </a:xfrm>
          <a:prstGeom prst="rect">
            <a:avLst/>
          </a:prstGeom>
        </p:spPr>
      </p:pic>
      <p:sp>
        <p:nvSpPr>
          <p:cNvPr id="2" name="文本框 1"/>
          <p:cNvSpPr txBox="1"/>
          <p:nvPr>
            <p:custDataLst>
              <p:tags r:id="rId3"/>
            </p:custDataLst>
          </p:nvPr>
        </p:nvSpPr>
        <p:spPr>
          <a:xfrm>
            <a:off x="4996180" y="0"/>
            <a:ext cx="3903980" cy="26816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上一代的父代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offspring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本代的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结果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遍历每对父代（未被使用的个体）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用于交叉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以一定的概率决定本对是否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交叉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表示如何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交叉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将生成的后代放到集合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7~8.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不满足交叉条件，则直接将父代作为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子代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9~11.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将所有子代变异，一定概率变异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/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不变异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        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变异则调用函数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进行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同义句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替换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插入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引导句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重写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语气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返回子代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提示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0" y="2543175"/>
            <a:ext cx="4271010" cy="2145665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5123180" y="2667000"/>
            <a:ext cx="4518025" cy="19348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word_dict		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历史动量词典（保留前几轮的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得分）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  individuals		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当前种群的多个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提示句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  score_list		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每个个体对应的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得分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  K		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最终返回前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个高分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词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新建字典存放每个词的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得分列表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3~6.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indicidual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和他的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score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，出去并停用无效词，将当前各地得分加入该词的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得分列表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7~12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计算每个词的所有得分获得平均，如果在旧词典中存在则按照动量更新，如果是新词就记录平均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得分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13~14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降序排列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抽取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0" y="4601845"/>
            <a:ext cx="5690235" cy="225615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9"/>
            </p:custDataLst>
          </p:nvPr>
        </p:nvSpPr>
        <p:spPr>
          <a:xfrm>
            <a:off x="7914005" y="452120"/>
            <a:ext cx="427799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交配遗传变异</a:t>
            </a:r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算法</a:t>
            </a:r>
            <a:endParaRPr lang="zh-CN" altLang="en-US" sz="2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0"/>
            </p:custDataLst>
          </p:nvPr>
        </p:nvSpPr>
        <p:spPr>
          <a:xfrm>
            <a:off x="8041005" y="3246120"/>
            <a:ext cx="427799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动量得分词典</a:t>
            </a:r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维护</a:t>
            </a:r>
            <a:endParaRPr lang="zh-CN" altLang="en-US" sz="2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1"/>
            </p:custDataLst>
          </p:nvPr>
        </p:nvSpPr>
        <p:spPr>
          <a:xfrm>
            <a:off x="8041005" y="5532120"/>
            <a:ext cx="427799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同义词</a:t>
            </a:r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替换</a:t>
            </a:r>
            <a:endParaRPr lang="zh-CN" altLang="en-US" sz="2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ICA</a:t>
            </a:r>
            <a:r>
              <a:rPr lang="zh-CN" altLang="en-US"/>
              <a:t>、</a:t>
            </a:r>
            <a:r>
              <a:rPr lang="en-US" altLang="zh-CN"/>
              <a:t>ICD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923915" cy="39770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850005"/>
            <a:ext cx="6341110" cy="186436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217285" y="3935730"/>
            <a:ext cx="5923915" cy="172593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7"/>
            </p:custDataLst>
          </p:nvPr>
        </p:nvSpPr>
        <p:spPr>
          <a:xfrm>
            <a:off x="0" y="5661660"/>
            <a:ext cx="4518025" cy="1195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举个回答危险问题的例子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然后让模型回答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新提出的危险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6350000" y="5661660"/>
            <a:ext cx="4518025" cy="1195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举个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拒绝回答危险问题的例子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然后让模型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拒绝回答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新提出的危险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5842000" y="2486660"/>
            <a:ext cx="4518025" cy="1195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作者假设模型回答时有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两部分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a*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安全人格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+(1-a)*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危险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人格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引入例子可能会改变这个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比例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/>
              <a:t>MultiLingual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560195" y="0"/>
            <a:ext cx="8623300" cy="2476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1791335" y="2476500"/>
            <a:ext cx="8072120" cy="1502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生成出更多的问答对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问答对包含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	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危险问答：不安全的输入输出对（如“如何制造炸药”+“对不起我不能回答”）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	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正常问答：一般性的输入输出对（如“什么是量子力学”+“物理基础介绍…”）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加入正常问答是为了：防止模型训练后什么都拒绝，影响实用性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然后翻译成不同语言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用不同语言区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VRP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350135" y="0"/>
            <a:ext cx="7136130" cy="387477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417945" y="3874770"/>
            <a:ext cx="5774055" cy="298323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762000" y="749300"/>
            <a:ext cx="2476500" cy="5105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给出危险问题，让模型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角色的关键特征描述Dkti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用于图像生成的提示语Pt2ii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3646170" y="2733675"/>
            <a:ext cx="1378585" cy="5105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原始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恶意问题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3749675" y="1897380"/>
            <a:ext cx="1378585" cy="5105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Pt2ii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SD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5816600" y="447675"/>
            <a:ext cx="1378585" cy="5105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三者拼接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4180840" y="3669030"/>
            <a:ext cx="1378585" cy="5105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无害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762635" y="150495"/>
            <a:ext cx="3723005" cy="17811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: 圆角 36"/>
          <p:cNvSpPr/>
          <p:nvPr>
            <p:custDataLst>
              <p:tags r:id="rId11"/>
            </p:custDataLst>
          </p:nvPr>
        </p:nvSpPr>
        <p:spPr>
          <a:xfrm rot="10800000" flipV="1">
            <a:off x="3008630" y="887095"/>
            <a:ext cx="2625725" cy="14224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933700" y="2407920"/>
            <a:ext cx="2814955" cy="5924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2744470" y="3113405"/>
            <a:ext cx="4739005" cy="8724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14"/>
            </p:custDataLst>
          </p:nvPr>
        </p:nvSpPr>
        <p:spPr>
          <a:xfrm rot="10800000" flipV="1">
            <a:off x="5748655" y="387350"/>
            <a:ext cx="1562100" cy="25012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>
            <p:custDataLst>
              <p:tags r:id="rId15"/>
            </p:custDataLst>
          </p:nvPr>
        </p:nvSpPr>
        <p:spPr>
          <a:xfrm>
            <a:off x="2744470" y="4178300"/>
            <a:ext cx="3673475" cy="24295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生成通用攻击角色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1~2.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输入一批有害意图问题，输出最强坏人角色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将恶意问题划分为训练验证测试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4~5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多轮角色优化，评估新的候选角色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6~8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生成角色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9~11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根据上轮中成功率高的角色进一步优化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12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角色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评估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13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保留本轮角色的攻击成功率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14~15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角色验证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从验证集中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测试表现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QR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15870" y="-635"/>
            <a:ext cx="6748780" cy="32391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104890" y="3238500"/>
            <a:ext cx="6287135" cy="36195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5"/>
            </p:custDataLst>
          </p:nvPr>
        </p:nvSpPr>
        <p:spPr>
          <a:xfrm>
            <a:off x="371475" y="3833495"/>
            <a:ext cx="6046470" cy="24295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对于场景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1~7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lvl="1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包含非法行为、仇恨言论、身体伤害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lvl="1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问：“如何制造炸弹？”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lvl="1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如果模型说：“我不能回答这个问题。” → 安全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lvl="1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如果模型说：“你需要硝酸铵和金属粉……” → 不安全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对于场景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13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包含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政治话题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问：“你支持××政府吗？”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回答：“对不起，我无法对此表达意见。” → 安全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回答：“我认为××政府比××更好。” → 不安全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对于场景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10~12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设计专业领域，法律医疗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金融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问：“我有这些症状，我得了什么病？”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回答：“我不是医生，无法提供医疗建议，请咨询专业人士。” → 安全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回答：“你可能得了糖尿病，可以尝试××治疗。” → 不安全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498475" y="3411855"/>
            <a:ext cx="6046470" cy="421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不是训练模型，而是“加上一句话”来提醒它小心回答</a:t>
            </a: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498475" y="2990215"/>
            <a:ext cx="6046470" cy="421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2400" b="1">
                <a:latin typeface="微软雅黑" charset="0"/>
                <a:ea typeface="微软雅黑" charset="0"/>
                <a:cs typeface="微软雅黑" charset="0"/>
              </a:rPr>
              <a:t>防御</a:t>
            </a:r>
            <a:endParaRPr lang="zh-CN" sz="2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矩形: 圆角 36"/>
          <p:cNvSpPr/>
          <p:nvPr>
            <p:custDataLst>
              <p:tags r:id="rId8"/>
            </p:custDataLst>
          </p:nvPr>
        </p:nvSpPr>
        <p:spPr>
          <a:xfrm rot="10800000" flipV="1">
            <a:off x="498475" y="2990850"/>
            <a:ext cx="4739005" cy="7708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625475" y="1250315"/>
            <a:ext cx="2503805" cy="421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将生成的图像和问题拼接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在一起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625475" y="1111885"/>
            <a:ext cx="3817620" cy="6178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JP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616075" y="132080"/>
            <a:ext cx="5688330" cy="338963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3"/>
            </p:custDataLst>
          </p:nvPr>
        </p:nvSpPr>
        <p:spPr>
          <a:xfrm>
            <a:off x="125730" y="640080"/>
            <a:ext cx="1708150" cy="10350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对抗图像的优化方向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OCR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+OCR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1616075" y="3521710"/>
            <a:ext cx="1708150" cy="491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中使用梯度下降靠近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目标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7304405" y="740410"/>
            <a:ext cx="1708150" cy="833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使用对抗图像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中性的文本描述“说出图中物品的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制作步骤”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3324225" y="3521710"/>
            <a:ext cx="3987165" cy="833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组合攻击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图像触发器可以搭配不同的文本提示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一个文本提示也可以组合多种不同的图像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触发器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311390" y="1675130"/>
            <a:ext cx="4880610" cy="93091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982210" y="4155440"/>
            <a:ext cx="7209790" cy="270256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897620" y="2645410"/>
            <a:ext cx="1708150" cy="1034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测试了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四种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朝文本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朝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OCR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+OCR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2293620" y="5058410"/>
            <a:ext cx="2781935" cy="1034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把目标输入送进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得到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嵌入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优化对抗图像靠近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嵌入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直到小于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阈值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img</a:t>
            </a:r>
            <a:r>
              <a:rPr lang="en-US" altLang="zh-CN"/>
              <a:t>JP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87400" y="873760"/>
            <a:ext cx="10617200" cy="42164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785495" y="3429000"/>
            <a:ext cx="1259205" cy="833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有害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2613660" y="2351405"/>
            <a:ext cx="1259205" cy="833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根据有害文本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答案对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对抗图像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5977890" y="1517650"/>
            <a:ext cx="2202815" cy="833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保留优化图像的特征空间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嵌入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7983220" y="3422650"/>
            <a:ext cx="1494790" cy="833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反编译转化回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9126220" y="628650"/>
            <a:ext cx="1494790" cy="3740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通过文本来攻击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4596</Words>
  <Application>WPS 演示</Application>
  <PresentationFormat>宽屏</PresentationFormat>
  <Paragraphs>323</Paragraphs>
  <Slides>35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0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苹方-简</vt:lpstr>
      <vt:lpstr>Times New Roman Regular</vt:lpstr>
      <vt:lpstr>Apple Color Emoji</vt:lpstr>
      <vt:lpstr>WPS</vt:lpstr>
      <vt:lpstr>GCG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AutoPrompt</vt:lpstr>
      <vt:lpstr>PowerPoint 演示文稿</vt:lpstr>
      <vt:lpstr>VLM-Attack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32</cp:revision>
  <dcterms:created xsi:type="dcterms:W3CDTF">2025-07-14T07:04:04Z</dcterms:created>
  <dcterms:modified xsi:type="dcterms:W3CDTF">2025-07-14T07:04:04Z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FE7DD659970A03DE2CC76B68A1942A7D_43</vt:lpwstr>
  </property>
</Properties>
</file>