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256" r:id="rId3"/>
    <p:sldId id="258" r:id="rId5"/>
    <p:sldId id="257" r:id="rId6"/>
    <p:sldId id="259" r:id="rId7"/>
    <p:sldId id="260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78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image" Target="../media/image4.png"/><Relationship Id="rId7" Type="http://schemas.openxmlformats.org/officeDocument/2006/relationships/tags" Target="../tags/tag7.xml"/><Relationship Id="rId6" Type="http://schemas.openxmlformats.org/officeDocument/2006/relationships/image" Target="../media/image3.png"/><Relationship Id="rId5" Type="http://schemas.openxmlformats.org/officeDocument/2006/relationships/tags" Target="../tags/tag6.xml"/><Relationship Id="rId46" Type="http://schemas.openxmlformats.org/officeDocument/2006/relationships/slideLayout" Target="../slideLayouts/slideLayout1.xml"/><Relationship Id="rId45" Type="http://schemas.openxmlformats.org/officeDocument/2006/relationships/tags" Target="../tags/tag37.xml"/><Relationship Id="rId44" Type="http://schemas.openxmlformats.org/officeDocument/2006/relationships/tags" Target="../tags/tag36.xml"/><Relationship Id="rId43" Type="http://schemas.openxmlformats.org/officeDocument/2006/relationships/image" Target="../media/image11.png"/><Relationship Id="rId42" Type="http://schemas.openxmlformats.org/officeDocument/2006/relationships/tags" Target="../tags/tag35.xml"/><Relationship Id="rId41" Type="http://schemas.openxmlformats.org/officeDocument/2006/relationships/tags" Target="../tags/tag34.xml"/><Relationship Id="rId40" Type="http://schemas.openxmlformats.org/officeDocument/2006/relationships/image" Target="../media/image10.png"/><Relationship Id="rId4" Type="http://schemas.openxmlformats.org/officeDocument/2006/relationships/image" Target="../media/image2.png"/><Relationship Id="rId39" Type="http://schemas.openxmlformats.org/officeDocument/2006/relationships/tags" Target="../tags/tag33.xml"/><Relationship Id="rId38" Type="http://schemas.openxmlformats.org/officeDocument/2006/relationships/tags" Target="../tags/tag32.xml"/><Relationship Id="rId37" Type="http://schemas.openxmlformats.org/officeDocument/2006/relationships/image" Target="../media/image9.png"/><Relationship Id="rId36" Type="http://schemas.openxmlformats.org/officeDocument/2006/relationships/tags" Target="../tags/tag31.xml"/><Relationship Id="rId35" Type="http://schemas.openxmlformats.org/officeDocument/2006/relationships/tags" Target="../tags/tag30.xml"/><Relationship Id="rId34" Type="http://schemas.openxmlformats.org/officeDocument/2006/relationships/tags" Target="../tags/tag29.xml"/><Relationship Id="rId33" Type="http://schemas.openxmlformats.org/officeDocument/2006/relationships/tags" Target="../tags/tag28.xml"/><Relationship Id="rId32" Type="http://schemas.openxmlformats.org/officeDocument/2006/relationships/tags" Target="../tags/tag27.xml"/><Relationship Id="rId31" Type="http://schemas.openxmlformats.org/officeDocument/2006/relationships/image" Target="../media/image8.png"/><Relationship Id="rId30" Type="http://schemas.openxmlformats.org/officeDocument/2006/relationships/tags" Target="../tags/tag26.xml"/><Relationship Id="rId3" Type="http://schemas.openxmlformats.org/officeDocument/2006/relationships/tags" Target="../tags/tag5.xml"/><Relationship Id="rId29" Type="http://schemas.openxmlformats.org/officeDocument/2006/relationships/tags" Target="../tags/tag25.xml"/><Relationship Id="rId28" Type="http://schemas.openxmlformats.org/officeDocument/2006/relationships/tags" Target="../tags/tag24.xml"/><Relationship Id="rId27" Type="http://schemas.openxmlformats.org/officeDocument/2006/relationships/tags" Target="../tags/tag23.xml"/><Relationship Id="rId26" Type="http://schemas.openxmlformats.org/officeDocument/2006/relationships/tags" Target="../tags/tag22.xml"/><Relationship Id="rId25" Type="http://schemas.openxmlformats.org/officeDocument/2006/relationships/tags" Target="../tags/tag21.xml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tags" Target="../tags/tag18.xml"/><Relationship Id="rId21" Type="http://schemas.openxmlformats.org/officeDocument/2006/relationships/tags" Target="../tags/tag17.xml"/><Relationship Id="rId20" Type="http://schemas.openxmlformats.org/officeDocument/2006/relationships/tags" Target="../tags/tag16.xml"/><Relationship Id="rId2" Type="http://schemas.openxmlformats.org/officeDocument/2006/relationships/image" Target="../media/image1.png"/><Relationship Id="rId19" Type="http://schemas.openxmlformats.org/officeDocument/2006/relationships/tags" Target="../tags/tag15.xml"/><Relationship Id="rId18" Type="http://schemas.openxmlformats.org/officeDocument/2006/relationships/image" Target="../media/image7.png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image" Target="../media/image6.png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image" Target="../media/image5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image" Target="../media/image13.png"/><Relationship Id="rId3" Type="http://schemas.openxmlformats.org/officeDocument/2006/relationships/tags" Target="../tags/tag39.xml"/><Relationship Id="rId2" Type="http://schemas.openxmlformats.org/officeDocument/2006/relationships/image" Target="../media/image12.png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effectLst/>
              </a:rPr>
              <a:t>VAE</a:t>
            </a:r>
            <a:endParaRPr lang="en-US" altLang="zh-CN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: 圆角 36"/>
          <p:cNvSpPr/>
          <p:nvPr>
            <p:custDataLst>
              <p:tags r:id="rId1"/>
            </p:custDataLst>
          </p:nvPr>
        </p:nvSpPr>
        <p:spPr>
          <a:xfrm rot="10800000" flipV="1">
            <a:off x="180975" y="285115"/>
            <a:ext cx="6445250" cy="619379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991360" y="652780"/>
            <a:ext cx="319532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初始的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GPT-3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存在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回答不符合预期，风格混乱等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问题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3"/>
            </p:custDataLst>
          </p:nvPr>
        </p:nvCxnSpPr>
        <p:spPr>
          <a:xfrm flipV="1">
            <a:off x="5245100" y="1129665"/>
            <a:ext cx="0" cy="5810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620" y="5715"/>
            <a:ext cx="685800" cy="431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20" y="379095"/>
            <a:ext cx="698500" cy="406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620" y="1737995"/>
            <a:ext cx="749300" cy="3937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620" y="1306195"/>
            <a:ext cx="749300" cy="3302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620" y="856615"/>
            <a:ext cx="800100" cy="3810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11"/>
            </p:custDataLst>
          </p:nvPr>
        </p:nvSpPr>
        <p:spPr>
          <a:xfrm>
            <a:off x="17145" y="348615"/>
            <a:ext cx="5424805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我们认为对潜变量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的先验假设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(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在我不知道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的时候先猜一个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出来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)</a:t>
            </a:r>
            <a:b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通常是标准的正态分布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201295" y="102235"/>
            <a:ext cx="4068445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整张图像 x 在你学习的生成模型中出现的可能性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5015865" y="172085"/>
            <a:ext cx="2413000" cy="355600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5"/>
            </p:custDataLst>
          </p:nvPr>
        </p:nvSpPr>
        <p:spPr>
          <a:xfrm>
            <a:off x="7174865" y="84455"/>
            <a:ext cx="5037455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图像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生成的概率根据所有的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生成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的概率的积分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遍历所有可能的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z=[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灰色，坐着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],[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灰色，站着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]...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看看这些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哪些有概率能生成当前的图像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，求所有能生成的概率的积分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8705850" y="838835"/>
            <a:ext cx="3463290" cy="35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给定潜变量 z，生成图像 x 的概率 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*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 这个潜变量本身出现的概率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6647815" y="874395"/>
            <a:ext cx="2057400" cy="35560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9"/>
            </p:custDataLst>
          </p:nvPr>
        </p:nvSpPr>
        <p:spPr>
          <a:xfrm>
            <a:off x="539115" y="901065"/>
            <a:ext cx="5857875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图像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和潜变量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的联合发生概率，描述同时出现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和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这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对组合的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可能性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矩形: 圆角 36"/>
          <p:cNvSpPr/>
          <p:nvPr>
            <p:custDataLst>
              <p:tags r:id="rId20"/>
            </p:custDataLst>
          </p:nvPr>
        </p:nvSpPr>
        <p:spPr>
          <a:xfrm rot="10800000" flipV="1">
            <a:off x="28575" y="387985"/>
            <a:ext cx="4987290" cy="39370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: 圆角 36"/>
          <p:cNvSpPr/>
          <p:nvPr>
            <p:custDataLst>
              <p:tags r:id="rId21"/>
            </p:custDataLst>
          </p:nvPr>
        </p:nvSpPr>
        <p:spPr>
          <a:xfrm rot="10800000" flipV="1">
            <a:off x="28575" y="6985"/>
            <a:ext cx="4987290" cy="39370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28575" y="1258570"/>
            <a:ext cx="7143115" cy="548640"/>
            <a:chOff x="45" y="1182"/>
            <a:chExt cx="11249" cy="864"/>
          </a:xfrm>
        </p:grpSpPr>
        <p:sp>
          <p:nvSpPr>
            <p:cNvPr id="11" name="文本框 10"/>
            <p:cNvSpPr txBox="1"/>
            <p:nvPr>
              <p:custDataLst>
                <p:tags r:id="rId22"/>
              </p:custDataLst>
            </p:nvPr>
          </p:nvSpPr>
          <p:spPr>
            <a:xfrm>
              <a:off x="252" y="1182"/>
              <a:ext cx="11042" cy="86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sz="1200" b="1">
                  <a:latin typeface="微软雅黑" charset="0"/>
                  <a:ea typeface="微软雅黑" charset="0"/>
                  <a:cs typeface="微软雅黑" charset="0"/>
                </a:rPr>
                <a:t>给定图像 x，在当前生成模型下，某个潜在变量 z 是“解释”这张图像的可能性的大小。</a:t>
              </a:r>
              <a:endParaRPr sz="1200" b="1">
                <a:latin typeface="微软雅黑" charset="0"/>
                <a:ea typeface="微软雅黑" charset="0"/>
                <a:cs typeface="微软雅黑" charset="0"/>
              </a:endParaRPr>
            </a:p>
            <a:p>
              <a:pPr algn="ctr"/>
              <a:r>
                <a:rPr sz="1200" b="1">
                  <a:latin typeface="微软雅黑" charset="0"/>
                  <a:ea typeface="微软雅黑" charset="0"/>
                  <a:cs typeface="微软雅黑" charset="0"/>
                </a:rPr>
                <a:t>给定这张猫的图片 x，</a:t>
              </a:r>
              <a:r>
                <a:rPr lang="zh-CN" sz="1200" b="1">
                  <a:latin typeface="微软雅黑" charset="0"/>
                  <a:ea typeface="微软雅黑" charset="0"/>
                  <a:cs typeface="微软雅黑" charset="0"/>
                </a:rPr>
                <a:t>如果要生成这张图的</a:t>
              </a:r>
              <a:r>
                <a:rPr sz="1200" b="1">
                  <a:latin typeface="微软雅黑" charset="0"/>
                  <a:ea typeface="微软雅黑" charset="0"/>
                  <a:cs typeface="微软雅黑" charset="0"/>
                </a:rPr>
                <a:t>潜在特征是 z =[灰色, 坐着] 的概率有多大</a:t>
              </a:r>
              <a:endParaRPr sz="1200" b="1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21" name="矩形: 圆角 36"/>
            <p:cNvSpPr/>
            <p:nvPr>
              <p:custDataLst>
                <p:tags r:id="rId23"/>
              </p:custDataLst>
            </p:nvPr>
          </p:nvSpPr>
          <p:spPr>
            <a:xfrm rot="10800000" flipV="1">
              <a:off x="45" y="1211"/>
              <a:ext cx="10424" cy="620"/>
            </a:xfrm>
            <a:prstGeom prst="roundRect">
              <a:avLst>
                <a:gd name="adj" fmla="val 10039"/>
              </a:avLst>
            </a:prstGeom>
            <a:noFill/>
            <a:ln w="38100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28575" y="1712595"/>
            <a:ext cx="7229475" cy="548640"/>
            <a:chOff x="45" y="1897"/>
            <a:chExt cx="11385" cy="864"/>
          </a:xfrm>
        </p:grpSpPr>
        <p:sp>
          <p:nvSpPr>
            <p:cNvPr id="12" name="文本框 11"/>
            <p:cNvSpPr txBox="1"/>
            <p:nvPr>
              <p:custDataLst>
                <p:tags r:id="rId24"/>
              </p:custDataLst>
            </p:nvPr>
          </p:nvSpPr>
          <p:spPr>
            <a:xfrm>
              <a:off x="52" y="1897"/>
              <a:ext cx="11379" cy="86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sz="1200" b="1">
                  <a:latin typeface="微软雅黑" charset="0"/>
                  <a:ea typeface="微软雅黑" charset="0"/>
                  <a:cs typeface="微软雅黑" charset="0"/>
                </a:rPr>
                <a:t>给定了潜在变量z，x是对应潜在变量z的表示的可能性大小</a:t>
              </a:r>
              <a:br>
                <a:rPr sz="1200" b="1">
                  <a:latin typeface="微软雅黑" charset="0"/>
                  <a:ea typeface="微软雅黑" charset="0"/>
                  <a:cs typeface="微软雅黑" charset="0"/>
                </a:rPr>
              </a:br>
              <a:r>
                <a:rPr lang="zh-CN" sz="1200" b="1">
                  <a:latin typeface="微软雅黑" charset="0"/>
                  <a:ea typeface="微软雅黑" charset="0"/>
                  <a:cs typeface="微软雅黑" charset="0"/>
                </a:rPr>
                <a:t>对于生成猫，假设</a:t>
              </a:r>
              <a:r>
                <a:rPr lang="en-US" altLang="zh-CN" sz="1200" b="1">
                  <a:latin typeface="微软雅黑" charset="0"/>
                  <a:ea typeface="微软雅黑" charset="0"/>
                  <a:cs typeface="微软雅黑" charset="0"/>
                </a:rPr>
                <a:t>z</a:t>
              </a:r>
              <a:r>
                <a:rPr lang="zh-CN" altLang="en-US" sz="1200" b="1">
                  <a:latin typeface="微软雅黑" charset="0"/>
                  <a:ea typeface="微软雅黑" charset="0"/>
                  <a:cs typeface="微软雅黑" charset="0"/>
                </a:rPr>
                <a:t>是毛色</a:t>
              </a:r>
              <a:r>
                <a:rPr lang="en-US" altLang="zh-CN" sz="1200" b="1">
                  <a:latin typeface="微软雅黑" charset="0"/>
                  <a:ea typeface="微软雅黑" charset="0"/>
                  <a:cs typeface="微软雅黑" charset="0"/>
                </a:rPr>
                <a:t>=</a:t>
              </a:r>
              <a:r>
                <a:rPr lang="zh-CN" altLang="en-US" sz="1200" b="1">
                  <a:latin typeface="微软雅黑" charset="0"/>
                  <a:ea typeface="微软雅黑" charset="0"/>
                  <a:cs typeface="微软雅黑" charset="0"/>
                </a:rPr>
                <a:t>灰色，姿势</a:t>
              </a:r>
              <a:r>
                <a:rPr lang="en-US" altLang="zh-CN" sz="1200" b="1">
                  <a:latin typeface="微软雅黑" charset="0"/>
                  <a:ea typeface="微软雅黑" charset="0"/>
                  <a:cs typeface="微软雅黑" charset="0"/>
                </a:rPr>
                <a:t>=</a:t>
              </a:r>
              <a:r>
                <a:rPr lang="zh-CN" altLang="en-US" sz="1200" b="1">
                  <a:latin typeface="微软雅黑" charset="0"/>
                  <a:ea typeface="微软雅黑" charset="0"/>
                  <a:cs typeface="微软雅黑" charset="0"/>
                </a:rPr>
                <a:t>坐着</a:t>
              </a:r>
              <a:r>
                <a:rPr lang="en-US" altLang="zh-CN" sz="1200" b="1">
                  <a:latin typeface="微软雅黑" charset="0"/>
                  <a:ea typeface="微软雅黑" charset="0"/>
                  <a:cs typeface="微软雅黑" charset="0"/>
                </a:rPr>
                <a:t>p(x|z)</a:t>
              </a:r>
              <a:r>
                <a:rPr lang="zh-CN" altLang="en-US" sz="1200" b="1">
                  <a:latin typeface="微软雅黑" charset="0"/>
                  <a:ea typeface="微软雅黑" charset="0"/>
                  <a:cs typeface="微软雅黑" charset="0"/>
                </a:rPr>
                <a:t>代表</a:t>
              </a:r>
              <a:r>
                <a:rPr lang="en-US" altLang="zh-CN" sz="1200" b="1">
                  <a:latin typeface="微软雅黑" charset="0"/>
                  <a:ea typeface="微软雅黑" charset="0"/>
                  <a:cs typeface="微软雅黑" charset="0"/>
                </a:rPr>
                <a:t>x</a:t>
              </a:r>
              <a:r>
                <a:rPr lang="zh-CN" altLang="en-US" sz="1200" b="1">
                  <a:latin typeface="微软雅黑" charset="0"/>
                  <a:ea typeface="微软雅黑" charset="0"/>
                  <a:cs typeface="微软雅黑" charset="0"/>
                </a:rPr>
                <a:t>这张图像是不是灰色坐着的猫</a:t>
              </a:r>
              <a:endParaRPr lang="zh-CN" altLang="en-US" sz="1200" b="1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22" name="矩形: 圆角 36"/>
            <p:cNvSpPr/>
            <p:nvPr>
              <p:custDataLst>
                <p:tags r:id="rId25"/>
              </p:custDataLst>
            </p:nvPr>
          </p:nvSpPr>
          <p:spPr>
            <a:xfrm rot="10800000" flipV="1">
              <a:off x="45" y="1911"/>
              <a:ext cx="10424" cy="620"/>
            </a:xfrm>
            <a:prstGeom prst="roundRect">
              <a:avLst>
                <a:gd name="adj" fmla="val 10039"/>
              </a:avLst>
            </a:prstGeom>
            <a:noFill/>
            <a:ln w="38100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3" name="矩形: 圆角 36"/>
          <p:cNvSpPr/>
          <p:nvPr>
            <p:custDataLst>
              <p:tags r:id="rId26"/>
            </p:custDataLst>
          </p:nvPr>
        </p:nvSpPr>
        <p:spPr>
          <a:xfrm rot="10800000" flipV="1">
            <a:off x="28575" y="840105"/>
            <a:ext cx="6619240" cy="39370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: 圆角 36"/>
          <p:cNvSpPr/>
          <p:nvPr>
            <p:custDataLst>
              <p:tags r:id="rId27"/>
            </p:custDataLst>
          </p:nvPr>
        </p:nvSpPr>
        <p:spPr>
          <a:xfrm rot="10800000" flipV="1">
            <a:off x="5015865" y="85090"/>
            <a:ext cx="7175500" cy="69659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: 圆角 36"/>
          <p:cNvSpPr/>
          <p:nvPr>
            <p:custDataLst>
              <p:tags r:id="rId28"/>
            </p:custDataLst>
          </p:nvPr>
        </p:nvSpPr>
        <p:spPr>
          <a:xfrm rot="10800000" flipV="1">
            <a:off x="6632575" y="840105"/>
            <a:ext cx="5536565" cy="39370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9"/>
            </p:custDataLst>
          </p:nvPr>
        </p:nvSpPr>
        <p:spPr>
          <a:xfrm>
            <a:off x="4531995" y="2602865"/>
            <a:ext cx="7680325" cy="1057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在模型的训练过程，我如果想根据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p(z|x)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（根据真实图像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取推断潜在变量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）是很困难的</a:t>
            </a:r>
            <a:b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所以想到构建一个神经网络，用更简单的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q(z|x)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去拟合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p(z|x)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取简化问题</a:t>
            </a:r>
            <a:b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我们使用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KL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散度来量化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q(z|x)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和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p(z|x)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是否靠近</a:t>
            </a:r>
            <a:b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KL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散度：横梁两个概率分布之间的差异，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KL=0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代表完全匹配，差别越大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KL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越大</a:t>
            </a:r>
            <a:endParaRPr lang="zh-CN" altLang="en-US" sz="14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33020" y="2303145"/>
            <a:ext cx="2171700" cy="2311400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32"/>
            </p:custDataLst>
          </p:nvPr>
        </p:nvSpPr>
        <p:spPr>
          <a:xfrm>
            <a:off x="1938020" y="2665095"/>
            <a:ext cx="2799715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实线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Dncoder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部分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根据生成分布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p(x|z)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生成图像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x</a:t>
            </a:r>
            <a:endParaRPr lang="en-US" altLang="zh-CN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1" name="文本框 30"/>
          <p:cNvSpPr txBox="1"/>
          <p:nvPr>
            <p:custDataLst>
              <p:tags r:id="rId33"/>
            </p:custDataLst>
          </p:nvPr>
        </p:nvSpPr>
        <p:spPr>
          <a:xfrm>
            <a:off x="1938020" y="3808095"/>
            <a:ext cx="2799715" cy="575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虚线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Encoder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部分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根据模型训练的变分分布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q(z|x)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生成分布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x</a:t>
            </a:r>
            <a:endParaRPr lang="en-US" altLang="zh-CN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2" name="文本框 31"/>
          <p:cNvSpPr txBox="1"/>
          <p:nvPr>
            <p:custDataLst>
              <p:tags r:id="rId34"/>
            </p:custDataLst>
          </p:nvPr>
        </p:nvSpPr>
        <p:spPr>
          <a:xfrm>
            <a:off x="6647815" y="1280160"/>
            <a:ext cx="5521325" cy="1057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生成过程分为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两步</a:t>
            </a:r>
            <a:endParaRPr lang="zh-CN" altLang="en-US" sz="14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1. 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先从先验分布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p(z)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中随机采样一个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z</a:t>
            </a:r>
            <a:endParaRPr lang="en-US" altLang="zh-CN" sz="14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2.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通过条件分布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p(x|z)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生成图像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x</a:t>
            </a:r>
            <a:b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真正控制生成过程的参数是未知的，</a:t>
            </a:r>
            <a:endParaRPr lang="en-US" altLang="zh-CN" sz="14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每个样本背后的潜变量 z^{(i)} 也是看不见的。我们只能看到结果 x，这正是我们需要解决的 推断问题。</a:t>
            </a:r>
            <a:endParaRPr lang="en-US" altLang="zh-CN" sz="14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35"/>
            </p:custDataLst>
          </p:nvPr>
        </p:nvSpPr>
        <p:spPr>
          <a:xfrm>
            <a:off x="795020" y="4656455"/>
            <a:ext cx="2799715" cy="330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损失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函数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34" name="图片 33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/>
          <a:stretch>
            <a:fillRect/>
          </a:stretch>
        </p:blipFill>
        <p:spPr>
          <a:xfrm>
            <a:off x="33020" y="5097145"/>
            <a:ext cx="4000500" cy="342900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38"/>
            </p:custDataLst>
          </p:nvPr>
        </p:nvSpPr>
        <p:spPr>
          <a:xfrm>
            <a:off x="160020" y="5545455"/>
            <a:ext cx="4577715" cy="548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最大化整个数据集在生成模型下出现的概率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由于样本独立同分布，可以把整体的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log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拆成对每个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log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之和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总体概率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=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样本概率值积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去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log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乘积变为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加和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4848225" y="5095875"/>
            <a:ext cx="5384800" cy="406400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41"/>
            </p:custDataLst>
          </p:nvPr>
        </p:nvSpPr>
        <p:spPr>
          <a:xfrm>
            <a:off x="4986020" y="5545455"/>
            <a:ext cx="4577715" cy="548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单个样本出现的概率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=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变分（神经网络）由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恢复到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和贝叶斯反推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恢复到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KL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散度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+ELBO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下界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用神经网络猜测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真实后验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39" name="图片 38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43"/>
          <a:stretch>
            <a:fillRect/>
          </a:stretch>
        </p:blipFill>
        <p:spPr>
          <a:xfrm>
            <a:off x="5015865" y="3557270"/>
            <a:ext cx="6451600" cy="546100"/>
          </a:xfrm>
          <a:prstGeom prst="rect">
            <a:avLst/>
          </a:prstGeom>
        </p:spPr>
      </p:pic>
      <p:sp>
        <p:nvSpPr>
          <p:cNvPr id="40" name="文本框 39"/>
          <p:cNvSpPr txBox="1"/>
          <p:nvPr>
            <p:custDataLst>
              <p:tags r:id="rId44"/>
            </p:custDataLst>
          </p:nvPr>
        </p:nvSpPr>
        <p:spPr>
          <a:xfrm>
            <a:off x="5621020" y="4021455"/>
            <a:ext cx="6283325" cy="548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第一项代表我们通过神经网络由图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恢复到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和真实的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之间的概率差距，越小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越接近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第二项代表我们从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恢复出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等于真实的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的概率，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越大越接近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1" name="右箭头 40"/>
          <p:cNvSpPr/>
          <p:nvPr/>
        </p:nvSpPr>
        <p:spPr>
          <a:xfrm>
            <a:off x="4267200" y="5213985"/>
            <a:ext cx="410845" cy="2413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右箭头 41"/>
          <p:cNvSpPr/>
          <p:nvPr>
            <p:custDataLst>
              <p:tags r:id="rId45"/>
            </p:custDataLst>
          </p:nvPr>
        </p:nvSpPr>
        <p:spPr>
          <a:xfrm rot="16200000">
            <a:off x="7893050" y="4633595"/>
            <a:ext cx="410845" cy="2413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VQ-VAE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426085"/>
            <a:ext cx="4053840" cy="17075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845425" y="723265"/>
            <a:ext cx="4346575" cy="1410335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5"/>
            </p:custDataLst>
          </p:nvPr>
        </p:nvSpPr>
        <p:spPr>
          <a:xfrm>
            <a:off x="626745" y="2301875"/>
            <a:ext cx="2799715" cy="575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传统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VAE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可能会存在无用的特征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表示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4101465" y="904875"/>
            <a:ext cx="3443605" cy="575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矢量量化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(VQ)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数据压缩技术，通过将输入数据映射到一组预先定义的离散编码矢量来实现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压缩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8186420" y="2456180"/>
            <a:ext cx="2799715" cy="575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VQ-VAE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压缩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无用特征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有助于学习更具语义的稀疏表示，避免了 VAE 中的模糊问题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612900" y="3630930"/>
            <a:ext cx="8966200" cy="31369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1047</Words>
  <Application>WPS 演示</Application>
  <PresentationFormat>宽屏</PresentationFormat>
  <Paragraphs>46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Elephant King。</cp:lastModifiedBy>
  <cp:revision>21</cp:revision>
  <dcterms:created xsi:type="dcterms:W3CDTF">2025-06-26T09:55:31Z</dcterms:created>
  <dcterms:modified xsi:type="dcterms:W3CDTF">2025-06-26T09:55:31Z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2052-6.4.0.8550</vt:lpwstr>
  </property>
  <property fmtid="{D5CDD505-2E9C-101B-9397-08002B2CF9AE}" pid="3" name="ICV">
    <vt:lpwstr>E9727397321A95D913195D68844F187C_43</vt:lpwstr>
  </property>
</Properties>
</file>