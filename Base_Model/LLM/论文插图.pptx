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090"/>
        <p:guide pos="38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image" Target="../media/image5.png"/><Relationship Id="rId24" Type="http://schemas.openxmlformats.org/officeDocument/2006/relationships/tags" Target="../tags/tag20.xml"/><Relationship Id="rId23" Type="http://schemas.openxmlformats.org/officeDocument/2006/relationships/image" Target="../media/image4.png"/><Relationship Id="rId22" Type="http://schemas.openxmlformats.org/officeDocument/2006/relationships/tags" Target="../tags/tag19.xml"/><Relationship Id="rId21" Type="http://schemas.openxmlformats.org/officeDocument/2006/relationships/image" Target="../media/image3.png"/><Relationship Id="rId20" Type="http://schemas.openxmlformats.org/officeDocument/2006/relationships/tags" Target="../tags/tag18.xml"/><Relationship Id="rId2" Type="http://schemas.openxmlformats.org/officeDocument/2006/relationships/image" Target="../media/image1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9.png"/><Relationship Id="rId7" Type="http://schemas.openxmlformats.org/officeDocument/2006/relationships/tags" Target="../tags/tag28.xml"/><Relationship Id="rId6" Type="http://schemas.openxmlformats.org/officeDocument/2006/relationships/image" Target="../media/image8.png"/><Relationship Id="rId5" Type="http://schemas.openxmlformats.org/officeDocument/2006/relationships/tags" Target="../tags/tag27.xml"/><Relationship Id="rId4" Type="http://schemas.openxmlformats.org/officeDocument/2006/relationships/image" Target="../media/image7.png"/><Relationship Id="rId3" Type="http://schemas.openxmlformats.org/officeDocument/2006/relationships/tags" Target="../tags/tag26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image" Target="../media/image6.png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image" Target="../media/image10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image" Target="../media/image12.png"/><Relationship Id="rId11" Type="http://schemas.openxmlformats.org/officeDocument/2006/relationships/tags" Target="../tags/tag51.xml"/><Relationship Id="rId10" Type="http://schemas.openxmlformats.org/officeDocument/2006/relationships/image" Target="../media/image11.png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image" Target="../media/image14.png"/><Relationship Id="rId3" Type="http://schemas.openxmlformats.org/officeDocument/2006/relationships/tags" Target="../tags/tag56.xml"/><Relationship Id="rId2" Type="http://schemas.openxmlformats.org/officeDocument/2006/relationships/image" Target="../media/image13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image" Target="../media/image15.png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19.png"/><Relationship Id="rId7" Type="http://schemas.openxmlformats.org/officeDocument/2006/relationships/tags" Target="../tags/tag70.xml"/><Relationship Id="rId6" Type="http://schemas.openxmlformats.org/officeDocument/2006/relationships/image" Target="../media/image18.png"/><Relationship Id="rId5" Type="http://schemas.openxmlformats.org/officeDocument/2006/relationships/tags" Target="../tags/tag69.xml"/><Relationship Id="rId4" Type="http://schemas.openxmlformats.org/officeDocument/2006/relationships/image" Target="../media/image17.png"/><Relationship Id="rId3" Type="http://schemas.openxmlformats.org/officeDocument/2006/relationships/tags" Target="../tags/tag68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tags" Target="../tags/tag83.xml"/><Relationship Id="rId2" Type="http://schemas.openxmlformats.org/officeDocument/2006/relationships/image" Target="../media/image20.png"/><Relationship Id="rId1" Type="http://schemas.openxmlformats.org/officeDocument/2006/relationships/tags" Target="../tags/tag8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tags" Target="../tags/tag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23.png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GPT-1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03700" y="1631950"/>
            <a:ext cx="7875270" cy="3272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4687570" cy="685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3790950" y="349885"/>
            <a:ext cx="534606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Transformer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decoder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encoder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：当前的文本可以看到之前还有之后的文本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decoder: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当前的文本只能看到之前的文本，之前的文本被掩码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遮蔽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: 圆角 36"/>
          <p:cNvSpPr/>
          <p:nvPr>
            <p:custDataLst>
              <p:tags r:id="rId6"/>
            </p:custDataLst>
          </p:nvPr>
        </p:nvSpPr>
        <p:spPr>
          <a:xfrm rot="10800000" flipV="1">
            <a:off x="2390775" y="1722755"/>
            <a:ext cx="1624330" cy="33680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: 圆角 36"/>
          <p:cNvSpPr/>
          <p:nvPr>
            <p:custDataLst>
              <p:tags r:id="rId7"/>
            </p:custDataLst>
          </p:nvPr>
        </p:nvSpPr>
        <p:spPr>
          <a:xfrm rot="10800000" flipV="1">
            <a:off x="4687570" y="1727200"/>
            <a:ext cx="1318895" cy="317690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>
            <a:off x="4022725" y="1788160"/>
            <a:ext cx="6750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 flipV="1">
            <a:off x="4022725" y="4920615"/>
            <a:ext cx="675005" cy="1701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5535930" y="1129665"/>
            <a:ext cx="7190740" cy="74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对于微调下游任务中的分类任务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通过在初始文本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Text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之前插入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[Start]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标识符，在结束插入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[Extract]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标识符（类似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[CLS]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）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通过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Transformer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后的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CLS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结果来进行分类预测</a:t>
            </a:r>
            <a:endParaRPr lang="zh-CN" altLang="en-US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矩形: 圆角 36"/>
          <p:cNvSpPr/>
          <p:nvPr>
            <p:custDataLst>
              <p:tags r:id="rId11"/>
            </p:custDataLst>
          </p:nvPr>
        </p:nvSpPr>
        <p:spPr>
          <a:xfrm rot="10800000" flipV="1">
            <a:off x="3923030" y="233045"/>
            <a:ext cx="5213985" cy="85915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12"/>
            </p:custDataLst>
          </p:nvPr>
        </p:nvCxnSpPr>
        <p:spPr>
          <a:xfrm flipV="1">
            <a:off x="5245100" y="1129665"/>
            <a:ext cx="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6006465" y="1129665"/>
            <a:ext cx="6092825" cy="10121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324600" y="2576830"/>
            <a:ext cx="5148580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蕴含任务（给出文本和假设判断是否成立）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同理，不过会将假设和文本拼接起来，然后插入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[Delim]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区分</a:t>
            </a:r>
            <a:endParaRPr lang="zh-CN" altLang="en-US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6262370" y="2339975"/>
            <a:ext cx="5497830" cy="58102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332855" y="3454400"/>
            <a:ext cx="5148580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判断相似任务（给出两段文本判断是否相似）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将两端文本分两次交换顺序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保持对称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然后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判断</a:t>
            </a:r>
            <a:endParaRPr lang="zh-CN" altLang="en-US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6261735" y="2921635"/>
            <a:ext cx="5497195" cy="87947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6459855" y="4905375"/>
            <a:ext cx="5148580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判断选项任务（给出一段文本和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ABCD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选项，判断哪个更合适）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将每个选项与文本拼接计算每个文本置信度，取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最高的</a:t>
            </a:r>
            <a:endParaRPr lang="zh-CN" altLang="en-US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矩形: 圆角 36"/>
          <p:cNvSpPr/>
          <p:nvPr>
            <p:custDataLst>
              <p:tags r:id="rId19"/>
            </p:custDataLst>
          </p:nvPr>
        </p:nvSpPr>
        <p:spPr>
          <a:xfrm rot="10800000" flipV="1">
            <a:off x="6261735" y="3801745"/>
            <a:ext cx="5637530" cy="154686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333875" y="6229350"/>
            <a:ext cx="3749040" cy="6216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8884920" y="5840095"/>
            <a:ext cx="2874010" cy="6032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884920" y="6362065"/>
            <a:ext cx="2785110" cy="50101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3634105" y="5766435"/>
            <a:ext cx="5148580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无监督预训练损失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通过前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个单词预测当前正确单词的概率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加权求和每一个单词的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概率</a:t>
            </a:r>
            <a:endParaRPr lang="zh-CN" altLang="en-US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7747635" y="5414010"/>
            <a:ext cx="5148580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监督微调损失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人工标注的置信度和模型预测的概率</a:t>
            </a:r>
            <a:b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融合无监督损失，𝜆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=0.5</a:t>
            </a:r>
            <a:endParaRPr lang="en-US" altLang="zh-CN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矩形: 圆角 36"/>
          <p:cNvSpPr/>
          <p:nvPr>
            <p:custDataLst>
              <p:tags r:id="rId28"/>
            </p:custDataLst>
          </p:nvPr>
        </p:nvSpPr>
        <p:spPr>
          <a:xfrm rot="10800000" flipV="1">
            <a:off x="4333875" y="5630545"/>
            <a:ext cx="3748405" cy="12325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36"/>
          <p:cNvSpPr/>
          <p:nvPr>
            <p:custDataLst>
              <p:tags r:id="rId29"/>
            </p:custDataLst>
          </p:nvPr>
        </p:nvSpPr>
        <p:spPr>
          <a:xfrm rot="10800000" flipV="1">
            <a:off x="8782685" y="5391150"/>
            <a:ext cx="3048635" cy="14312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BERT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740" y="423545"/>
            <a:ext cx="10755630" cy="44646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4965" y="4770120"/>
            <a:ext cx="4642485" cy="1506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273040" y="4915535"/>
            <a:ext cx="3416935" cy="1815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21775" y="4514850"/>
            <a:ext cx="2931160" cy="234315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-73025" y="6176010"/>
            <a:ext cx="534606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BERT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输入的是两个被遮掩的句子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在输入的句子中随机选择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15%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的句子进行特殊处理，详见最右图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从数据集中随机抽取两个句子，并判断是否相邻，详见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右侧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5152390" y="0"/>
            <a:ext cx="7039610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Transformer encoder</a:t>
            </a:r>
            <a:r>
              <a:rPr lang="zh-CN" altLang="en-US" sz="20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双向学习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句子的语义</a:t>
            </a:r>
            <a:b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部分两个任务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学习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单词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 2.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判断句子是否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相邻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4198620" y="4514850"/>
            <a:ext cx="5346065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随机在数据集中抽取两个句子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并给出是否是相邻关系，用于预训练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NSP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学习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8097520" y="3741420"/>
            <a:ext cx="5346065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对于输入的句子，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15%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会经过特殊处理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其中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80%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会被替换为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[MASK]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10%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会替换成其他的单词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(hairy-&gt;apple)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10%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不做任何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处理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59055" y="0"/>
            <a:ext cx="4937760" cy="68580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79220" y="4064635"/>
            <a:ext cx="2387600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预训练部分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5152390" y="4514850"/>
            <a:ext cx="3814445" cy="221615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36"/>
          <p:cNvSpPr/>
          <p:nvPr>
            <p:custDataLst>
              <p:tags r:id="rId16"/>
            </p:custDataLst>
          </p:nvPr>
        </p:nvSpPr>
        <p:spPr>
          <a:xfrm rot="10800000" flipV="1">
            <a:off x="9121775" y="3741420"/>
            <a:ext cx="3070225" cy="31165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6990" y="3388995"/>
            <a:ext cx="534606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部分输入的是两个被遮掩的句子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59055" y="178435"/>
            <a:ext cx="1957070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NSP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[CLS]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作为全局预测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判断两个句子是否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相邻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2143125" y="178435"/>
            <a:ext cx="1957070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MASK LM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填补两个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被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单词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6966585" y="3995420"/>
            <a:ext cx="2387600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微调部分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10549890" y="1459865"/>
            <a:ext cx="1642110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根据不同的下游任务进行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4667885" y="5481955"/>
            <a:ext cx="5346065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50%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的概率选取相邻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50%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的概率选取不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相邻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GPT-2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96110" y="960120"/>
            <a:ext cx="7666355" cy="227647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443990" y="796290"/>
            <a:ext cx="319532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阅读理解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任务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221355" y="796290"/>
            <a:ext cx="319532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翻译任务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094605" y="796290"/>
            <a:ext cx="319532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摘要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生成任务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20230" y="796290"/>
            <a:ext cx="319532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开放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域任务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630295" y="110490"/>
            <a:ext cx="493141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Zero-shot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模型尺寸与性能评估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897505" y="3215005"/>
            <a:ext cx="566420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模型越大性能越好，且目前没有触碰到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上限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229225" y="4693285"/>
            <a:ext cx="6577965" cy="19253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4206240"/>
            <a:ext cx="5020945" cy="257873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759460" y="3696335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GPT-1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采用特殊字符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[Start][Extract]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791325" y="3696970"/>
            <a:ext cx="3195320" cy="742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GPT-2 Zero-Shot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不采用特殊字符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引导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4532630" y="5471795"/>
            <a:ext cx="915035" cy="412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>
            <p:custDataLst>
              <p:tags r:id="rId15"/>
            </p:custDataLst>
          </p:nvPr>
        </p:nvSpPr>
        <p:spPr>
          <a:xfrm>
            <a:off x="3724275" y="3756660"/>
            <a:ext cx="3685540" cy="412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GPT-3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429895"/>
            <a:ext cx="7241540" cy="5998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06565" y="3869055"/>
            <a:ext cx="5385435" cy="147510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34950" y="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Zero-Shot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不提供任何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例子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61950" y="206502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One-Shot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仅提供一个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例子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234950" y="3983355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Few-Shot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提供几个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例子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027670" y="12700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训练数据集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and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数据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规模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595745" y="54864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GPT-1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BooksCorpus 数据集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95745" y="1931035"/>
            <a:ext cx="3195320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WebText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：过滤后的Common Crawl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8billion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(40GB)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805930" y="5234305"/>
            <a:ext cx="5386070" cy="153162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9306560" y="1931035"/>
            <a:ext cx="3195320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最大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1.524B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7957820" y="1252855"/>
            <a:ext cx="389890" cy="6096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>
            <p:custDataLst>
              <p:tags r:id="rId14"/>
            </p:custDataLst>
          </p:nvPr>
        </p:nvSpPr>
        <p:spPr>
          <a:xfrm>
            <a:off x="8027670" y="2868930"/>
            <a:ext cx="389890" cy="6096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>
            <p:custDataLst>
              <p:tags r:id="rId15"/>
            </p:custDataLst>
          </p:nvPr>
        </p:nvSpPr>
        <p:spPr>
          <a:xfrm>
            <a:off x="10709275" y="2868930"/>
            <a:ext cx="389890" cy="6096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Insruct</a:t>
            </a:r>
            <a:r>
              <a:rPr lang="en-US" altLang="zh-CN"/>
              <a:t>GPT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0975" y="1807210"/>
            <a:ext cx="1961515" cy="4942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00345" y="120015"/>
            <a:ext cx="1701165" cy="4725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186680" y="5114925"/>
            <a:ext cx="1818640" cy="1527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64820" y="153035"/>
            <a:ext cx="1526540" cy="15481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991360" y="6527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存在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回答不符合预期，风格混乱等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1878330" y="31546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通过人工来回答问题所构建的数据集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1651000" y="5529580"/>
            <a:ext cx="342265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初步具有良好的生成能力的微调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GPT-3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7115175" y="2315210"/>
            <a:ext cx="342265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通过人工对微调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生成的多个结果进行排序，来训练一个全新的强化学习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网络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7001510" y="5251450"/>
            <a:ext cx="46062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使用新学习的强化学习网络来对微调后的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评分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评分进一步指导微调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，进行进一步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9159875" y="5800090"/>
            <a:ext cx="342265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latin typeface="微软雅黑" charset="0"/>
                <a:ea typeface="微软雅黑" charset="0"/>
                <a:cs typeface="微软雅黑" charset="0"/>
              </a:rPr>
              <a:t>InstructGPT</a:t>
            </a:r>
            <a:endParaRPr lang="en-US" altLang="zh-CN" sz="28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180975" y="120650"/>
            <a:ext cx="4815840" cy="168656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36"/>
          <p:cNvSpPr/>
          <p:nvPr>
            <p:custDataLst>
              <p:tags r:id="rId16"/>
            </p:custDataLst>
          </p:nvPr>
        </p:nvSpPr>
        <p:spPr>
          <a:xfrm rot="10800000" flipV="1">
            <a:off x="180975" y="1912620"/>
            <a:ext cx="4815840" cy="28898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174625" y="5050790"/>
            <a:ext cx="4815840" cy="168656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36"/>
          <p:cNvSpPr/>
          <p:nvPr>
            <p:custDataLst>
              <p:tags r:id="rId18"/>
            </p:custDataLst>
          </p:nvPr>
        </p:nvSpPr>
        <p:spPr>
          <a:xfrm rot="10800000" flipV="1">
            <a:off x="5300345" y="120015"/>
            <a:ext cx="5350510" cy="472567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2143760" y="5917565"/>
            <a:ext cx="3110230" cy="3136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>
            <p:custDataLst>
              <p:tags r:id="rId19"/>
            </p:custDataLst>
          </p:nvPr>
        </p:nvSpPr>
        <p:spPr>
          <a:xfrm>
            <a:off x="7001510" y="5888355"/>
            <a:ext cx="2614295" cy="3136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5913755" y="4650105"/>
            <a:ext cx="457200" cy="48323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Llama-1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300" y="657225"/>
            <a:ext cx="6612890" cy="3870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648200"/>
            <a:ext cx="8547100" cy="2209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4195" y="1299845"/>
            <a:ext cx="62674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CommonCraw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处理流程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CCNet 去重（逐行）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fastText 判断语言，仅保留英文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n-gram 语言模型过滤低质量内容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训练线性分类器</a:t>
            </a:r>
            <a:br>
              <a:rPr lang="zh-CN" altLang="en-US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	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保留类似 Wikipedia 引用的高质量网页</a:t>
            </a:r>
            <a:br>
              <a:rPr lang="zh-CN" altLang="en-US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C4: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/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T5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</a:rPr>
              <a:t>训练数据集</a:t>
            </a:r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  <a:p>
            <a:pPr indent="0"/>
            <a:endParaRPr lang="zh-CN" altLang="en-US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Llama-2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0150" y="1898650"/>
            <a:ext cx="9791700" cy="3060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Llama-3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450" y="9525"/>
            <a:ext cx="12148185" cy="661797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99720" y="4716145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图像输入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625590" y="5391785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主结构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942195" y="3429000"/>
            <a:ext cx="204343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音频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: 圆角 36"/>
          <p:cNvSpPr/>
          <p:nvPr>
            <p:custDataLst>
              <p:tags r:id="rId6"/>
            </p:custDataLst>
          </p:nvPr>
        </p:nvSpPr>
        <p:spPr>
          <a:xfrm rot="10800000" flipV="1">
            <a:off x="180975" y="285115"/>
            <a:ext cx="6445250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36"/>
          <p:cNvSpPr/>
          <p:nvPr>
            <p:custDataLst>
              <p:tags r:id="rId7"/>
            </p:custDataLst>
          </p:nvPr>
        </p:nvSpPr>
        <p:spPr>
          <a:xfrm rot="10800000" flipV="1">
            <a:off x="6834505" y="116205"/>
            <a:ext cx="2794635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8"/>
            </p:custDataLst>
          </p:nvPr>
        </p:nvSpPr>
        <p:spPr>
          <a:xfrm rot="10800000" flipV="1">
            <a:off x="9942830" y="115570"/>
            <a:ext cx="2044065" cy="386270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1374</Words>
  <Application>WPS 演示</Application>
  <PresentationFormat>宽屏</PresentationFormat>
  <Paragraphs>108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微软雅黑</vt:lpstr>
      <vt:lpstr>BatangChe</vt:lpstr>
      <vt:lpstr>Apple SD Gothic Neo</vt:lpstr>
      <vt:lpstr>DejaVuMathTeXGyre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18</cp:revision>
  <dcterms:created xsi:type="dcterms:W3CDTF">2025-06-24T05:45:14Z</dcterms:created>
  <dcterms:modified xsi:type="dcterms:W3CDTF">2025-06-24T05:45:14Z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E818718E56DC3AC990A8536871E2B743_41</vt:lpwstr>
  </property>
</Properties>
</file>