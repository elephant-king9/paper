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58" r:id="rId5"/>
    <p:sldId id="257" r:id="rId6"/>
    <p:sldId id="259" r:id="rId7"/>
    <p:sldId id="260" r:id="rId8"/>
    <p:sldId id="264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9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image" Target="../media/image6.png"/><Relationship Id="rId7" Type="http://schemas.openxmlformats.org/officeDocument/2006/relationships/tags" Target="../tags/tag11.xml"/><Relationship Id="rId6" Type="http://schemas.openxmlformats.org/officeDocument/2006/relationships/image" Target="../media/image5.png"/><Relationship Id="rId5" Type="http://schemas.openxmlformats.org/officeDocument/2006/relationships/tags" Target="../tags/tag10.xml"/><Relationship Id="rId46" Type="http://schemas.openxmlformats.org/officeDocument/2006/relationships/slideLayout" Target="../slideLayouts/slideLayout1.xml"/><Relationship Id="rId45" Type="http://schemas.openxmlformats.org/officeDocument/2006/relationships/tags" Target="../tags/tag41.xml"/><Relationship Id="rId44" Type="http://schemas.openxmlformats.org/officeDocument/2006/relationships/tags" Target="../tags/tag40.xml"/><Relationship Id="rId43" Type="http://schemas.openxmlformats.org/officeDocument/2006/relationships/image" Target="../media/image13.png"/><Relationship Id="rId42" Type="http://schemas.openxmlformats.org/officeDocument/2006/relationships/tags" Target="../tags/tag39.xml"/><Relationship Id="rId41" Type="http://schemas.openxmlformats.org/officeDocument/2006/relationships/tags" Target="../tags/tag38.xml"/><Relationship Id="rId40" Type="http://schemas.openxmlformats.org/officeDocument/2006/relationships/image" Target="../media/image12.png"/><Relationship Id="rId4" Type="http://schemas.openxmlformats.org/officeDocument/2006/relationships/image" Target="../media/image4.png"/><Relationship Id="rId39" Type="http://schemas.openxmlformats.org/officeDocument/2006/relationships/tags" Target="../tags/tag37.xml"/><Relationship Id="rId38" Type="http://schemas.openxmlformats.org/officeDocument/2006/relationships/tags" Target="../tags/tag36.xml"/><Relationship Id="rId37" Type="http://schemas.openxmlformats.org/officeDocument/2006/relationships/image" Target="../media/image11.png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image" Target="../media/image10.png"/><Relationship Id="rId30" Type="http://schemas.openxmlformats.org/officeDocument/2006/relationships/tags" Target="../tags/tag30.xml"/><Relationship Id="rId3" Type="http://schemas.openxmlformats.org/officeDocument/2006/relationships/tags" Target="../tags/tag9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image" Target="../media/image3.png"/><Relationship Id="rId19" Type="http://schemas.openxmlformats.org/officeDocument/2006/relationships/tags" Target="../tags/tag19.xml"/><Relationship Id="rId18" Type="http://schemas.openxmlformats.org/officeDocument/2006/relationships/image" Target="../media/image9.png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image" Target="../media/image8.png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image" Target="../media/image7.png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image" Target="../media/image16.png"/><Relationship Id="rId5" Type="http://schemas.openxmlformats.org/officeDocument/2006/relationships/tags" Target="../tags/tag44.xml"/><Relationship Id="rId4" Type="http://schemas.openxmlformats.org/officeDocument/2006/relationships/image" Target="../media/image15.png"/><Relationship Id="rId3" Type="http://schemas.openxmlformats.org/officeDocument/2006/relationships/tags" Target="../tags/tag43.xml"/><Relationship Id="rId2" Type="http://schemas.openxmlformats.org/officeDocument/2006/relationships/image" Target="../media/image14.png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4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image" Target="../media/image19.png"/><Relationship Id="rId7" Type="http://schemas.openxmlformats.org/officeDocument/2006/relationships/tags" Target="../tags/tag58.xml"/><Relationship Id="rId6" Type="http://schemas.openxmlformats.org/officeDocument/2006/relationships/image" Target="../media/image18.png"/><Relationship Id="rId53" Type="http://schemas.openxmlformats.org/officeDocument/2006/relationships/slideLayout" Target="../slideLayouts/slideLayout1.xml"/><Relationship Id="rId52" Type="http://schemas.openxmlformats.org/officeDocument/2006/relationships/tags" Target="../tags/tag97.xml"/><Relationship Id="rId51" Type="http://schemas.openxmlformats.org/officeDocument/2006/relationships/tags" Target="../tags/tag96.xml"/><Relationship Id="rId50" Type="http://schemas.openxmlformats.org/officeDocument/2006/relationships/tags" Target="../tags/tag95.xml"/><Relationship Id="rId5" Type="http://schemas.openxmlformats.org/officeDocument/2006/relationships/tags" Target="../tags/tag57.xml"/><Relationship Id="rId49" Type="http://schemas.openxmlformats.org/officeDocument/2006/relationships/tags" Target="../tags/tag94.xml"/><Relationship Id="rId48" Type="http://schemas.openxmlformats.org/officeDocument/2006/relationships/tags" Target="../tags/tag93.xml"/><Relationship Id="rId47" Type="http://schemas.openxmlformats.org/officeDocument/2006/relationships/tags" Target="../tags/tag92.xml"/><Relationship Id="rId46" Type="http://schemas.openxmlformats.org/officeDocument/2006/relationships/tags" Target="../tags/tag91.xml"/><Relationship Id="rId45" Type="http://schemas.openxmlformats.org/officeDocument/2006/relationships/tags" Target="../tags/tag90.xml"/><Relationship Id="rId44" Type="http://schemas.openxmlformats.org/officeDocument/2006/relationships/image" Target="../media/image22.png"/><Relationship Id="rId43" Type="http://schemas.openxmlformats.org/officeDocument/2006/relationships/tags" Target="../tags/tag89.xml"/><Relationship Id="rId42" Type="http://schemas.openxmlformats.org/officeDocument/2006/relationships/tags" Target="../tags/tag88.xml"/><Relationship Id="rId41" Type="http://schemas.openxmlformats.org/officeDocument/2006/relationships/tags" Target="../tags/tag87.xml"/><Relationship Id="rId40" Type="http://schemas.openxmlformats.org/officeDocument/2006/relationships/tags" Target="../tags/tag86.xml"/><Relationship Id="rId4" Type="http://schemas.openxmlformats.org/officeDocument/2006/relationships/image" Target="../media/image17.png"/><Relationship Id="rId39" Type="http://schemas.openxmlformats.org/officeDocument/2006/relationships/tags" Target="../tags/tag85.xml"/><Relationship Id="rId38" Type="http://schemas.openxmlformats.org/officeDocument/2006/relationships/tags" Target="../tags/tag84.xml"/><Relationship Id="rId37" Type="http://schemas.openxmlformats.org/officeDocument/2006/relationships/tags" Target="../tags/tag83.xml"/><Relationship Id="rId36" Type="http://schemas.openxmlformats.org/officeDocument/2006/relationships/tags" Target="../tags/tag82.xml"/><Relationship Id="rId35" Type="http://schemas.openxmlformats.org/officeDocument/2006/relationships/tags" Target="../tags/tag81.xml"/><Relationship Id="rId34" Type="http://schemas.openxmlformats.org/officeDocument/2006/relationships/tags" Target="../tags/tag80.xml"/><Relationship Id="rId33" Type="http://schemas.openxmlformats.org/officeDocument/2006/relationships/image" Target="../media/image16.png"/><Relationship Id="rId32" Type="http://schemas.openxmlformats.org/officeDocument/2006/relationships/tags" Target="../tags/tag79.xml"/><Relationship Id="rId31" Type="http://schemas.openxmlformats.org/officeDocument/2006/relationships/image" Target="../media/image15.png"/><Relationship Id="rId30" Type="http://schemas.openxmlformats.org/officeDocument/2006/relationships/tags" Target="../tags/tag78.xml"/><Relationship Id="rId3" Type="http://schemas.openxmlformats.org/officeDocument/2006/relationships/tags" Target="../tags/tag56.xml"/><Relationship Id="rId29" Type="http://schemas.openxmlformats.org/officeDocument/2006/relationships/tags" Target="../tags/tag77.xml"/><Relationship Id="rId28" Type="http://schemas.openxmlformats.org/officeDocument/2006/relationships/tags" Target="../tags/tag76.xml"/><Relationship Id="rId27" Type="http://schemas.openxmlformats.org/officeDocument/2006/relationships/tags" Target="../tags/tag75.xml"/><Relationship Id="rId26" Type="http://schemas.openxmlformats.org/officeDocument/2006/relationships/tags" Target="../tags/tag74.xml"/><Relationship Id="rId25" Type="http://schemas.openxmlformats.org/officeDocument/2006/relationships/tags" Target="../tags/tag73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image" Target="../media/image14.png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image" Target="../media/image21.png"/><Relationship Id="rId11" Type="http://schemas.openxmlformats.org/officeDocument/2006/relationships/tags" Target="../tags/tag60.xml"/><Relationship Id="rId10" Type="http://schemas.openxmlformats.org/officeDocument/2006/relationships/image" Target="../media/image20.png"/><Relationship Id="rId1" Type="http://schemas.openxmlformats.org/officeDocument/2006/relationships/tags" Target="../tags/tag5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image" Target="../media/image25.png"/><Relationship Id="rId5" Type="http://schemas.openxmlformats.org/officeDocument/2006/relationships/tags" Target="../tags/tag100.xml"/><Relationship Id="rId4" Type="http://schemas.openxmlformats.org/officeDocument/2006/relationships/image" Target="../media/image24.png"/><Relationship Id="rId3" Type="http://schemas.openxmlformats.org/officeDocument/2006/relationships/tags" Target="../tags/tag99.xml"/><Relationship Id="rId2" Type="http://schemas.openxmlformats.org/officeDocument/2006/relationships/image" Target="../media/image23.png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tags" Target="../tags/tag9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image" Target="../media/image27.png"/><Relationship Id="rId3" Type="http://schemas.openxmlformats.org/officeDocument/2006/relationships/tags" Target="../tags/tag110.xml"/><Relationship Id="rId2" Type="http://schemas.openxmlformats.org/officeDocument/2006/relationships/image" Target="../media/image26.pn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143.xml"/><Relationship Id="rId20" Type="http://schemas.openxmlformats.org/officeDocument/2006/relationships/tags" Target="../tags/tag142.xml"/><Relationship Id="rId2" Type="http://schemas.openxmlformats.org/officeDocument/2006/relationships/image" Target="../media/image28.png"/><Relationship Id="rId19" Type="http://schemas.openxmlformats.org/officeDocument/2006/relationships/tags" Target="../tags/tag141.xml"/><Relationship Id="rId18" Type="http://schemas.openxmlformats.org/officeDocument/2006/relationships/tags" Target="../tags/tag140.xml"/><Relationship Id="rId17" Type="http://schemas.openxmlformats.org/officeDocument/2006/relationships/tags" Target="../tags/tag139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image" Target="../media/image29.png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tags" Target="../tags/tag1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image" Target="../media/image32.png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image" Target="../media/image31.png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image" Target="../media/image30.pn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57.xml"/><Relationship Id="rId17" Type="http://schemas.openxmlformats.org/officeDocument/2006/relationships/tags" Target="../tags/tag156.xml"/><Relationship Id="rId16" Type="http://schemas.openxmlformats.org/officeDocument/2006/relationships/tags" Target="../tags/tag155.xml"/><Relationship Id="rId15" Type="http://schemas.openxmlformats.org/officeDocument/2006/relationships/tags" Target="../tags/tag154.xml"/><Relationship Id="rId14" Type="http://schemas.openxmlformats.org/officeDocument/2006/relationships/tags" Target="../tags/tag153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image" Target="../media/image33.png"/><Relationship Id="rId10" Type="http://schemas.openxmlformats.org/officeDocument/2006/relationships/tags" Target="../tags/tag150.xml"/><Relationship Id="rId1" Type="http://schemas.openxmlformats.org/officeDocument/2006/relationships/tags" Target="../tags/tag14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image" Target="../media/image36.png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image" Target="../media/image35.png"/><Relationship Id="rId3" Type="http://schemas.openxmlformats.org/officeDocument/2006/relationships/tags" Target="../tags/tag159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75.xml"/><Relationship Id="rId23" Type="http://schemas.openxmlformats.org/officeDocument/2006/relationships/tags" Target="../tags/tag174.xml"/><Relationship Id="rId22" Type="http://schemas.openxmlformats.org/officeDocument/2006/relationships/tags" Target="../tags/tag173.xml"/><Relationship Id="rId21" Type="http://schemas.openxmlformats.org/officeDocument/2006/relationships/tags" Target="../tags/tag172.xml"/><Relationship Id="rId20" Type="http://schemas.openxmlformats.org/officeDocument/2006/relationships/tags" Target="../tags/tag171.xml"/><Relationship Id="rId2" Type="http://schemas.openxmlformats.org/officeDocument/2006/relationships/image" Target="../media/image34.png"/><Relationship Id="rId19" Type="http://schemas.openxmlformats.org/officeDocument/2006/relationships/tags" Target="../tags/tag170.xml"/><Relationship Id="rId18" Type="http://schemas.openxmlformats.org/officeDocument/2006/relationships/tags" Target="../tags/tag169.xml"/><Relationship Id="rId17" Type="http://schemas.openxmlformats.org/officeDocument/2006/relationships/tags" Target="../tags/tag168.xml"/><Relationship Id="rId16" Type="http://schemas.openxmlformats.org/officeDocument/2006/relationships/tags" Target="../tags/tag167.xml"/><Relationship Id="rId15" Type="http://schemas.openxmlformats.org/officeDocument/2006/relationships/image" Target="../media/image39.png"/><Relationship Id="rId14" Type="http://schemas.openxmlformats.org/officeDocument/2006/relationships/tags" Target="../tags/tag166.xml"/><Relationship Id="rId13" Type="http://schemas.openxmlformats.org/officeDocument/2006/relationships/image" Target="../media/image38.png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image" Target="../media/image37.png"/><Relationship Id="rId1" Type="http://schemas.openxmlformats.org/officeDocument/2006/relationships/tags" Target="../tags/tag1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VAE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3525" y="280035"/>
            <a:ext cx="4869180" cy="282130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967105" y="3261995"/>
            <a:ext cx="290830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将图像拆分成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patch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，每个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patch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根据概率选取最大可能性的潜变量作为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输出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777105" y="1483995"/>
            <a:ext cx="290830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将图像映射为潜变量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序列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0-&gt;6-&gt;4-&gt;...-&gt;8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221220" y="548005"/>
            <a:ext cx="4868545" cy="271399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7825105" y="3261995"/>
            <a:ext cx="290830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生成时根据自回归模型，生成一个全新的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潜空间序列拼成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右箭头 1"/>
          <p:cNvSpPr/>
          <p:nvPr>
            <p:custDataLst>
              <p:tags r:id="rId8"/>
            </p:custDataLst>
          </p:nvPr>
        </p:nvSpPr>
        <p:spPr>
          <a:xfrm>
            <a:off x="5104130" y="1534795"/>
            <a:ext cx="208280" cy="2222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>
            <p:custDataLst>
              <p:tags r:id="rId9"/>
            </p:custDataLst>
          </p:nvPr>
        </p:nvSpPr>
        <p:spPr>
          <a:xfrm>
            <a:off x="7136130" y="1534795"/>
            <a:ext cx="208280" cy="2222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20" y="5715"/>
            <a:ext cx="685800" cy="431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0" y="379095"/>
            <a:ext cx="698500" cy="406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620" y="1737995"/>
            <a:ext cx="749300" cy="393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620" y="1306195"/>
            <a:ext cx="749300" cy="330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620" y="856615"/>
            <a:ext cx="800100" cy="3810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1"/>
            </p:custDataLst>
          </p:nvPr>
        </p:nvSpPr>
        <p:spPr>
          <a:xfrm>
            <a:off x="17145" y="348615"/>
            <a:ext cx="542480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我们认为对潜变量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的先验假设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在我不知道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的时候先猜一个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出来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)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通常是标准的正态分布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201295" y="102235"/>
            <a:ext cx="406844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整张图像 x 在你学习的生成模型中出现的可能性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015865" y="172085"/>
            <a:ext cx="2413000" cy="3556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7174865" y="84455"/>
            <a:ext cx="503745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生成的概率根据所有的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的概率的积分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遍历所有可能的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z=[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灰色，坐着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],[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灰色，站着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]...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看看这些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哪些有概率能生成当前的图像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，求所有能生成的概率的积分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8705850" y="838835"/>
            <a:ext cx="3463290" cy="355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给定潜变量 z，生成图像 x 的概率 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*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 这个潜变量本身出现的概率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6647815" y="874395"/>
            <a:ext cx="2057400" cy="3556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539115" y="901065"/>
            <a:ext cx="585787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和潜变量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的联合发生概率，描述同时出现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这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对组合的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可能性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矩形: 圆角 36"/>
          <p:cNvSpPr/>
          <p:nvPr>
            <p:custDataLst>
              <p:tags r:id="rId20"/>
            </p:custDataLst>
          </p:nvPr>
        </p:nvSpPr>
        <p:spPr>
          <a:xfrm rot="10800000" flipV="1">
            <a:off x="28575" y="387985"/>
            <a:ext cx="4987290" cy="3937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: 圆角 36"/>
          <p:cNvSpPr/>
          <p:nvPr>
            <p:custDataLst>
              <p:tags r:id="rId21"/>
            </p:custDataLst>
          </p:nvPr>
        </p:nvSpPr>
        <p:spPr>
          <a:xfrm rot="10800000" flipV="1">
            <a:off x="28575" y="6985"/>
            <a:ext cx="4987290" cy="3937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28575" y="1258570"/>
            <a:ext cx="7143115" cy="548640"/>
            <a:chOff x="45" y="1182"/>
            <a:chExt cx="11249" cy="864"/>
          </a:xfrm>
        </p:grpSpPr>
        <p:sp>
          <p:nvSpPr>
            <p:cNvPr id="11" name="文本框 10"/>
            <p:cNvSpPr txBox="1"/>
            <p:nvPr>
              <p:custDataLst>
                <p:tags r:id="rId22"/>
              </p:custDataLst>
            </p:nvPr>
          </p:nvSpPr>
          <p:spPr>
            <a:xfrm>
              <a:off x="252" y="1182"/>
              <a:ext cx="11042" cy="8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sz="1200" b="1">
                  <a:latin typeface="微软雅黑" charset="0"/>
                  <a:ea typeface="微软雅黑" charset="0"/>
                  <a:cs typeface="微软雅黑" charset="0"/>
                </a:rPr>
                <a:t>给定图像 x，在当前生成模型下，某个潜在变量 z 是“解释”这张图像的可能性的大小。</a:t>
              </a:r>
              <a:endParaRPr sz="1200" b="1">
                <a:latin typeface="微软雅黑" charset="0"/>
                <a:ea typeface="微软雅黑" charset="0"/>
                <a:cs typeface="微软雅黑" charset="0"/>
              </a:endParaRPr>
            </a:p>
            <a:p>
              <a:pPr algn="ctr"/>
              <a:r>
                <a:rPr sz="1200" b="1">
                  <a:latin typeface="微软雅黑" charset="0"/>
                  <a:ea typeface="微软雅黑" charset="0"/>
                  <a:cs typeface="微软雅黑" charset="0"/>
                </a:rPr>
                <a:t>给定这张猫的图片 x，</a:t>
              </a:r>
              <a:r>
                <a:rPr lang="zh-CN" sz="1200" b="1">
                  <a:latin typeface="微软雅黑" charset="0"/>
                  <a:ea typeface="微软雅黑" charset="0"/>
                  <a:cs typeface="微软雅黑" charset="0"/>
                </a:rPr>
                <a:t>如果要生成这张图的</a:t>
              </a:r>
              <a:r>
                <a:rPr sz="1200" b="1">
                  <a:latin typeface="微软雅黑" charset="0"/>
                  <a:ea typeface="微软雅黑" charset="0"/>
                  <a:cs typeface="微软雅黑" charset="0"/>
                </a:rPr>
                <a:t>潜在特征是 z =[灰色, 坐着] 的概率有多大</a:t>
              </a:r>
              <a:endParaRPr sz="1200" b="1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1" name="矩形: 圆角 36"/>
            <p:cNvSpPr/>
            <p:nvPr>
              <p:custDataLst>
                <p:tags r:id="rId23"/>
              </p:custDataLst>
            </p:nvPr>
          </p:nvSpPr>
          <p:spPr>
            <a:xfrm rot="10800000" flipV="1">
              <a:off x="45" y="1211"/>
              <a:ext cx="10424" cy="620"/>
            </a:xfrm>
            <a:prstGeom prst="roundRect">
              <a:avLst>
                <a:gd name="adj" fmla="val 10039"/>
              </a:avLst>
            </a:prstGeom>
            <a:noFill/>
            <a:ln w="3810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8575" y="1712595"/>
            <a:ext cx="7229475" cy="548640"/>
            <a:chOff x="45" y="1897"/>
            <a:chExt cx="11385" cy="864"/>
          </a:xfrm>
        </p:grpSpPr>
        <p:sp>
          <p:nvSpPr>
            <p:cNvPr id="12" name="文本框 11"/>
            <p:cNvSpPr txBox="1"/>
            <p:nvPr>
              <p:custDataLst>
                <p:tags r:id="rId24"/>
              </p:custDataLst>
            </p:nvPr>
          </p:nvSpPr>
          <p:spPr>
            <a:xfrm>
              <a:off x="52" y="1897"/>
              <a:ext cx="11379" cy="8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sz="1200" b="1">
                  <a:latin typeface="微软雅黑" charset="0"/>
                  <a:ea typeface="微软雅黑" charset="0"/>
                  <a:cs typeface="微软雅黑" charset="0"/>
                </a:rPr>
                <a:t>给定了潜在变量z，x是对应潜在变量z的表示的可能性大小</a:t>
              </a:r>
              <a:br>
                <a:rPr sz="1200" b="1">
                  <a:latin typeface="微软雅黑" charset="0"/>
                  <a:ea typeface="微软雅黑" charset="0"/>
                  <a:cs typeface="微软雅黑" charset="0"/>
                </a:rPr>
              </a:br>
              <a:r>
                <a:rPr lang="zh-CN" sz="1200" b="1">
                  <a:latin typeface="微软雅黑" charset="0"/>
                  <a:ea typeface="微软雅黑" charset="0"/>
                  <a:cs typeface="微软雅黑" charset="0"/>
                </a:rPr>
                <a:t>对于生成猫，假设</a:t>
              </a:r>
              <a:r>
                <a:rPr lang="en-US" altLang="zh-CN" sz="1200" b="1">
                  <a:latin typeface="微软雅黑" charset="0"/>
                  <a:ea typeface="微软雅黑" charset="0"/>
                  <a:cs typeface="微软雅黑" charset="0"/>
                </a:rPr>
                <a:t>z</a:t>
              </a:r>
              <a:r>
                <a:rPr lang="zh-CN" altLang="en-US" sz="1200" b="1">
                  <a:latin typeface="微软雅黑" charset="0"/>
                  <a:ea typeface="微软雅黑" charset="0"/>
                  <a:cs typeface="微软雅黑" charset="0"/>
                </a:rPr>
                <a:t>是毛色</a:t>
              </a:r>
              <a:r>
                <a:rPr lang="en-US" altLang="zh-CN" sz="1200" b="1">
                  <a:latin typeface="微软雅黑" charset="0"/>
                  <a:ea typeface="微软雅黑" charset="0"/>
                  <a:cs typeface="微软雅黑" charset="0"/>
                </a:rPr>
                <a:t>=</a:t>
              </a:r>
              <a:r>
                <a:rPr lang="zh-CN" altLang="en-US" sz="1200" b="1">
                  <a:latin typeface="微软雅黑" charset="0"/>
                  <a:ea typeface="微软雅黑" charset="0"/>
                  <a:cs typeface="微软雅黑" charset="0"/>
                </a:rPr>
                <a:t>灰色，姿势</a:t>
              </a:r>
              <a:r>
                <a:rPr lang="en-US" altLang="zh-CN" sz="1200" b="1">
                  <a:latin typeface="微软雅黑" charset="0"/>
                  <a:ea typeface="微软雅黑" charset="0"/>
                  <a:cs typeface="微软雅黑" charset="0"/>
                </a:rPr>
                <a:t>=</a:t>
              </a:r>
              <a:r>
                <a:rPr lang="zh-CN" altLang="en-US" sz="1200" b="1">
                  <a:latin typeface="微软雅黑" charset="0"/>
                  <a:ea typeface="微软雅黑" charset="0"/>
                  <a:cs typeface="微软雅黑" charset="0"/>
                </a:rPr>
                <a:t>坐着</a:t>
              </a:r>
              <a:r>
                <a:rPr lang="en-US" altLang="zh-CN" sz="1200" b="1">
                  <a:latin typeface="微软雅黑" charset="0"/>
                  <a:ea typeface="微软雅黑" charset="0"/>
                  <a:cs typeface="微软雅黑" charset="0"/>
                </a:rPr>
                <a:t>p(x|z)</a:t>
              </a:r>
              <a:r>
                <a:rPr lang="zh-CN" altLang="en-US" sz="1200" b="1">
                  <a:latin typeface="微软雅黑" charset="0"/>
                  <a:ea typeface="微软雅黑" charset="0"/>
                  <a:cs typeface="微软雅黑" charset="0"/>
                </a:rPr>
                <a:t>代表</a:t>
              </a:r>
              <a:r>
                <a:rPr lang="en-US" altLang="zh-CN" sz="1200" b="1">
                  <a:latin typeface="微软雅黑" charset="0"/>
                  <a:ea typeface="微软雅黑" charset="0"/>
                  <a:cs typeface="微软雅黑" charset="0"/>
                </a:rPr>
                <a:t>x</a:t>
              </a:r>
              <a:r>
                <a:rPr lang="zh-CN" altLang="en-US" sz="1200" b="1">
                  <a:latin typeface="微软雅黑" charset="0"/>
                  <a:ea typeface="微软雅黑" charset="0"/>
                  <a:cs typeface="微软雅黑" charset="0"/>
                </a:rPr>
                <a:t>这张图像是不是灰色坐着的猫</a:t>
              </a:r>
              <a:endParaRPr lang="zh-CN" altLang="en-US" sz="1200" b="1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2" name="矩形: 圆角 36"/>
            <p:cNvSpPr/>
            <p:nvPr>
              <p:custDataLst>
                <p:tags r:id="rId25"/>
              </p:custDataLst>
            </p:nvPr>
          </p:nvSpPr>
          <p:spPr>
            <a:xfrm rot="10800000" flipV="1">
              <a:off x="45" y="1911"/>
              <a:ext cx="10424" cy="620"/>
            </a:xfrm>
            <a:prstGeom prst="roundRect">
              <a:avLst>
                <a:gd name="adj" fmla="val 10039"/>
              </a:avLst>
            </a:prstGeom>
            <a:noFill/>
            <a:ln w="3810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3" name="矩形: 圆角 36"/>
          <p:cNvSpPr/>
          <p:nvPr>
            <p:custDataLst>
              <p:tags r:id="rId26"/>
            </p:custDataLst>
          </p:nvPr>
        </p:nvSpPr>
        <p:spPr>
          <a:xfrm rot="10800000" flipV="1">
            <a:off x="28575" y="840105"/>
            <a:ext cx="6619240" cy="3937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: 圆角 36"/>
          <p:cNvSpPr/>
          <p:nvPr>
            <p:custDataLst>
              <p:tags r:id="rId27"/>
            </p:custDataLst>
          </p:nvPr>
        </p:nvSpPr>
        <p:spPr>
          <a:xfrm rot="10800000" flipV="1">
            <a:off x="5015865" y="85090"/>
            <a:ext cx="7175500" cy="69659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: 圆角 36"/>
          <p:cNvSpPr/>
          <p:nvPr>
            <p:custDataLst>
              <p:tags r:id="rId28"/>
            </p:custDataLst>
          </p:nvPr>
        </p:nvSpPr>
        <p:spPr>
          <a:xfrm rot="10800000" flipV="1">
            <a:off x="6632575" y="840105"/>
            <a:ext cx="5536565" cy="3937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9"/>
            </p:custDataLst>
          </p:nvPr>
        </p:nvSpPr>
        <p:spPr>
          <a:xfrm>
            <a:off x="4531995" y="2602865"/>
            <a:ext cx="7680325" cy="1057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在模型的训练过程，我如果想根据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p(z|x)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（根据真实图像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取推断潜在变量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）是很困难的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所以想到构建一个神经网络，用更简单的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q(z|x)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去拟合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p(z|x)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取简化问题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我们使用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KL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散度来量化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q(z|x)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和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p(z|x)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是否靠近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KL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散度：横梁两个概率分布之间的差异，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KL=0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代表完全匹配，差别越大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KL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越大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33020" y="2303145"/>
            <a:ext cx="2171700" cy="23114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1938020" y="2665095"/>
            <a:ext cx="279971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实线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Dncoder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部分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根据生成分布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p(x|z)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生成图像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33"/>
            </p:custDataLst>
          </p:nvPr>
        </p:nvSpPr>
        <p:spPr>
          <a:xfrm>
            <a:off x="1938020" y="3808095"/>
            <a:ext cx="279971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虚线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Encoder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部分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根据模型训练的变分分布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q(z|x)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生成分布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6647815" y="1280160"/>
            <a:ext cx="5521325" cy="1057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生成过程分为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两步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先从先验分布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p(z)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中随机采样一个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z</a:t>
            </a:r>
            <a:endParaRPr lang="en-US" altLang="zh-CN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通过条件分布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p(x|z)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生成图像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x</a:t>
            </a:r>
            <a:b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真正控制生成过程的参数是未知的，</a:t>
            </a:r>
            <a:endParaRPr lang="en-US" altLang="zh-CN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每个样本背后的潜变量 z^{(i)} 也是看不见的。我们只能看到结果 x，这正是我们需要解决的 推断问题。</a:t>
            </a:r>
            <a:endParaRPr lang="en-US" altLang="zh-CN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35"/>
            </p:custDataLst>
          </p:nvPr>
        </p:nvSpPr>
        <p:spPr>
          <a:xfrm>
            <a:off x="795020" y="4656455"/>
            <a:ext cx="2799715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损失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函数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33020" y="5097145"/>
            <a:ext cx="4000500" cy="34290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8"/>
            </p:custDataLst>
          </p:nvPr>
        </p:nvSpPr>
        <p:spPr>
          <a:xfrm>
            <a:off x="160020" y="5545455"/>
            <a:ext cx="4577715" cy="548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最大化整个数据集在生成模型下出现的概率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由于样本独立同分布，可以把整体的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log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拆成对每个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log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之和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总体概率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=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样本概率值积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去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log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乘积变为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加和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4848225" y="5095875"/>
            <a:ext cx="5384800" cy="406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1"/>
            </p:custDataLst>
          </p:nvPr>
        </p:nvSpPr>
        <p:spPr>
          <a:xfrm>
            <a:off x="4986020" y="5545455"/>
            <a:ext cx="4577715" cy="548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单个样本出现的概率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=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变分（神经网络）由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恢复到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和贝叶斯反推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恢复到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KL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散度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+ELBO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下界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用神经网络猜测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真实后验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5015865" y="3557270"/>
            <a:ext cx="6451600" cy="5461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44"/>
            </p:custDataLst>
          </p:nvPr>
        </p:nvSpPr>
        <p:spPr>
          <a:xfrm>
            <a:off x="5621020" y="4021455"/>
            <a:ext cx="6283325" cy="548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第一项代表我们通过神经网络由图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恢复到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和真实的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之间的概率差距，越小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越接近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第二项代表我们从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恢复出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等于真实的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的概率，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越大越接近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1" name="右箭头 40"/>
          <p:cNvSpPr/>
          <p:nvPr/>
        </p:nvSpPr>
        <p:spPr>
          <a:xfrm>
            <a:off x="4267200" y="5213985"/>
            <a:ext cx="410845" cy="2413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右箭头 41"/>
          <p:cNvSpPr/>
          <p:nvPr>
            <p:custDataLst>
              <p:tags r:id="rId45"/>
            </p:custDataLst>
          </p:nvPr>
        </p:nvSpPr>
        <p:spPr>
          <a:xfrm rot="16200000">
            <a:off x="7893050" y="4633595"/>
            <a:ext cx="410845" cy="2413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VQ-VAE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5900" y="3122930"/>
            <a:ext cx="8966200" cy="3136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426085"/>
            <a:ext cx="4053840" cy="17075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845425" y="723265"/>
            <a:ext cx="4346575" cy="1410335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626745" y="2301875"/>
            <a:ext cx="279971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传统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VAE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可能会存在无用的特征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表示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4101465" y="904875"/>
            <a:ext cx="344360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矢量量化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(VQ)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数据压缩技术，通过将输入数据映射到一组预先定义的离散编码矢量来实现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压缩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8567420" y="2075180"/>
            <a:ext cx="279971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VQ-VAE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压缩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无用特征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有助于学习更具语义的稀疏表示，避免了 VAE 中的模糊问题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10"/>
            </p:custDataLst>
          </p:nvPr>
        </p:nvSpPr>
        <p:spPr>
          <a:xfrm>
            <a:off x="2531745" y="3190875"/>
            <a:ext cx="279971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维护了一个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Code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Book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1"/>
            </p:custDataLst>
          </p:nvPr>
        </p:nvSpPr>
        <p:spPr>
          <a:xfrm>
            <a:off x="-27305" y="5984875"/>
            <a:ext cx="331406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将图像映射成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个特征后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连续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，将每个特征和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codebook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对比，替换为最近的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codebook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中的特征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离散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)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: 圆角 36"/>
          <p:cNvSpPr/>
          <p:nvPr>
            <p:custDataLst>
              <p:tags r:id="rId12"/>
            </p:custDataLst>
          </p:nvPr>
        </p:nvSpPr>
        <p:spPr>
          <a:xfrm rot="10800000" flipV="1">
            <a:off x="2429510" y="3096260"/>
            <a:ext cx="3016885" cy="141033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: 圆角 36"/>
          <p:cNvSpPr/>
          <p:nvPr>
            <p:custDataLst>
              <p:tags r:id="rId13"/>
            </p:custDataLst>
          </p:nvPr>
        </p:nvSpPr>
        <p:spPr>
          <a:xfrm rot="10800000" flipV="1">
            <a:off x="-27940" y="4505960"/>
            <a:ext cx="3314700" cy="235204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4"/>
            </p:custDataLst>
          </p:nvPr>
        </p:nvSpPr>
        <p:spPr>
          <a:xfrm>
            <a:off x="4090670" y="5984875"/>
            <a:ext cx="331406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根据离散的特征去恢复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图像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矩形: 圆角 36"/>
          <p:cNvSpPr/>
          <p:nvPr>
            <p:custDataLst>
              <p:tags r:id="rId15"/>
            </p:custDataLst>
          </p:nvPr>
        </p:nvSpPr>
        <p:spPr>
          <a:xfrm rot="10800000" flipV="1">
            <a:off x="4544060" y="4506595"/>
            <a:ext cx="2486660" cy="187642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6"/>
            </p:custDataLst>
          </p:nvPr>
        </p:nvSpPr>
        <p:spPr>
          <a:xfrm>
            <a:off x="8627745" y="4206875"/>
            <a:ext cx="3313430" cy="1315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Encoder+Decoder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训练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根据初始图像和重建图像的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MSE Loss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codebook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训练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在初始输入特征中，计算和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codebook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中的距离，离的最近的那个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codebook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中的特征朝真实的特征方向优化（朝着真实的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方向拉一下）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" name="图片 3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3700" y="4068445"/>
            <a:ext cx="6303010" cy="22053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77010" y="497205"/>
            <a:ext cx="2647950" cy="19513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0815" y="1013460"/>
            <a:ext cx="774700" cy="838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12970" y="139065"/>
            <a:ext cx="748030" cy="7467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712970" y="1108710"/>
            <a:ext cx="738505" cy="6159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696460" y="1920240"/>
            <a:ext cx="746760" cy="746760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>
          <a:xfrm>
            <a:off x="2331720" y="1945005"/>
            <a:ext cx="75565" cy="7556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>
            <p:custDataLst>
              <p:tags r:id="rId13"/>
            </p:custDataLst>
          </p:nvPr>
        </p:nvSpPr>
        <p:spPr>
          <a:xfrm>
            <a:off x="2435860" y="180276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14"/>
            </p:custDataLst>
          </p:nvPr>
        </p:nvSpPr>
        <p:spPr>
          <a:xfrm>
            <a:off x="2661920" y="122872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15"/>
            </p:custDataLst>
          </p:nvPr>
        </p:nvSpPr>
        <p:spPr>
          <a:xfrm>
            <a:off x="2585720" y="144462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>
            <p:custDataLst>
              <p:tags r:id="rId16"/>
            </p:custDataLst>
          </p:nvPr>
        </p:nvSpPr>
        <p:spPr>
          <a:xfrm>
            <a:off x="2204720" y="207962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>
            <p:custDataLst>
              <p:tags r:id="rId17"/>
            </p:custDataLst>
          </p:nvPr>
        </p:nvSpPr>
        <p:spPr>
          <a:xfrm>
            <a:off x="3129280" y="144462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>
            <p:custDataLst>
              <p:tags r:id="rId18"/>
            </p:custDataLst>
          </p:nvPr>
        </p:nvSpPr>
        <p:spPr>
          <a:xfrm>
            <a:off x="3263900" y="182562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19"/>
            </p:custDataLst>
          </p:nvPr>
        </p:nvSpPr>
        <p:spPr>
          <a:xfrm>
            <a:off x="2600960" y="1355725"/>
            <a:ext cx="75565" cy="7556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20"/>
            </p:custDataLst>
          </p:nvPr>
        </p:nvSpPr>
        <p:spPr>
          <a:xfrm>
            <a:off x="3177540" y="1609725"/>
            <a:ext cx="75565" cy="7556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 rot="19260000">
            <a:off x="2157095" y="1987550"/>
            <a:ext cx="123190" cy="920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>
            <p:custDataLst>
              <p:tags r:id="rId21"/>
            </p:custDataLst>
          </p:nvPr>
        </p:nvSpPr>
        <p:spPr>
          <a:xfrm rot="7200000">
            <a:off x="2306955" y="1774825"/>
            <a:ext cx="123190" cy="920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>
            <p:custDataLst>
              <p:tags r:id="rId22"/>
            </p:custDataLst>
          </p:nvPr>
        </p:nvSpPr>
        <p:spPr>
          <a:xfrm rot="7200000">
            <a:off x="2560955" y="1266825"/>
            <a:ext cx="123190" cy="920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>
            <p:custDataLst>
              <p:tags r:id="rId23"/>
            </p:custDataLst>
          </p:nvPr>
        </p:nvSpPr>
        <p:spPr>
          <a:xfrm rot="4200000">
            <a:off x="3195955" y="1504315"/>
            <a:ext cx="123190" cy="920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右箭头 21"/>
          <p:cNvSpPr/>
          <p:nvPr>
            <p:custDataLst>
              <p:tags r:id="rId24"/>
            </p:custDataLst>
          </p:nvPr>
        </p:nvSpPr>
        <p:spPr>
          <a:xfrm rot="17220000">
            <a:off x="2494915" y="1369060"/>
            <a:ext cx="123190" cy="920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右箭头 22"/>
          <p:cNvSpPr/>
          <p:nvPr>
            <p:custDataLst>
              <p:tags r:id="rId25"/>
            </p:custDataLst>
          </p:nvPr>
        </p:nvSpPr>
        <p:spPr>
          <a:xfrm rot="15240000">
            <a:off x="3264535" y="1675765"/>
            <a:ext cx="123190" cy="920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893445" y="2448560"/>
            <a:ext cx="3802380" cy="746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对于连续映射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(VAE)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可能会出现聚类效应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虽然原本在分布中随机取不同的点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但是如果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decoder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过于强大，会将不同的点牵引到附近相同的点上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从而导致生成的图像随机性下降，只生成几类图像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右箭头 24"/>
          <p:cNvSpPr/>
          <p:nvPr/>
        </p:nvSpPr>
        <p:spPr>
          <a:xfrm>
            <a:off x="986790" y="1349375"/>
            <a:ext cx="382270" cy="1682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>
            <p:custDataLst>
              <p:tags r:id="rId27"/>
            </p:custDataLst>
          </p:nvPr>
        </p:nvSpPr>
        <p:spPr>
          <a:xfrm>
            <a:off x="4161790" y="1349375"/>
            <a:ext cx="382270" cy="1682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右箭头 26"/>
          <p:cNvSpPr/>
          <p:nvPr>
            <p:custDataLst>
              <p:tags r:id="rId28"/>
            </p:custDataLst>
          </p:nvPr>
        </p:nvSpPr>
        <p:spPr>
          <a:xfrm rot="19100646">
            <a:off x="4169410" y="739775"/>
            <a:ext cx="382270" cy="1682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>
            <p:custDataLst>
              <p:tags r:id="rId29"/>
            </p:custDataLst>
          </p:nvPr>
        </p:nvSpPr>
        <p:spPr>
          <a:xfrm rot="2360646">
            <a:off x="4174490" y="1955165"/>
            <a:ext cx="382270" cy="1682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5620385" y="349250"/>
            <a:ext cx="3312795" cy="139509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102090" y="645795"/>
            <a:ext cx="2715260" cy="880745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4"/>
            </p:custDataLst>
          </p:nvPr>
        </p:nvSpPr>
        <p:spPr>
          <a:xfrm>
            <a:off x="9141460" y="0"/>
            <a:ext cx="279971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VQ-VAE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采用离散化，来降低吸附的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问题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35"/>
            </p:custDataLst>
          </p:nvPr>
        </p:nvSpPr>
        <p:spPr>
          <a:xfrm>
            <a:off x="5876925" y="58420"/>
            <a:ext cx="279971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VAE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36"/>
            </p:custDataLst>
          </p:nvPr>
        </p:nvSpPr>
        <p:spPr>
          <a:xfrm>
            <a:off x="1663700" y="4084955"/>
            <a:ext cx="279971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维护了一个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Code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Book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37"/>
            </p:custDataLst>
          </p:nvPr>
        </p:nvSpPr>
        <p:spPr>
          <a:xfrm>
            <a:off x="-27305" y="5984875"/>
            <a:ext cx="331406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将图像映射成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个特征后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连续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)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，将每个特征和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codebook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对比，替换为最近的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codebook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中的特征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离散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)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8" name="矩形: 圆角 36"/>
          <p:cNvSpPr/>
          <p:nvPr>
            <p:custDataLst>
              <p:tags r:id="rId38"/>
            </p:custDataLst>
          </p:nvPr>
        </p:nvSpPr>
        <p:spPr>
          <a:xfrm rot="10800000" flipV="1">
            <a:off x="2036445" y="3957955"/>
            <a:ext cx="2054225" cy="107505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: 圆角 36"/>
          <p:cNvSpPr/>
          <p:nvPr>
            <p:custDataLst>
              <p:tags r:id="rId39"/>
            </p:custDataLst>
          </p:nvPr>
        </p:nvSpPr>
        <p:spPr>
          <a:xfrm rot="10800000" flipV="1">
            <a:off x="-27940" y="5033645"/>
            <a:ext cx="3315335" cy="152654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0"/>
            </p:custDataLst>
          </p:nvPr>
        </p:nvSpPr>
        <p:spPr>
          <a:xfrm>
            <a:off x="3863340" y="6111875"/>
            <a:ext cx="1390650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根据离散的特征去恢复图像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1" name="矩形: 圆角 36"/>
          <p:cNvSpPr/>
          <p:nvPr>
            <p:custDataLst>
              <p:tags r:id="rId41"/>
            </p:custDataLst>
          </p:nvPr>
        </p:nvSpPr>
        <p:spPr>
          <a:xfrm rot="10800000" flipV="1">
            <a:off x="3627755" y="5029835"/>
            <a:ext cx="1626235" cy="165798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2"/>
            </p:custDataLst>
          </p:nvPr>
        </p:nvSpPr>
        <p:spPr>
          <a:xfrm>
            <a:off x="6280785" y="3957955"/>
            <a:ext cx="5005070" cy="878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离散化梯度不可微分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直接使用编码器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还未离散化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)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的输出作为离散向量的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梯度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6014720" y="2042160"/>
            <a:ext cx="5537200" cy="406400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45"/>
            </p:custDataLst>
          </p:nvPr>
        </p:nvSpPr>
        <p:spPr>
          <a:xfrm>
            <a:off x="6096635" y="2428875"/>
            <a:ext cx="188658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重建损失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训练编码器和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解码器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6" name="文本框 45"/>
          <p:cNvSpPr txBox="1"/>
          <p:nvPr>
            <p:custDataLst>
              <p:tags r:id="rId46"/>
            </p:custDataLst>
          </p:nvPr>
        </p:nvSpPr>
        <p:spPr>
          <a:xfrm>
            <a:off x="7983220" y="2428875"/>
            <a:ext cx="1559560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嵌入更新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把词典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向量向编码器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更新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7" name="文本框 46"/>
          <p:cNvSpPr txBox="1"/>
          <p:nvPr>
            <p:custDataLst>
              <p:tags r:id="rId47"/>
            </p:custDataLst>
          </p:nvPr>
        </p:nvSpPr>
        <p:spPr>
          <a:xfrm>
            <a:off x="9888220" y="2428875"/>
            <a:ext cx="1559560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承诺项损失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鼓励编码器输出靠近词典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向量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48"/>
            </p:custDataLst>
          </p:nvPr>
        </p:nvSpPr>
        <p:spPr>
          <a:xfrm>
            <a:off x="6491605" y="3063875"/>
            <a:ext cx="4257040" cy="774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解码器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只接受第一项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优化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编码器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接受第一项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第三项优化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嵌入向量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只接受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第二项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𝛽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 =0.25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9" name="矩形: 圆角 36"/>
          <p:cNvSpPr/>
          <p:nvPr>
            <p:custDataLst>
              <p:tags r:id="rId49"/>
            </p:custDataLst>
          </p:nvPr>
        </p:nvSpPr>
        <p:spPr>
          <a:xfrm rot="10800000" flipV="1">
            <a:off x="0" y="58420"/>
            <a:ext cx="5620385" cy="367157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50"/>
            </p:custDataLst>
          </p:nvPr>
        </p:nvSpPr>
        <p:spPr>
          <a:xfrm>
            <a:off x="170815" y="135255"/>
            <a:ext cx="5005070" cy="878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VAE</a:t>
            </a:r>
            <a:r>
              <a:rPr lang="zh-CN" altLang="en-US" sz="20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问题</a:t>
            </a:r>
            <a:endParaRPr lang="zh-CN" altLang="en-US" sz="2000" b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1" name="矩形: 圆角 36"/>
          <p:cNvSpPr/>
          <p:nvPr>
            <p:custDataLst>
              <p:tags r:id="rId51"/>
            </p:custDataLst>
          </p:nvPr>
        </p:nvSpPr>
        <p:spPr>
          <a:xfrm rot="10800000" flipV="1">
            <a:off x="5969000" y="2021205"/>
            <a:ext cx="5620385" cy="254508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52"/>
            </p:custDataLst>
          </p:nvPr>
        </p:nvSpPr>
        <p:spPr>
          <a:xfrm>
            <a:off x="6696710" y="4836160"/>
            <a:ext cx="5121275" cy="1395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Prior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前面我们建立好了如何将图片映射到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Codebook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中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Prior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主要解决生成问题，离散化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Codebook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无法进行随机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采样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第一个特征：直接从 PixelCNN 学到的 初始分布 随机采样。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后续特征：PixelCNN 根据 前面已采样出的特征 条件概率分布，推断当前特征的分布，并从中随机采样。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使用了类似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LLM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的生成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原理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GAN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946900" cy="558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762750" y="558800"/>
            <a:ext cx="5153660" cy="16884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487160" y="3057525"/>
            <a:ext cx="5704840" cy="380047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451610" y="1574800"/>
            <a:ext cx="3443605" cy="575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假设真实数据为1，来自生成的数据为0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35" y="558800"/>
            <a:ext cx="6946265" cy="878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如果判别器完美，则最终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V(D,G)=0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但凡判别器不是完美的，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V(D,G)&lt;0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所以辨别器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D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的目标是最大化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V(D,G)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生成器的目标是最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小化第二项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让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D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尽可能犯错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)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946900" y="2120265"/>
            <a:ext cx="4878070" cy="878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优化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流程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(a)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将初始概率分布映射到真实分布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上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(b)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判别器优化，靠近虚线为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靠近实线为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0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(c)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生成器优化，变得更靠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近真实分布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(b)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完美优化，判别器对所有输入判断为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0.5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7065645" y="0"/>
            <a:ext cx="5005070" cy="878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离散点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真实的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分布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绿色实线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生成器拟合的分布</a:t>
            </a:r>
            <a:b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蓝色虚线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判别器的判别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1993900" y="3977640"/>
            <a:ext cx="487807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真实样本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和噪声样本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都采样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m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个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1993900" y="4739640"/>
            <a:ext cx="487807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第一步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对辨别器求梯度，进行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次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1993900" y="5755640"/>
            <a:ext cx="487807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第二步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对生成器求梯度，仅更新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第二部分，进行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次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993900" y="6263640"/>
            <a:ext cx="487807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总的循环进行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多次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VQ-VAE2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99665" y="188595"/>
            <a:ext cx="7392670" cy="27095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99665" y="3262630"/>
            <a:ext cx="6931660" cy="350583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-86995" y="3991610"/>
            <a:ext cx="275526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顶层编码器提取图像高层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特征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-86995" y="4626610"/>
            <a:ext cx="275526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将高层特征用词典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量化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-86995" y="5007610"/>
            <a:ext cx="275526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结合高层特征和原图，用底层编码器提取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底层特征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-86995" y="5515610"/>
            <a:ext cx="275526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底层特征用词典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量化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-86995" y="5896610"/>
            <a:ext cx="275526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编码器接受两个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量化特征重建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-86995" y="6404610"/>
            <a:ext cx="275526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根据损失函数更新模型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参数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8930005" y="4245610"/>
            <a:ext cx="275526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将量化数据加入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字典中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9057005" y="4766945"/>
            <a:ext cx="275526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训练自回归模型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建立潜变量索引之间的关系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训练成功的模型可以一次预测每个潜变量出现的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概率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9057005" y="5909945"/>
            <a:ext cx="275526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从概率分布中随机采样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潜变量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9057005" y="6290945"/>
            <a:ext cx="275526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全新图像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167005" y="2213610"/>
            <a:ext cx="275526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256x256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167005" y="1324610"/>
            <a:ext cx="275526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底层采样为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64x64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167005" y="562610"/>
            <a:ext cx="275526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高层采样为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32x32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1360170" y="2975610"/>
            <a:ext cx="849757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训练模型的潜变量模型后验作为生成图像的潜变量模型先验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DALL·</a:t>
            </a:r>
            <a:r>
              <a:rPr lang="en-US" altLang="zh-CN"/>
              <a:t>E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350" y="4740910"/>
            <a:ext cx="5067300" cy="11684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28575" y="4561205"/>
            <a:ext cx="1924050" cy="514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模型根据文本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y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和图像生成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的同时出现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的概率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020570" y="4561205"/>
            <a:ext cx="197993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模型根据文本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y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和潜变量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概率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2369820" y="5831205"/>
            <a:ext cx="1337310" cy="718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模型根据图像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推断出的文本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y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和潜变量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的概率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4000500" y="5845175"/>
            <a:ext cx="1534160" cy="718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Transformer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学习到的文本和潜变量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z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同时出现的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概率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2912110" y="6466205"/>
            <a:ext cx="197993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之间的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KL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散度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408940" y="5450205"/>
            <a:ext cx="1611630" cy="718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𝛽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为超参数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=1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时为标准的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ELBO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5594350" y="4053205"/>
            <a:ext cx="6495415" cy="2714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Stage 1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设置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8192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Codebook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向量的均匀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字典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将每一个大尺度图像通过卷积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下采样转化为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32x32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的特征，然后让这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1024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个特征分别对应到概率最大的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Codebook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上的词典中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解决离散梯度不可导的方法和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VQ-VAE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使用straight-through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estimator不同，这里使用Gumbel-softmax 松弛</a:t>
            </a:r>
            <a:b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作者发现在优化时用更大的𝛽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效果更好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更大的正则项，潜空间的后验分布和先验分布的差距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)</a:t>
            </a:r>
            <a:endParaRPr lang="en-US" altLang="zh-CN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endParaRPr lang="en-US" altLang="zh-CN" sz="1200" b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Stage 2</a:t>
            </a: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（训练自回归</a:t>
            </a:r>
            <a: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prior</a:t>
            </a: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）</a:t>
            </a:r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将指导文本</a:t>
            </a:r>
            <a: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(256token)</a:t>
            </a: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和图像</a:t>
            </a:r>
            <a: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(32x32,</a:t>
            </a: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取自</a:t>
            </a:r>
            <a: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codebook)</a:t>
            </a: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拼接成一个序列，当文本</a:t>
            </a:r>
            <a: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token&lt;256</a:t>
            </a: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时补上</a:t>
            </a:r>
            <a: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padding</a:t>
            </a:r>
            <a:b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使用</a:t>
            </a:r>
            <a: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Transformer Decoder-only</a:t>
            </a: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，使用上图三种不同的</a:t>
            </a: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注意力</a:t>
            </a:r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5507990" y="6382385"/>
            <a:ext cx="6582410" cy="7188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Stage1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训练编码器参数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Φ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和解码器参数𝜃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  Stage2 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训练潜变量先验分布模型参数𝛙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   </a:t>
            </a:r>
            <a:endParaRPr lang="en-US" altLang="zh-CN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295400" y="0"/>
            <a:ext cx="10794365" cy="325755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1004570" y="2856865"/>
            <a:ext cx="3574415" cy="514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文本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-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文本只能看到当前位置之前的文本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图像-图像：图像 token 只能看到当前位置之前同一行的最多 5 个图像 token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文本-图像：图像 token 可以看到全部文本 token。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图像-文本：文本 token 看不到任何图像 token。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14"/>
            </p:custDataLst>
          </p:nvPr>
        </p:nvSpPr>
        <p:spPr>
          <a:xfrm>
            <a:off x="4433570" y="2876550"/>
            <a:ext cx="2409190" cy="514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图像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-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图像由看到行变成看到列</a:t>
            </a:r>
            <a:b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其他与</a:t>
            </a:r>
            <a:r>
              <a:rPr lang="en-US" altLang="zh-CN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(a)</a:t>
            </a:r>
            <a:r>
              <a:rPr lang="zh-CN" altLang="en-US" sz="12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相同</a:t>
            </a:r>
            <a:endParaRPr lang="zh-CN" altLang="en-US" sz="12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5"/>
            </p:custDataLst>
          </p:nvPr>
        </p:nvSpPr>
        <p:spPr>
          <a:xfrm>
            <a:off x="6592570" y="3130550"/>
            <a:ext cx="2409190" cy="514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与</a:t>
            </a:r>
            <a: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b</a:t>
            </a: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相同，但是为了</a:t>
            </a:r>
            <a: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GPU</a:t>
            </a: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优化做了转置</a:t>
            </a:r>
            <a:endParaRPr lang="zh-CN" altLang="en-US" sz="1200" b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4" name="文本框 23"/>
          <p:cNvSpPr txBox="1"/>
          <p:nvPr>
            <p:custDataLst>
              <p:tags r:id="rId16"/>
            </p:custDataLst>
          </p:nvPr>
        </p:nvSpPr>
        <p:spPr>
          <a:xfrm>
            <a:off x="9386570" y="3003550"/>
            <a:ext cx="2409190" cy="514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图像</a:t>
            </a:r>
            <a: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-</a:t>
            </a: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图像只能看到当前位置之前局部卷积邻域内的</a:t>
            </a:r>
            <a: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token(11x11</a:t>
            </a:r>
            <a:r>
              <a:rPr lang="zh-CN" altLang="en-US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卷积核内</a:t>
            </a:r>
            <a:r>
              <a:rPr lang="en-US" altLang="zh-CN" sz="12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)</a:t>
            </a:r>
            <a:endParaRPr lang="en-US" altLang="zh-CN" sz="1200" b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8" name="矩形: 圆角 36"/>
          <p:cNvSpPr/>
          <p:nvPr>
            <p:custDataLst>
              <p:tags r:id="rId17"/>
            </p:custDataLst>
          </p:nvPr>
        </p:nvSpPr>
        <p:spPr>
          <a:xfrm rot="10800000" flipV="1">
            <a:off x="133350" y="4443095"/>
            <a:ext cx="5374005" cy="232537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8"/>
            </p:custDataLst>
          </p:nvPr>
        </p:nvSpPr>
        <p:spPr>
          <a:xfrm>
            <a:off x="408940" y="6212205"/>
            <a:ext cx="1611630" cy="718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优化方程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矩形: 圆角 36"/>
          <p:cNvSpPr/>
          <p:nvPr>
            <p:custDataLst>
              <p:tags r:id="rId19"/>
            </p:custDataLst>
          </p:nvPr>
        </p:nvSpPr>
        <p:spPr>
          <a:xfrm rot="10800000" flipV="1">
            <a:off x="5594350" y="4053840"/>
            <a:ext cx="6597015" cy="271462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: 圆角 36"/>
          <p:cNvSpPr/>
          <p:nvPr>
            <p:custDataLst>
              <p:tags r:id="rId20"/>
            </p:custDataLst>
          </p:nvPr>
        </p:nvSpPr>
        <p:spPr>
          <a:xfrm rot="10800000" flipV="1">
            <a:off x="133985" y="0"/>
            <a:ext cx="11930380" cy="390017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1"/>
            </p:custDataLst>
          </p:nvPr>
        </p:nvSpPr>
        <p:spPr>
          <a:xfrm>
            <a:off x="27940" y="370205"/>
            <a:ext cx="1611630" cy="718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掩码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方式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I-GPT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51130"/>
            <a:ext cx="3352800" cy="6731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3293110" y="236855"/>
            <a:ext cx="371348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可以理解为将一个高维的图像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x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拆分成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patch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，高维图像的概率等于每个小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patch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概率的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乘积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054850" y="236855"/>
            <a:ext cx="2425700" cy="5207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9344660" y="109855"/>
            <a:ext cx="284734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最小化负对数似然损失来优化模型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让模型生成整个图像的序列概率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最大化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我们这里的优化不是让恢复的图像靠近原图，而是让生成图像的patch序列拟合原图patch的序列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1421130"/>
            <a:ext cx="4305300" cy="6858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4563110" y="1506855"/>
            <a:ext cx="712597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1200" b="1">
                <a:latin typeface="微软雅黑" charset="0"/>
                <a:ea typeface="微软雅黑" charset="0"/>
                <a:cs typeface="微软雅黑" charset="0"/>
              </a:rPr>
              <a:t>随机 mask 出一部分 patch ，然后训练模型去预测被 mask 的 patch </a:t>
            </a:r>
            <a:br>
              <a:rPr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sz="1200" b="1">
                <a:latin typeface="微软雅黑" charset="0"/>
                <a:ea typeface="微软雅黑" charset="0"/>
                <a:cs typeface="微软雅黑" charset="0"/>
              </a:rPr>
              <a:t>让模型在看到部分信息的情况下，去补全被 mask 掉的部分 patch，从而学到更丰富、更全面的图像潜在分布信息。</a:t>
            </a:r>
            <a:endParaRPr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444625" y="2724785"/>
            <a:ext cx="9785985" cy="252984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-252730" y="3474085"/>
            <a:ext cx="267271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200" b="1">
                <a:latin typeface="微软雅黑" charset="0"/>
                <a:ea typeface="微软雅黑" charset="0"/>
                <a:cs typeface="微软雅黑" charset="0"/>
              </a:rPr>
              <a:t>将图像转化为较低</a:t>
            </a:r>
            <a:r>
              <a:rPr lang="zh-CN" sz="1200" b="1">
                <a:latin typeface="微软雅黑" charset="0"/>
                <a:ea typeface="微软雅黑" charset="0"/>
                <a:cs typeface="微软雅黑" charset="0"/>
              </a:rPr>
              <a:t>分辨率</a:t>
            </a:r>
            <a:endParaRPr 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-252730" y="4490085"/>
            <a:ext cx="2672715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200" b="1">
                <a:latin typeface="微软雅黑" charset="0"/>
                <a:ea typeface="微软雅黑" charset="0"/>
                <a:cs typeface="微软雅黑" charset="0"/>
              </a:rPr>
              <a:t>将低分辨率图像转化为一维</a:t>
            </a:r>
            <a:r>
              <a:rPr lang="zh-CN" sz="1200" b="1">
                <a:latin typeface="微软雅黑" charset="0"/>
                <a:ea typeface="微软雅黑" charset="0"/>
                <a:cs typeface="微软雅黑" charset="0"/>
              </a:rPr>
              <a:t>序列</a:t>
            </a:r>
            <a:endParaRPr 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3904615" y="2458085"/>
            <a:ext cx="1978660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200" b="1">
                <a:latin typeface="微软雅黑" charset="0"/>
                <a:ea typeface="微软雅黑" charset="0"/>
                <a:cs typeface="微软雅黑" charset="0"/>
              </a:rPr>
              <a:t>让模型预测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patch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序列，与初始序列进行对比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优化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6090920" y="2458085"/>
            <a:ext cx="1924050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输入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mask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后的序列，让模型预测被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mask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序列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6"/>
            </p:custDataLst>
          </p:nvPr>
        </p:nvSpPr>
        <p:spPr>
          <a:xfrm>
            <a:off x="8797925" y="2384425"/>
            <a:ext cx="1924050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Linear Probe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固定预训练模型，仅训练最后的线性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分类器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8797925" y="5178425"/>
            <a:ext cx="1924050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微调整个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模型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8"/>
            </p:custDataLst>
          </p:nvPr>
        </p:nvSpPr>
        <p:spPr>
          <a:xfrm>
            <a:off x="208915" y="5760085"/>
            <a:ext cx="1110615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生成方式是根据自回归模型生成一个全新的一维序列，然后反向建模成一个低分辨率图像</a:t>
            </a:r>
            <a:endParaRPr lang="zh-CN" sz="20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Diffusion </a:t>
            </a:r>
            <a:r>
              <a:rPr lang="en-US" altLang="zh-CN"/>
              <a:t>Model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79520" y="0"/>
            <a:ext cx="4410710" cy="32219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3818890"/>
            <a:ext cx="3067685" cy="68961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0" y="3357880"/>
            <a:ext cx="345948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200" b="1">
                <a:latin typeface="微软雅黑" charset="0"/>
                <a:ea typeface="微软雅黑" charset="0"/>
                <a:cs typeface="微软雅黑" charset="0"/>
              </a:rPr>
              <a:t>初始图像通过相同的加噪一步一步变成高斯分布</a:t>
            </a:r>
            <a:br>
              <a:rPr 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sz="1200" b="1">
                <a:latin typeface="微软雅黑" charset="0"/>
                <a:ea typeface="微软雅黑" charset="0"/>
                <a:cs typeface="微软雅黑" charset="0"/>
              </a:rPr>
              <a:t>𝛽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为步长，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可调节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5347970"/>
            <a:ext cx="3459480" cy="73787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0" y="5008880"/>
            <a:ext cx="345948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当前步的概率等于初始的图像连乘加噪条件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概率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808085" y="3945890"/>
            <a:ext cx="2928620" cy="74358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8636000" y="3357880"/>
            <a:ext cx="345948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将高斯噪声分布作为初始概率分布额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逆马尔科夫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链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596130" y="3495040"/>
            <a:ext cx="3251200" cy="15138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431030" y="5528945"/>
            <a:ext cx="3492500" cy="8128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4572000" y="3103880"/>
            <a:ext cx="345948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第一项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KL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散度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用神经网络计算的每一步概率拟合正向过程每一步的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后验概率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4572000" y="4881880"/>
            <a:ext cx="345948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第二项熵项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不参与学习，主要用于配平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公式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4572000" y="6278880"/>
            <a:ext cx="345948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反向过程的每一步最大化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K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8" name="矩形: 圆角 36"/>
          <p:cNvSpPr/>
          <p:nvPr>
            <p:custDataLst>
              <p:tags r:id="rId19"/>
            </p:custDataLst>
          </p:nvPr>
        </p:nvSpPr>
        <p:spPr>
          <a:xfrm rot="10800000" flipV="1">
            <a:off x="635" y="3221990"/>
            <a:ext cx="3458845" cy="354647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: 圆角 36"/>
          <p:cNvSpPr/>
          <p:nvPr>
            <p:custDataLst>
              <p:tags r:id="rId20"/>
            </p:custDataLst>
          </p:nvPr>
        </p:nvSpPr>
        <p:spPr>
          <a:xfrm rot="10800000" flipV="1">
            <a:off x="8636635" y="3221990"/>
            <a:ext cx="3458845" cy="354647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: 圆角 36"/>
          <p:cNvSpPr/>
          <p:nvPr>
            <p:custDataLst>
              <p:tags r:id="rId21"/>
            </p:custDataLst>
          </p:nvPr>
        </p:nvSpPr>
        <p:spPr>
          <a:xfrm rot="10800000" flipV="1">
            <a:off x="4699635" y="3103880"/>
            <a:ext cx="3458845" cy="366458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2"/>
            </p:custDataLst>
          </p:nvPr>
        </p:nvSpPr>
        <p:spPr>
          <a:xfrm>
            <a:off x="0" y="6278880"/>
            <a:ext cx="345948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正向过程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23"/>
            </p:custDataLst>
          </p:nvPr>
        </p:nvSpPr>
        <p:spPr>
          <a:xfrm>
            <a:off x="8636000" y="6278880"/>
            <a:ext cx="345948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反向过程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24"/>
            </p:custDataLst>
          </p:nvPr>
        </p:nvSpPr>
        <p:spPr>
          <a:xfrm>
            <a:off x="4699000" y="6405880"/>
            <a:ext cx="3459480" cy="33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优化目标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3581</Words>
  <Application>WPS 演示</Application>
  <PresentationFormat>宽屏</PresentationFormat>
  <Paragraphs>219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汉仪书宋二KW</vt:lpstr>
      <vt:lpstr>微软雅黑</vt:lpstr>
      <vt:lpstr>宋体</vt:lpstr>
      <vt:lpstr>Arial Unicode MS</vt:lpstr>
      <vt:lpstr>BatangChe</vt:lpstr>
      <vt:lpstr>Apple SD Gothic Neo</vt:lpstr>
      <vt:lpstr>DejaVuMathTeXGyre</vt:lpstr>
      <vt:lpstr>WPS</vt:lpstr>
      <vt:lpstr>VAE</vt:lpstr>
      <vt:lpstr>PowerPoint 演示文稿</vt:lpstr>
      <vt:lpstr>PowerPoint 演示文稿</vt:lpstr>
      <vt:lpstr>VQ-VAE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Elephant King。</cp:lastModifiedBy>
  <cp:revision>46</cp:revision>
  <dcterms:created xsi:type="dcterms:W3CDTF">2025-06-29T03:27:51Z</dcterms:created>
  <dcterms:modified xsi:type="dcterms:W3CDTF">2025-06-29T03:27:51Z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9906DE13316D6A8AC9A25F6855788AF2_43</vt:lpwstr>
  </property>
</Properties>
</file>