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32"/>
  </p:handoutMasterIdLst>
  <p:sldIdLst>
    <p:sldId id="256" r:id="rId3"/>
    <p:sldId id="258" r:id="rId5"/>
    <p:sldId id="257" r:id="rId6"/>
    <p:sldId id="259" r:id="rId7"/>
    <p:sldId id="260" r:id="rId8"/>
    <p:sldId id="264" r:id="rId9"/>
    <p:sldId id="262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4" r:id="rId30"/>
    <p:sldId id="285" r:id="rId31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95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handoutMaster" Target="handoutMasters/handoutMaster1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2.xml"/><Relationship Id="rId8" Type="http://schemas.openxmlformats.org/officeDocument/2006/relationships/image" Target="../media/image6.png"/><Relationship Id="rId7" Type="http://schemas.openxmlformats.org/officeDocument/2006/relationships/tags" Target="../tags/tag11.xml"/><Relationship Id="rId6" Type="http://schemas.openxmlformats.org/officeDocument/2006/relationships/image" Target="../media/image5.png"/><Relationship Id="rId5" Type="http://schemas.openxmlformats.org/officeDocument/2006/relationships/tags" Target="../tags/tag10.xml"/><Relationship Id="rId46" Type="http://schemas.openxmlformats.org/officeDocument/2006/relationships/slideLayout" Target="../slideLayouts/slideLayout1.xml"/><Relationship Id="rId45" Type="http://schemas.openxmlformats.org/officeDocument/2006/relationships/tags" Target="../tags/tag41.xml"/><Relationship Id="rId44" Type="http://schemas.openxmlformats.org/officeDocument/2006/relationships/tags" Target="../tags/tag40.xml"/><Relationship Id="rId43" Type="http://schemas.openxmlformats.org/officeDocument/2006/relationships/image" Target="../media/image13.png"/><Relationship Id="rId42" Type="http://schemas.openxmlformats.org/officeDocument/2006/relationships/tags" Target="../tags/tag39.xml"/><Relationship Id="rId41" Type="http://schemas.openxmlformats.org/officeDocument/2006/relationships/tags" Target="../tags/tag38.xml"/><Relationship Id="rId40" Type="http://schemas.openxmlformats.org/officeDocument/2006/relationships/image" Target="../media/image12.png"/><Relationship Id="rId4" Type="http://schemas.openxmlformats.org/officeDocument/2006/relationships/image" Target="../media/image4.png"/><Relationship Id="rId39" Type="http://schemas.openxmlformats.org/officeDocument/2006/relationships/tags" Target="../tags/tag37.xml"/><Relationship Id="rId38" Type="http://schemas.openxmlformats.org/officeDocument/2006/relationships/tags" Target="../tags/tag36.xml"/><Relationship Id="rId37" Type="http://schemas.openxmlformats.org/officeDocument/2006/relationships/image" Target="../media/image11.png"/><Relationship Id="rId36" Type="http://schemas.openxmlformats.org/officeDocument/2006/relationships/tags" Target="../tags/tag35.xml"/><Relationship Id="rId35" Type="http://schemas.openxmlformats.org/officeDocument/2006/relationships/tags" Target="../tags/tag34.xml"/><Relationship Id="rId34" Type="http://schemas.openxmlformats.org/officeDocument/2006/relationships/tags" Target="../tags/tag33.xml"/><Relationship Id="rId33" Type="http://schemas.openxmlformats.org/officeDocument/2006/relationships/tags" Target="../tags/tag32.xml"/><Relationship Id="rId32" Type="http://schemas.openxmlformats.org/officeDocument/2006/relationships/tags" Target="../tags/tag31.xml"/><Relationship Id="rId31" Type="http://schemas.openxmlformats.org/officeDocument/2006/relationships/image" Target="../media/image10.png"/><Relationship Id="rId30" Type="http://schemas.openxmlformats.org/officeDocument/2006/relationships/tags" Target="../tags/tag30.xml"/><Relationship Id="rId3" Type="http://schemas.openxmlformats.org/officeDocument/2006/relationships/tags" Target="../tags/tag9.xml"/><Relationship Id="rId29" Type="http://schemas.openxmlformats.org/officeDocument/2006/relationships/tags" Target="../tags/tag29.xml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image" Target="../media/image3.png"/><Relationship Id="rId19" Type="http://schemas.openxmlformats.org/officeDocument/2006/relationships/tags" Target="../tags/tag19.xml"/><Relationship Id="rId18" Type="http://schemas.openxmlformats.org/officeDocument/2006/relationships/image" Target="../media/image9.png"/><Relationship Id="rId17" Type="http://schemas.openxmlformats.org/officeDocument/2006/relationships/tags" Target="../tags/tag18.xml"/><Relationship Id="rId16" Type="http://schemas.openxmlformats.org/officeDocument/2006/relationships/tags" Target="../tags/tag17.xml"/><Relationship Id="rId15" Type="http://schemas.openxmlformats.org/officeDocument/2006/relationships/tags" Target="../tags/tag16.xml"/><Relationship Id="rId14" Type="http://schemas.openxmlformats.org/officeDocument/2006/relationships/image" Target="../media/image8.png"/><Relationship Id="rId13" Type="http://schemas.openxmlformats.org/officeDocument/2006/relationships/tags" Target="../tags/tag15.xml"/><Relationship Id="rId12" Type="http://schemas.openxmlformats.org/officeDocument/2006/relationships/tags" Target="../tags/tag14.xml"/><Relationship Id="rId11" Type="http://schemas.openxmlformats.org/officeDocument/2006/relationships/tags" Target="../tags/tag13.xml"/><Relationship Id="rId10" Type="http://schemas.openxmlformats.org/officeDocument/2006/relationships/image" Target="../media/image7.png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47.xml"/><Relationship Id="rId8" Type="http://schemas.openxmlformats.org/officeDocument/2006/relationships/tags" Target="../tags/tag46.xml"/><Relationship Id="rId7" Type="http://schemas.openxmlformats.org/officeDocument/2006/relationships/tags" Target="../tags/tag45.xml"/><Relationship Id="rId6" Type="http://schemas.openxmlformats.org/officeDocument/2006/relationships/image" Target="../media/image16.png"/><Relationship Id="rId5" Type="http://schemas.openxmlformats.org/officeDocument/2006/relationships/tags" Target="../tags/tag44.xml"/><Relationship Id="rId4" Type="http://schemas.openxmlformats.org/officeDocument/2006/relationships/image" Target="../media/image15.png"/><Relationship Id="rId3" Type="http://schemas.openxmlformats.org/officeDocument/2006/relationships/tags" Target="../tags/tag43.xml"/><Relationship Id="rId2" Type="http://schemas.openxmlformats.org/officeDocument/2006/relationships/image" Target="../media/image14.png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54.xml"/><Relationship Id="rId15" Type="http://schemas.openxmlformats.org/officeDocument/2006/relationships/tags" Target="../tags/tag53.xml"/><Relationship Id="rId14" Type="http://schemas.openxmlformats.org/officeDocument/2006/relationships/tags" Target="../tags/tag52.xml"/><Relationship Id="rId13" Type="http://schemas.openxmlformats.org/officeDocument/2006/relationships/tags" Target="../tags/tag51.xml"/><Relationship Id="rId12" Type="http://schemas.openxmlformats.org/officeDocument/2006/relationships/tags" Target="../tags/tag50.xml"/><Relationship Id="rId11" Type="http://schemas.openxmlformats.org/officeDocument/2006/relationships/tags" Target="../tags/tag49.xml"/><Relationship Id="rId10" Type="http://schemas.openxmlformats.org/officeDocument/2006/relationships/tags" Target="../tags/tag48.xml"/><Relationship Id="rId1" Type="http://schemas.openxmlformats.org/officeDocument/2006/relationships/tags" Target="../tags/tag42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59.xml"/><Relationship Id="rId8" Type="http://schemas.openxmlformats.org/officeDocument/2006/relationships/image" Target="../media/image19.png"/><Relationship Id="rId7" Type="http://schemas.openxmlformats.org/officeDocument/2006/relationships/tags" Target="../tags/tag58.xml"/><Relationship Id="rId6" Type="http://schemas.openxmlformats.org/officeDocument/2006/relationships/image" Target="../media/image18.png"/><Relationship Id="rId50" Type="http://schemas.openxmlformats.org/officeDocument/2006/relationships/slideLayout" Target="../slideLayouts/slideLayout1.xml"/><Relationship Id="rId5" Type="http://schemas.openxmlformats.org/officeDocument/2006/relationships/tags" Target="../tags/tag57.xml"/><Relationship Id="rId49" Type="http://schemas.openxmlformats.org/officeDocument/2006/relationships/tags" Target="../tags/tag95.xml"/><Relationship Id="rId48" Type="http://schemas.openxmlformats.org/officeDocument/2006/relationships/image" Target="../media/image23.png"/><Relationship Id="rId47" Type="http://schemas.openxmlformats.org/officeDocument/2006/relationships/tags" Target="../tags/tag94.xml"/><Relationship Id="rId46" Type="http://schemas.openxmlformats.org/officeDocument/2006/relationships/tags" Target="../tags/tag93.xml"/><Relationship Id="rId45" Type="http://schemas.openxmlformats.org/officeDocument/2006/relationships/tags" Target="../tags/tag92.xml"/><Relationship Id="rId44" Type="http://schemas.openxmlformats.org/officeDocument/2006/relationships/tags" Target="../tags/tag91.xml"/><Relationship Id="rId43" Type="http://schemas.openxmlformats.org/officeDocument/2006/relationships/tags" Target="../tags/tag90.xml"/><Relationship Id="rId42" Type="http://schemas.openxmlformats.org/officeDocument/2006/relationships/tags" Target="../tags/tag89.xml"/><Relationship Id="rId41" Type="http://schemas.openxmlformats.org/officeDocument/2006/relationships/tags" Target="../tags/tag88.xml"/><Relationship Id="rId40" Type="http://schemas.openxmlformats.org/officeDocument/2006/relationships/tags" Target="../tags/tag87.xml"/><Relationship Id="rId4" Type="http://schemas.openxmlformats.org/officeDocument/2006/relationships/image" Target="../media/image17.png"/><Relationship Id="rId39" Type="http://schemas.openxmlformats.org/officeDocument/2006/relationships/tags" Target="../tags/tag86.xml"/><Relationship Id="rId38" Type="http://schemas.openxmlformats.org/officeDocument/2006/relationships/image" Target="../media/image22.png"/><Relationship Id="rId37" Type="http://schemas.openxmlformats.org/officeDocument/2006/relationships/tags" Target="../tags/tag85.xml"/><Relationship Id="rId36" Type="http://schemas.openxmlformats.org/officeDocument/2006/relationships/tags" Target="../tags/tag84.xml"/><Relationship Id="rId35" Type="http://schemas.openxmlformats.org/officeDocument/2006/relationships/tags" Target="../tags/tag83.xml"/><Relationship Id="rId34" Type="http://schemas.openxmlformats.org/officeDocument/2006/relationships/tags" Target="../tags/tag82.xml"/><Relationship Id="rId33" Type="http://schemas.openxmlformats.org/officeDocument/2006/relationships/tags" Target="../tags/tag81.xml"/><Relationship Id="rId32" Type="http://schemas.openxmlformats.org/officeDocument/2006/relationships/tags" Target="../tags/tag80.xml"/><Relationship Id="rId31" Type="http://schemas.openxmlformats.org/officeDocument/2006/relationships/tags" Target="../tags/tag79.xml"/><Relationship Id="rId30" Type="http://schemas.openxmlformats.org/officeDocument/2006/relationships/tags" Target="../tags/tag78.xml"/><Relationship Id="rId3" Type="http://schemas.openxmlformats.org/officeDocument/2006/relationships/tags" Target="../tags/tag56.xml"/><Relationship Id="rId29" Type="http://schemas.openxmlformats.org/officeDocument/2006/relationships/tags" Target="../tags/tag77.xml"/><Relationship Id="rId28" Type="http://schemas.openxmlformats.org/officeDocument/2006/relationships/tags" Target="../tags/tag76.xml"/><Relationship Id="rId27" Type="http://schemas.openxmlformats.org/officeDocument/2006/relationships/tags" Target="../tags/tag75.xml"/><Relationship Id="rId26" Type="http://schemas.openxmlformats.org/officeDocument/2006/relationships/tags" Target="../tags/tag74.xml"/><Relationship Id="rId25" Type="http://schemas.openxmlformats.org/officeDocument/2006/relationships/tags" Target="../tags/tag73.xml"/><Relationship Id="rId24" Type="http://schemas.openxmlformats.org/officeDocument/2006/relationships/tags" Target="../tags/tag72.xml"/><Relationship Id="rId23" Type="http://schemas.openxmlformats.org/officeDocument/2006/relationships/tags" Target="../tags/tag71.xml"/><Relationship Id="rId22" Type="http://schemas.openxmlformats.org/officeDocument/2006/relationships/tags" Target="../tags/tag70.xml"/><Relationship Id="rId21" Type="http://schemas.openxmlformats.org/officeDocument/2006/relationships/tags" Target="../tags/tag69.xml"/><Relationship Id="rId20" Type="http://schemas.openxmlformats.org/officeDocument/2006/relationships/tags" Target="../tags/tag68.xml"/><Relationship Id="rId2" Type="http://schemas.openxmlformats.org/officeDocument/2006/relationships/image" Target="../media/image14.png"/><Relationship Id="rId19" Type="http://schemas.openxmlformats.org/officeDocument/2006/relationships/tags" Target="../tags/tag67.xml"/><Relationship Id="rId18" Type="http://schemas.openxmlformats.org/officeDocument/2006/relationships/tags" Target="../tags/tag66.xml"/><Relationship Id="rId17" Type="http://schemas.openxmlformats.org/officeDocument/2006/relationships/tags" Target="../tags/tag65.xml"/><Relationship Id="rId16" Type="http://schemas.openxmlformats.org/officeDocument/2006/relationships/tags" Target="../tags/tag64.xml"/><Relationship Id="rId15" Type="http://schemas.openxmlformats.org/officeDocument/2006/relationships/tags" Target="../tags/tag63.xml"/><Relationship Id="rId14" Type="http://schemas.openxmlformats.org/officeDocument/2006/relationships/tags" Target="../tags/tag62.xml"/><Relationship Id="rId13" Type="http://schemas.openxmlformats.org/officeDocument/2006/relationships/tags" Target="../tags/tag61.xml"/><Relationship Id="rId12" Type="http://schemas.openxmlformats.org/officeDocument/2006/relationships/image" Target="../media/image21.png"/><Relationship Id="rId11" Type="http://schemas.openxmlformats.org/officeDocument/2006/relationships/tags" Target="../tags/tag60.xml"/><Relationship Id="rId10" Type="http://schemas.openxmlformats.org/officeDocument/2006/relationships/image" Target="../media/image20.png"/><Relationship Id="rId1" Type="http://schemas.openxmlformats.org/officeDocument/2006/relationships/tags" Target="../tags/tag5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01.xml"/><Relationship Id="rId8" Type="http://schemas.openxmlformats.org/officeDocument/2006/relationships/tags" Target="../tags/tag100.xml"/><Relationship Id="rId7" Type="http://schemas.openxmlformats.org/officeDocument/2006/relationships/tags" Target="../tags/tag99.xml"/><Relationship Id="rId6" Type="http://schemas.openxmlformats.org/officeDocument/2006/relationships/image" Target="../media/image26.png"/><Relationship Id="rId5" Type="http://schemas.openxmlformats.org/officeDocument/2006/relationships/tags" Target="../tags/tag98.xml"/><Relationship Id="rId4" Type="http://schemas.openxmlformats.org/officeDocument/2006/relationships/image" Target="../media/image25.png"/><Relationship Id="rId3" Type="http://schemas.openxmlformats.org/officeDocument/2006/relationships/tags" Target="../tags/tag97.xml"/><Relationship Id="rId2" Type="http://schemas.openxmlformats.org/officeDocument/2006/relationships/image" Target="../media/image24.png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106.xml"/><Relationship Id="rId13" Type="http://schemas.openxmlformats.org/officeDocument/2006/relationships/tags" Target="../tags/tag105.xml"/><Relationship Id="rId12" Type="http://schemas.openxmlformats.org/officeDocument/2006/relationships/tags" Target="../tags/tag104.xml"/><Relationship Id="rId11" Type="http://schemas.openxmlformats.org/officeDocument/2006/relationships/tags" Target="../tags/tag103.xml"/><Relationship Id="rId10" Type="http://schemas.openxmlformats.org/officeDocument/2006/relationships/tags" Target="../tags/tag102.xml"/><Relationship Id="rId1" Type="http://schemas.openxmlformats.org/officeDocument/2006/relationships/tags" Target="../tags/tag9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13.xml"/><Relationship Id="rId8" Type="http://schemas.openxmlformats.org/officeDocument/2006/relationships/tags" Target="../tags/tag112.xml"/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image" Target="../media/image28.png"/><Relationship Id="rId3" Type="http://schemas.openxmlformats.org/officeDocument/2006/relationships/tags" Target="../tags/tag108.xml"/><Relationship Id="rId2" Type="http://schemas.openxmlformats.org/officeDocument/2006/relationships/image" Target="../media/image27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22.xml"/><Relationship Id="rId17" Type="http://schemas.openxmlformats.org/officeDocument/2006/relationships/tags" Target="../tags/tag121.xml"/><Relationship Id="rId16" Type="http://schemas.openxmlformats.org/officeDocument/2006/relationships/tags" Target="../tags/tag120.xml"/><Relationship Id="rId15" Type="http://schemas.openxmlformats.org/officeDocument/2006/relationships/tags" Target="../tags/tag119.xml"/><Relationship Id="rId14" Type="http://schemas.openxmlformats.org/officeDocument/2006/relationships/tags" Target="../tags/tag118.xml"/><Relationship Id="rId13" Type="http://schemas.openxmlformats.org/officeDocument/2006/relationships/tags" Target="../tags/tag117.xml"/><Relationship Id="rId12" Type="http://schemas.openxmlformats.org/officeDocument/2006/relationships/tags" Target="../tags/tag116.xml"/><Relationship Id="rId11" Type="http://schemas.openxmlformats.org/officeDocument/2006/relationships/tags" Target="../tags/tag115.xml"/><Relationship Id="rId10" Type="http://schemas.openxmlformats.org/officeDocument/2006/relationships/tags" Target="../tags/tag114.xml"/><Relationship Id="rId1" Type="http://schemas.openxmlformats.org/officeDocument/2006/relationships/tags" Target="../tags/tag10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30.xml"/><Relationship Id="rId8" Type="http://schemas.openxmlformats.org/officeDocument/2006/relationships/tags" Target="../tags/tag129.xml"/><Relationship Id="rId7" Type="http://schemas.openxmlformats.org/officeDocument/2006/relationships/tags" Target="../tags/tag128.xml"/><Relationship Id="rId6" Type="http://schemas.openxmlformats.org/officeDocument/2006/relationships/tags" Target="../tags/tag127.xml"/><Relationship Id="rId5" Type="http://schemas.openxmlformats.org/officeDocument/2006/relationships/tags" Target="../tags/tag126.xml"/><Relationship Id="rId4" Type="http://schemas.openxmlformats.org/officeDocument/2006/relationships/tags" Target="../tags/tag125.xml"/><Relationship Id="rId3" Type="http://schemas.openxmlformats.org/officeDocument/2006/relationships/tags" Target="../tags/tag124.xml"/><Relationship Id="rId22" Type="http://schemas.openxmlformats.org/officeDocument/2006/relationships/slideLayout" Target="../slideLayouts/slideLayout1.xml"/><Relationship Id="rId21" Type="http://schemas.openxmlformats.org/officeDocument/2006/relationships/tags" Target="../tags/tag141.xml"/><Relationship Id="rId20" Type="http://schemas.openxmlformats.org/officeDocument/2006/relationships/tags" Target="../tags/tag140.xml"/><Relationship Id="rId2" Type="http://schemas.openxmlformats.org/officeDocument/2006/relationships/image" Target="../media/image29.png"/><Relationship Id="rId19" Type="http://schemas.openxmlformats.org/officeDocument/2006/relationships/tags" Target="../tags/tag139.xml"/><Relationship Id="rId18" Type="http://schemas.openxmlformats.org/officeDocument/2006/relationships/tags" Target="../tags/tag138.xml"/><Relationship Id="rId17" Type="http://schemas.openxmlformats.org/officeDocument/2006/relationships/tags" Target="../tags/tag137.xml"/><Relationship Id="rId16" Type="http://schemas.openxmlformats.org/officeDocument/2006/relationships/tags" Target="../tags/tag136.xml"/><Relationship Id="rId15" Type="http://schemas.openxmlformats.org/officeDocument/2006/relationships/tags" Target="../tags/tag135.xml"/><Relationship Id="rId14" Type="http://schemas.openxmlformats.org/officeDocument/2006/relationships/tags" Target="../tags/tag134.xml"/><Relationship Id="rId13" Type="http://schemas.openxmlformats.org/officeDocument/2006/relationships/tags" Target="../tags/tag133.xml"/><Relationship Id="rId12" Type="http://schemas.openxmlformats.org/officeDocument/2006/relationships/image" Target="../media/image30.png"/><Relationship Id="rId11" Type="http://schemas.openxmlformats.org/officeDocument/2006/relationships/tags" Target="../tags/tag132.xml"/><Relationship Id="rId10" Type="http://schemas.openxmlformats.org/officeDocument/2006/relationships/tags" Target="../tags/tag131.xml"/><Relationship Id="rId1" Type="http://schemas.openxmlformats.org/officeDocument/2006/relationships/tags" Target="../tags/tag12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image" Target="../media/image33.png"/><Relationship Id="rId7" Type="http://schemas.openxmlformats.org/officeDocument/2006/relationships/tags" Target="../tags/tag146.xml"/><Relationship Id="rId6" Type="http://schemas.openxmlformats.org/officeDocument/2006/relationships/tags" Target="../tags/tag145.xml"/><Relationship Id="rId5" Type="http://schemas.openxmlformats.org/officeDocument/2006/relationships/image" Target="../media/image32.png"/><Relationship Id="rId4" Type="http://schemas.openxmlformats.org/officeDocument/2006/relationships/tags" Target="../tags/tag144.xml"/><Relationship Id="rId3" Type="http://schemas.openxmlformats.org/officeDocument/2006/relationships/tags" Target="../tags/tag143.xml"/><Relationship Id="rId2" Type="http://schemas.openxmlformats.org/officeDocument/2006/relationships/image" Target="../media/image31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55.xml"/><Relationship Id="rId17" Type="http://schemas.openxmlformats.org/officeDocument/2006/relationships/tags" Target="../tags/tag154.xml"/><Relationship Id="rId16" Type="http://schemas.openxmlformats.org/officeDocument/2006/relationships/tags" Target="../tags/tag153.xml"/><Relationship Id="rId15" Type="http://schemas.openxmlformats.org/officeDocument/2006/relationships/tags" Target="../tags/tag152.xml"/><Relationship Id="rId14" Type="http://schemas.openxmlformats.org/officeDocument/2006/relationships/tags" Target="../tags/tag151.xml"/><Relationship Id="rId13" Type="http://schemas.openxmlformats.org/officeDocument/2006/relationships/tags" Target="../tags/tag150.xml"/><Relationship Id="rId12" Type="http://schemas.openxmlformats.org/officeDocument/2006/relationships/tags" Target="../tags/tag149.xml"/><Relationship Id="rId11" Type="http://schemas.openxmlformats.org/officeDocument/2006/relationships/image" Target="../media/image34.png"/><Relationship Id="rId10" Type="http://schemas.openxmlformats.org/officeDocument/2006/relationships/tags" Target="../tags/tag148.xml"/><Relationship Id="rId1" Type="http://schemas.openxmlformats.org/officeDocument/2006/relationships/tags" Target="../tags/tag14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161.xml"/><Relationship Id="rId8" Type="http://schemas.openxmlformats.org/officeDocument/2006/relationships/tags" Target="../tags/tag160.xml"/><Relationship Id="rId7" Type="http://schemas.openxmlformats.org/officeDocument/2006/relationships/image" Target="../media/image37.png"/><Relationship Id="rId6" Type="http://schemas.openxmlformats.org/officeDocument/2006/relationships/tags" Target="../tags/tag159.xml"/><Relationship Id="rId5" Type="http://schemas.openxmlformats.org/officeDocument/2006/relationships/tags" Target="../tags/tag158.xml"/><Relationship Id="rId4" Type="http://schemas.openxmlformats.org/officeDocument/2006/relationships/image" Target="../media/image36.png"/><Relationship Id="rId3" Type="http://schemas.openxmlformats.org/officeDocument/2006/relationships/tags" Target="../tags/tag157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173.xml"/><Relationship Id="rId23" Type="http://schemas.openxmlformats.org/officeDocument/2006/relationships/tags" Target="../tags/tag172.xml"/><Relationship Id="rId22" Type="http://schemas.openxmlformats.org/officeDocument/2006/relationships/tags" Target="../tags/tag171.xml"/><Relationship Id="rId21" Type="http://schemas.openxmlformats.org/officeDocument/2006/relationships/tags" Target="../tags/tag170.xml"/><Relationship Id="rId20" Type="http://schemas.openxmlformats.org/officeDocument/2006/relationships/tags" Target="../tags/tag169.xml"/><Relationship Id="rId2" Type="http://schemas.openxmlformats.org/officeDocument/2006/relationships/image" Target="../media/image35.png"/><Relationship Id="rId19" Type="http://schemas.openxmlformats.org/officeDocument/2006/relationships/tags" Target="../tags/tag168.xml"/><Relationship Id="rId18" Type="http://schemas.openxmlformats.org/officeDocument/2006/relationships/tags" Target="../tags/tag167.xml"/><Relationship Id="rId17" Type="http://schemas.openxmlformats.org/officeDocument/2006/relationships/tags" Target="../tags/tag166.xml"/><Relationship Id="rId16" Type="http://schemas.openxmlformats.org/officeDocument/2006/relationships/tags" Target="../tags/tag165.xml"/><Relationship Id="rId15" Type="http://schemas.openxmlformats.org/officeDocument/2006/relationships/image" Target="../media/image40.png"/><Relationship Id="rId14" Type="http://schemas.openxmlformats.org/officeDocument/2006/relationships/tags" Target="../tags/tag164.xml"/><Relationship Id="rId13" Type="http://schemas.openxmlformats.org/officeDocument/2006/relationships/image" Target="../media/image39.png"/><Relationship Id="rId12" Type="http://schemas.openxmlformats.org/officeDocument/2006/relationships/tags" Target="../tags/tag163.xml"/><Relationship Id="rId11" Type="http://schemas.openxmlformats.org/officeDocument/2006/relationships/tags" Target="../tags/tag162.xml"/><Relationship Id="rId10" Type="http://schemas.openxmlformats.org/officeDocument/2006/relationships/image" Target="../media/image38.png"/><Relationship Id="rId1" Type="http://schemas.openxmlformats.org/officeDocument/2006/relationships/tags" Target="../tags/tag15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180.xml"/><Relationship Id="rId8" Type="http://schemas.openxmlformats.org/officeDocument/2006/relationships/tags" Target="../tags/tag179.xml"/><Relationship Id="rId7" Type="http://schemas.openxmlformats.org/officeDocument/2006/relationships/tags" Target="../tags/tag178.xml"/><Relationship Id="rId6" Type="http://schemas.openxmlformats.org/officeDocument/2006/relationships/tags" Target="../tags/tag177.xml"/><Relationship Id="rId5" Type="http://schemas.openxmlformats.org/officeDocument/2006/relationships/tags" Target="../tags/tag176.xml"/><Relationship Id="rId4" Type="http://schemas.openxmlformats.org/officeDocument/2006/relationships/image" Target="../media/image42.png"/><Relationship Id="rId3" Type="http://schemas.openxmlformats.org/officeDocument/2006/relationships/tags" Target="../tags/tag175.xml"/><Relationship Id="rId2" Type="http://schemas.openxmlformats.org/officeDocument/2006/relationships/image" Target="../media/image41.png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184.xml"/><Relationship Id="rId14" Type="http://schemas.openxmlformats.org/officeDocument/2006/relationships/tags" Target="../tags/tag183.xml"/><Relationship Id="rId13" Type="http://schemas.openxmlformats.org/officeDocument/2006/relationships/image" Target="../media/image44.png"/><Relationship Id="rId12" Type="http://schemas.openxmlformats.org/officeDocument/2006/relationships/tags" Target="../tags/tag182.xml"/><Relationship Id="rId11" Type="http://schemas.openxmlformats.org/officeDocument/2006/relationships/tags" Target="../tags/tag181.xml"/><Relationship Id="rId10" Type="http://schemas.openxmlformats.org/officeDocument/2006/relationships/image" Target="../media/image43.png"/><Relationship Id="rId1" Type="http://schemas.openxmlformats.org/officeDocument/2006/relationships/tags" Target="../tags/tag17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188.xml"/><Relationship Id="rId5" Type="http://schemas.openxmlformats.org/officeDocument/2006/relationships/image" Target="../media/image46.png"/><Relationship Id="rId4" Type="http://schemas.openxmlformats.org/officeDocument/2006/relationships/tags" Target="../tags/tag187.xml"/><Relationship Id="rId3" Type="http://schemas.openxmlformats.org/officeDocument/2006/relationships/tags" Target="../tags/tag186.xml"/><Relationship Id="rId2" Type="http://schemas.openxmlformats.org/officeDocument/2006/relationships/image" Target="../media/image45.png"/><Relationship Id="rId1" Type="http://schemas.openxmlformats.org/officeDocument/2006/relationships/tags" Target="../tags/tag18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image" Target="../media/image48.png"/><Relationship Id="rId5" Type="http://schemas.openxmlformats.org/officeDocument/2006/relationships/tags" Target="../tags/tag192.xml"/><Relationship Id="rId4" Type="http://schemas.openxmlformats.org/officeDocument/2006/relationships/tags" Target="../tags/tag191.xml"/><Relationship Id="rId3" Type="http://schemas.openxmlformats.org/officeDocument/2006/relationships/tags" Target="../tags/tag190.xml"/><Relationship Id="rId2" Type="http://schemas.openxmlformats.org/officeDocument/2006/relationships/image" Target="../media/image47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196.xml"/><Relationship Id="rId10" Type="http://schemas.openxmlformats.org/officeDocument/2006/relationships/image" Target="../media/image49.png"/><Relationship Id="rId1" Type="http://schemas.openxmlformats.org/officeDocument/2006/relationships/tags" Target="../tags/tag18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203.xml"/><Relationship Id="rId8" Type="http://schemas.openxmlformats.org/officeDocument/2006/relationships/tags" Target="../tags/tag202.xml"/><Relationship Id="rId7" Type="http://schemas.openxmlformats.org/officeDocument/2006/relationships/tags" Target="../tags/tag201.xml"/><Relationship Id="rId6" Type="http://schemas.openxmlformats.org/officeDocument/2006/relationships/tags" Target="../tags/tag200.xml"/><Relationship Id="rId5" Type="http://schemas.openxmlformats.org/officeDocument/2006/relationships/tags" Target="../tags/tag199.xml"/><Relationship Id="rId4" Type="http://schemas.openxmlformats.org/officeDocument/2006/relationships/image" Target="../media/image51.png"/><Relationship Id="rId3" Type="http://schemas.openxmlformats.org/officeDocument/2006/relationships/tags" Target="../tags/tag198.xml"/><Relationship Id="rId2" Type="http://schemas.openxmlformats.org/officeDocument/2006/relationships/image" Target="../media/image50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9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209.xml"/><Relationship Id="rId7" Type="http://schemas.openxmlformats.org/officeDocument/2006/relationships/tags" Target="../tags/tag208.xml"/><Relationship Id="rId6" Type="http://schemas.openxmlformats.org/officeDocument/2006/relationships/tags" Target="../tags/tag207.xml"/><Relationship Id="rId5" Type="http://schemas.openxmlformats.org/officeDocument/2006/relationships/tags" Target="../tags/tag206.xml"/><Relationship Id="rId4" Type="http://schemas.openxmlformats.org/officeDocument/2006/relationships/image" Target="../media/image53.png"/><Relationship Id="rId3" Type="http://schemas.openxmlformats.org/officeDocument/2006/relationships/tags" Target="../tags/tag205.xml"/><Relationship Id="rId2" Type="http://schemas.openxmlformats.org/officeDocument/2006/relationships/image" Target="../media/image52.png"/><Relationship Id="rId1" Type="http://schemas.openxmlformats.org/officeDocument/2006/relationships/tags" Target="../tags/tag20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tags" Target="../tags/tag216.xml"/><Relationship Id="rId8" Type="http://schemas.openxmlformats.org/officeDocument/2006/relationships/image" Target="../media/image55.png"/><Relationship Id="rId7" Type="http://schemas.openxmlformats.org/officeDocument/2006/relationships/tags" Target="../tags/tag215.xml"/><Relationship Id="rId6" Type="http://schemas.openxmlformats.org/officeDocument/2006/relationships/tags" Target="../tags/tag214.xml"/><Relationship Id="rId5" Type="http://schemas.openxmlformats.org/officeDocument/2006/relationships/tags" Target="../tags/tag213.xml"/><Relationship Id="rId4" Type="http://schemas.openxmlformats.org/officeDocument/2006/relationships/tags" Target="../tags/tag212.xml"/><Relationship Id="rId3" Type="http://schemas.openxmlformats.org/officeDocument/2006/relationships/tags" Target="../tags/tag211.xml"/><Relationship Id="rId2" Type="http://schemas.openxmlformats.org/officeDocument/2006/relationships/image" Target="../media/image54.png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219.xml"/><Relationship Id="rId11" Type="http://schemas.openxmlformats.org/officeDocument/2006/relationships/tags" Target="../tags/tag218.xml"/><Relationship Id="rId10" Type="http://schemas.openxmlformats.org/officeDocument/2006/relationships/tags" Target="../tags/tag217.xml"/><Relationship Id="rId1" Type="http://schemas.openxmlformats.org/officeDocument/2006/relationships/tags" Target="../tags/tag2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VAE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3525" y="280035"/>
            <a:ext cx="4869180" cy="282130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967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根据概率选取最大可能性的潜变量作为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777105" y="1483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将图像映射为潜变量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0-&gt;6-&gt;4-&gt;...-&gt;8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221220" y="548005"/>
            <a:ext cx="4868545" cy="271399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7825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生成时根据自回归模型，生成一个全新的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潜空间序列拼成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右箭头 1"/>
          <p:cNvSpPr/>
          <p:nvPr>
            <p:custDataLst>
              <p:tags r:id="rId8"/>
            </p:custDataLst>
          </p:nvPr>
        </p:nvSpPr>
        <p:spPr>
          <a:xfrm>
            <a:off x="5104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右箭头 8"/>
          <p:cNvSpPr/>
          <p:nvPr>
            <p:custDataLst>
              <p:tags r:id="rId9"/>
            </p:custDataLst>
          </p:nvPr>
        </p:nvSpPr>
        <p:spPr>
          <a:xfrm>
            <a:off x="7136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20" y="5715"/>
            <a:ext cx="685800" cy="431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0" y="379095"/>
            <a:ext cx="698500" cy="406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620" y="1737995"/>
            <a:ext cx="749300" cy="393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0" y="1306195"/>
            <a:ext cx="749300" cy="3302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0" y="856615"/>
            <a:ext cx="800100" cy="381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17145" y="348615"/>
            <a:ext cx="542480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我们认为对潜变量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的先验假设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在我不知道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的时候先猜一个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出来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通常是标准的正态分布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201295" y="102235"/>
            <a:ext cx="406844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整张图像 x 在你学习的生成模型中出现的可能性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5015865" y="172085"/>
            <a:ext cx="2413000" cy="3556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5"/>
            </p:custDataLst>
          </p:nvPr>
        </p:nvSpPr>
        <p:spPr>
          <a:xfrm>
            <a:off x="7174865" y="84455"/>
            <a:ext cx="503745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生成的概率根据所有的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的概率的积分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遍历所有可能的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z=[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灰色，坐着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],[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灰色，站着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]...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看看这些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哪些有概率能生成当前的图像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，求所有能生成的概率的积分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8705850" y="838835"/>
            <a:ext cx="3463290" cy="355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给定潜变量 z，生成图像 x 的概率 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 这个潜变量本身出现的概率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647815" y="874395"/>
            <a:ext cx="2057400" cy="3556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19"/>
            </p:custDataLst>
          </p:nvPr>
        </p:nvSpPr>
        <p:spPr>
          <a:xfrm>
            <a:off x="539115" y="901065"/>
            <a:ext cx="585787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的联合发生概率，描述同时出现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对组合的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8575" y="387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28575" y="6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28575" y="1258570"/>
            <a:ext cx="7143115" cy="548640"/>
            <a:chOff x="45" y="1182"/>
            <a:chExt cx="11249" cy="864"/>
          </a:xfrm>
        </p:grpSpPr>
        <p:sp>
          <p:nvSpPr>
            <p:cNvPr id="11" name="文本框 10"/>
            <p:cNvSpPr txBox="1"/>
            <p:nvPr>
              <p:custDataLst>
                <p:tags r:id="rId22"/>
              </p:custDataLst>
            </p:nvPr>
          </p:nvSpPr>
          <p:spPr>
            <a:xfrm>
              <a:off x="252" y="1182"/>
              <a:ext cx="11042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给定图像 x，在当前生成模型下，某个潜在变量 z 是“解释”这张图像的可能性的大小。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给定这张猫的图片 x，</a:t>
              </a: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如果要生成这张图的</a:t>
              </a:r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潜在特征是 z =[灰色, 坐着] 的概率有多大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1" name="矩形: 圆角 36"/>
            <p:cNvSpPr/>
            <p:nvPr>
              <p:custDataLst>
                <p:tags r:id="rId23"/>
              </p:custDataLst>
            </p:nvPr>
          </p:nvSpPr>
          <p:spPr>
            <a:xfrm rot="10800000" flipV="1">
              <a:off x="45" y="12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28575" y="1712595"/>
            <a:ext cx="7229475" cy="548640"/>
            <a:chOff x="45" y="1897"/>
            <a:chExt cx="11385" cy="864"/>
          </a:xfrm>
        </p:grpSpPr>
        <p:sp>
          <p:nvSpPr>
            <p:cNvPr id="12" name="文本框 11"/>
            <p:cNvSpPr txBox="1"/>
            <p:nvPr>
              <p:custDataLst>
                <p:tags r:id="rId24"/>
              </p:custDataLst>
            </p:nvPr>
          </p:nvSpPr>
          <p:spPr>
            <a:xfrm>
              <a:off x="52" y="1897"/>
              <a:ext cx="11379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给定了潜在变量z，x是对应潜在变量z的表示的可能性大小</a:t>
              </a:r>
              <a:br>
                <a:rPr sz="1200" b="1">
                  <a:latin typeface="微软雅黑" charset="0"/>
                  <a:ea typeface="微软雅黑" charset="0"/>
                  <a:cs typeface="微软雅黑" charset="0"/>
                </a:rPr>
              </a:b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对于生成猫，假设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z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是毛色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灰色，姿势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坐着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p(x|z)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代表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x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这张图像是不是灰色坐着的猫</a:t>
              </a:r>
              <a:endParaRPr lang="zh-CN" altLang="en-US"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2" name="矩形: 圆角 36"/>
            <p:cNvSpPr/>
            <p:nvPr>
              <p:custDataLst>
                <p:tags r:id="rId25"/>
              </p:custDataLst>
            </p:nvPr>
          </p:nvSpPr>
          <p:spPr>
            <a:xfrm rot="10800000" flipV="1">
              <a:off x="45" y="19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3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28575" y="840105"/>
            <a:ext cx="661924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5015865" y="85090"/>
            <a:ext cx="7175500" cy="69659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32575" y="840105"/>
            <a:ext cx="5536565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4531995" y="2602865"/>
            <a:ext cx="7680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在模型的训练过程，我如果想根据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（根据真实图像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取推断潜在变量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）是很困难的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所以想到构建一个神经网络，用更简单的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去拟合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取简化问题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我们使用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散度来量化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是否靠近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散度：横梁两个概率分布之间的差异，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KL=0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代表完全匹配，差别越大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越大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33020" y="2303145"/>
            <a:ext cx="2171700" cy="2311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32"/>
            </p:custDataLst>
          </p:nvPr>
        </p:nvSpPr>
        <p:spPr>
          <a:xfrm>
            <a:off x="1938020" y="2665095"/>
            <a:ext cx="27997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实线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3"/>
            </p:custDataLst>
          </p:nvPr>
        </p:nvSpPr>
        <p:spPr>
          <a:xfrm>
            <a:off x="1938020" y="380809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虚线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根据模型训练的变分分布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4"/>
            </p:custDataLst>
          </p:nvPr>
        </p:nvSpPr>
        <p:spPr>
          <a:xfrm>
            <a:off x="6647815" y="1280160"/>
            <a:ext cx="5521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生成过程分为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两步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先从先验分布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中随机采样一个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通过条件分布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真正控制生成过程的参数是未知的，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每个样本背后的潜变量 z^{(i)} 也是看不见的。我们只能看到结果 x，这正是我们需要解决的 推断问题。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35"/>
            </p:custDataLst>
          </p:nvPr>
        </p:nvSpPr>
        <p:spPr>
          <a:xfrm>
            <a:off x="795020" y="4656455"/>
            <a:ext cx="2799715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函数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020" y="5097145"/>
            <a:ext cx="4000500" cy="342900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38"/>
            </p:custDataLst>
          </p:nvPr>
        </p:nvSpPr>
        <p:spPr>
          <a:xfrm>
            <a:off x="160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最大化整个数据集在生成模型下出现的概率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由于样本独立同分布，可以把整体的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拆成对每个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总体概率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样本概率值积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乘积变为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加和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4848225" y="5095875"/>
            <a:ext cx="5384800" cy="40640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1"/>
            </p:custDataLst>
          </p:nvPr>
        </p:nvSpPr>
        <p:spPr>
          <a:xfrm>
            <a:off x="4986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单个样本出现的概率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变分（神经网络）由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和贝叶斯反推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+ELBO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用神经网络猜测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真实后验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9" name="图片 38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5015865" y="3557270"/>
            <a:ext cx="6451600" cy="546100"/>
          </a:xfrm>
          <a:prstGeom prst="rect">
            <a:avLst/>
          </a:prstGeom>
        </p:spPr>
      </p:pic>
      <p:sp>
        <p:nvSpPr>
          <p:cNvPr id="40" name="文本框 39"/>
          <p:cNvSpPr txBox="1"/>
          <p:nvPr>
            <p:custDataLst>
              <p:tags r:id="rId44"/>
            </p:custDataLst>
          </p:nvPr>
        </p:nvSpPr>
        <p:spPr>
          <a:xfrm>
            <a:off x="5621020" y="4021455"/>
            <a:ext cx="628332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第一项代表我们通过神经网络由图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之间的概率差距，越小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越接近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第二项代表我们从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等于真实的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越大越接近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右箭头 40"/>
          <p:cNvSpPr/>
          <p:nvPr/>
        </p:nvSpPr>
        <p:spPr>
          <a:xfrm>
            <a:off x="4267200" y="521398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右箭头 41"/>
          <p:cNvSpPr/>
          <p:nvPr>
            <p:custDataLst>
              <p:tags r:id="rId45"/>
            </p:custDataLst>
          </p:nvPr>
        </p:nvSpPr>
        <p:spPr>
          <a:xfrm rot="16200000">
            <a:off x="7893050" y="463359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5900" y="3122930"/>
            <a:ext cx="8966200" cy="31369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26085"/>
            <a:ext cx="4053840" cy="17075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845425" y="723265"/>
            <a:ext cx="4346575" cy="141033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7"/>
            </p:custDataLst>
          </p:nvPr>
        </p:nvSpPr>
        <p:spPr>
          <a:xfrm>
            <a:off x="626745" y="2301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传统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可能会存在无用的特征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表示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4101465" y="904875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矢量量化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(VQ)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数据压缩技术，通过将输入数据映射到一组预先定义的离散编码矢量来实现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8567420" y="207518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无用特征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有助于学习更具语义的稀疏表示，避免了 VAE 中的模糊问题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10"/>
            </p:custDataLst>
          </p:nvPr>
        </p:nvSpPr>
        <p:spPr>
          <a:xfrm>
            <a:off x="2531745" y="3190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11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2429510" y="3096260"/>
            <a:ext cx="3016885" cy="14103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-27940" y="4505960"/>
            <a:ext cx="3314700" cy="23520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14"/>
            </p:custDataLst>
          </p:nvPr>
        </p:nvSpPr>
        <p:spPr>
          <a:xfrm>
            <a:off x="4090670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根据离散的特征去恢复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4544060" y="4506595"/>
            <a:ext cx="2486660" cy="18764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6"/>
            </p:custDataLst>
          </p:nvPr>
        </p:nvSpPr>
        <p:spPr>
          <a:xfrm>
            <a:off x="8627745" y="4206875"/>
            <a:ext cx="3313430" cy="1315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Encoder+Decoder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根据初始图像和重建图像的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MSE Loss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在初始输入特征中，计算和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中的距离，离的最近的那个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中的特征朝真实的特征方向优化（朝着真实的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方向拉一下）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4" name="图片 3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3700" y="4068445"/>
            <a:ext cx="6303010" cy="220535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477010" y="497205"/>
            <a:ext cx="2647950" cy="19513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70815" y="1013460"/>
            <a:ext cx="774700" cy="838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12970" y="139065"/>
            <a:ext cx="748030" cy="74676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712970" y="1108710"/>
            <a:ext cx="738505" cy="6159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4696460" y="1920240"/>
            <a:ext cx="746760" cy="746760"/>
          </a:xfrm>
          <a:prstGeom prst="rect">
            <a:avLst/>
          </a:prstGeom>
        </p:spPr>
      </p:pic>
      <p:sp>
        <p:nvSpPr>
          <p:cNvPr id="9" name="椭圆 8"/>
          <p:cNvSpPr/>
          <p:nvPr/>
        </p:nvSpPr>
        <p:spPr>
          <a:xfrm>
            <a:off x="2331720" y="194500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>
            <p:custDataLst>
              <p:tags r:id="rId13"/>
            </p:custDataLst>
          </p:nvPr>
        </p:nvSpPr>
        <p:spPr>
          <a:xfrm>
            <a:off x="2435860" y="180276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>
            <p:custDataLst>
              <p:tags r:id="rId14"/>
            </p:custDataLst>
          </p:nvPr>
        </p:nvSpPr>
        <p:spPr>
          <a:xfrm>
            <a:off x="2661920" y="12287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15"/>
            </p:custDataLst>
          </p:nvPr>
        </p:nvSpPr>
        <p:spPr>
          <a:xfrm>
            <a:off x="258572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>
            <p:custDataLst>
              <p:tags r:id="rId16"/>
            </p:custDataLst>
          </p:nvPr>
        </p:nvSpPr>
        <p:spPr>
          <a:xfrm>
            <a:off x="2204720" y="2079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>
            <p:custDataLst>
              <p:tags r:id="rId17"/>
            </p:custDataLst>
          </p:nvPr>
        </p:nvSpPr>
        <p:spPr>
          <a:xfrm>
            <a:off x="312928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>
            <p:custDataLst>
              <p:tags r:id="rId18"/>
            </p:custDataLst>
          </p:nvPr>
        </p:nvSpPr>
        <p:spPr>
          <a:xfrm>
            <a:off x="3263900" y="1825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>
            <p:custDataLst>
              <p:tags r:id="rId19"/>
            </p:custDataLst>
          </p:nvPr>
        </p:nvSpPr>
        <p:spPr>
          <a:xfrm>
            <a:off x="2600960" y="1355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>
            <p:custDataLst>
              <p:tags r:id="rId20"/>
            </p:custDataLst>
          </p:nvPr>
        </p:nvSpPr>
        <p:spPr>
          <a:xfrm>
            <a:off x="3177540" y="1609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右箭头 17"/>
          <p:cNvSpPr/>
          <p:nvPr/>
        </p:nvSpPr>
        <p:spPr>
          <a:xfrm rot="19260000">
            <a:off x="2157095" y="198755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右箭头 18"/>
          <p:cNvSpPr/>
          <p:nvPr>
            <p:custDataLst>
              <p:tags r:id="rId21"/>
            </p:custDataLst>
          </p:nvPr>
        </p:nvSpPr>
        <p:spPr>
          <a:xfrm rot="7200000">
            <a:off x="2306955" y="1774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右箭头 19"/>
          <p:cNvSpPr/>
          <p:nvPr>
            <p:custDataLst>
              <p:tags r:id="rId22"/>
            </p:custDataLst>
          </p:nvPr>
        </p:nvSpPr>
        <p:spPr>
          <a:xfrm rot="7200000">
            <a:off x="2560955" y="1266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右箭头 20"/>
          <p:cNvSpPr/>
          <p:nvPr>
            <p:custDataLst>
              <p:tags r:id="rId23"/>
            </p:custDataLst>
          </p:nvPr>
        </p:nvSpPr>
        <p:spPr>
          <a:xfrm rot="4200000">
            <a:off x="3195955" y="150431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右箭头 21"/>
          <p:cNvSpPr/>
          <p:nvPr>
            <p:custDataLst>
              <p:tags r:id="rId24"/>
            </p:custDataLst>
          </p:nvPr>
        </p:nvSpPr>
        <p:spPr>
          <a:xfrm rot="17220000">
            <a:off x="2494915" y="136906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右箭头 22"/>
          <p:cNvSpPr/>
          <p:nvPr>
            <p:custDataLst>
              <p:tags r:id="rId25"/>
            </p:custDataLst>
          </p:nvPr>
        </p:nvSpPr>
        <p:spPr>
          <a:xfrm rot="15240000">
            <a:off x="3264535" y="167576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6"/>
            </p:custDataLst>
          </p:nvPr>
        </p:nvSpPr>
        <p:spPr>
          <a:xfrm>
            <a:off x="893445" y="2448560"/>
            <a:ext cx="3802380" cy="746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对于连续映射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(VAE)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可能会出现聚类效应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虽然原本在分布中随机取不同的点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但是如果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过于强大，会将不同的点牵引到附近相同的点上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从而导致生成的图像随机性下降，只生成几类图像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右箭头 24"/>
          <p:cNvSpPr/>
          <p:nvPr/>
        </p:nvSpPr>
        <p:spPr>
          <a:xfrm>
            <a:off x="986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右箭头 25"/>
          <p:cNvSpPr/>
          <p:nvPr>
            <p:custDataLst>
              <p:tags r:id="rId27"/>
            </p:custDataLst>
          </p:nvPr>
        </p:nvSpPr>
        <p:spPr>
          <a:xfrm>
            <a:off x="4161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右箭头 26"/>
          <p:cNvSpPr/>
          <p:nvPr>
            <p:custDataLst>
              <p:tags r:id="rId28"/>
            </p:custDataLst>
          </p:nvPr>
        </p:nvSpPr>
        <p:spPr>
          <a:xfrm rot="19100646">
            <a:off x="4169410" y="7397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>
            <p:custDataLst>
              <p:tags r:id="rId29"/>
            </p:custDataLst>
          </p:nvPr>
        </p:nvSpPr>
        <p:spPr>
          <a:xfrm rot="2360646">
            <a:off x="4174490" y="195516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>
            <p:custDataLst>
              <p:tags r:id="rId30"/>
            </p:custDataLst>
          </p:nvPr>
        </p:nvSpPr>
        <p:spPr>
          <a:xfrm>
            <a:off x="1663700" y="408495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7" name="文本框 36"/>
          <p:cNvSpPr txBox="1"/>
          <p:nvPr>
            <p:custDataLst>
              <p:tags r:id="rId31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32"/>
            </p:custDataLst>
          </p:nvPr>
        </p:nvSpPr>
        <p:spPr>
          <a:xfrm rot="10800000" flipV="1">
            <a:off x="2036445" y="3957955"/>
            <a:ext cx="2054225" cy="10750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矩形: 圆角 36"/>
          <p:cNvSpPr/>
          <p:nvPr>
            <p:custDataLst>
              <p:tags r:id="rId33"/>
            </p:custDataLst>
          </p:nvPr>
        </p:nvSpPr>
        <p:spPr>
          <a:xfrm rot="10800000" flipV="1">
            <a:off x="-27940" y="5033645"/>
            <a:ext cx="3315335" cy="15265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34"/>
            </p:custDataLst>
          </p:nvPr>
        </p:nvSpPr>
        <p:spPr>
          <a:xfrm>
            <a:off x="3863340" y="6111875"/>
            <a:ext cx="139065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根据离散的特征去恢复图像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矩形: 圆角 36"/>
          <p:cNvSpPr/>
          <p:nvPr>
            <p:custDataLst>
              <p:tags r:id="rId35"/>
            </p:custDataLst>
          </p:nvPr>
        </p:nvSpPr>
        <p:spPr>
          <a:xfrm rot="10800000" flipV="1">
            <a:off x="3627755" y="5029835"/>
            <a:ext cx="1626235" cy="1657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>
            <p:custDataLst>
              <p:tags r:id="rId36"/>
            </p:custDataLst>
          </p:nvPr>
        </p:nvSpPr>
        <p:spPr>
          <a:xfrm>
            <a:off x="6280785" y="39579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离散化梯度不可微分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直接使用编码器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还未离散化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的输出作为离散向量的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梯度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38"/>
          <a:stretch>
            <a:fillRect/>
          </a:stretch>
        </p:blipFill>
        <p:spPr>
          <a:xfrm>
            <a:off x="6014720" y="2042160"/>
            <a:ext cx="5537200" cy="406400"/>
          </a:xfrm>
          <a:prstGeom prst="rect">
            <a:avLst/>
          </a:prstGeom>
        </p:spPr>
      </p:pic>
      <p:sp>
        <p:nvSpPr>
          <p:cNvPr id="45" name="文本框 44"/>
          <p:cNvSpPr txBox="1"/>
          <p:nvPr>
            <p:custDataLst>
              <p:tags r:id="rId39"/>
            </p:custDataLst>
          </p:nvPr>
        </p:nvSpPr>
        <p:spPr>
          <a:xfrm>
            <a:off x="6096635" y="2428875"/>
            <a:ext cx="1886585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重建损失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训练编码器和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6" name="文本框 45"/>
          <p:cNvSpPr txBox="1"/>
          <p:nvPr>
            <p:custDataLst>
              <p:tags r:id="rId40"/>
            </p:custDataLst>
          </p:nvPr>
        </p:nvSpPr>
        <p:spPr>
          <a:xfrm>
            <a:off x="7983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嵌入更新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把词典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向量向编码器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7" name="文本框 46"/>
          <p:cNvSpPr txBox="1"/>
          <p:nvPr>
            <p:custDataLst>
              <p:tags r:id="rId41"/>
            </p:custDataLst>
          </p:nvPr>
        </p:nvSpPr>
        <p:spPr>
          <a:xfrm>
            <a:off x="9888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承诺项损失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鼓励编码器输出靠近词典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8" name="文本框 47"/>
          <p:cNvSpPr txBox="1"/>
          <p:nvPr>
            <p:custDataLst>
              <p:tags r:id="rId42"/>
            </p:custDataLst>
          </p:nvPr>
        </p:nvSpPr>
        <p:spPr>
          <a:xfrm>
            <a:off x="6491605" y="3063875"/>
            <a:ext cx="4257040" cy="774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只接受第一项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接受第一项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第三项优化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=0.25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9" name="矩形: 圆角 36"/>
          <p:cNvSpPr/>
          <p:nvPr>
            <p:custDataLst>
              <p:tags r:id="rId43"/>
            </p:custDataLst>
          </p:nvPr>
        </p:nvSpPr>
        <p:spPr>
          <a:xfrm rot="10800000" flipV="1">
            <a:off x="0" y="58420"/>
            <a:ext cx="5620385" cy="36715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>
            <p:custDataLst>
              <p:tags r:id="rId44"/>
            </p:custDataLst>
          </p:nvPr>
        </p:nvSpPr>
        <p:spPr>
          <a:xfrm>
            <a:off x="170815" y="1352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VAE</a:t>
            </a:r>
            <a:r>
              <a:rPr lang="zh-CN" altLang="en-US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20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1" name="矩形: 圆角 36"/>
          <p:cNvSpPr/>
          <p:nvPr>
            <p:custDataLst>
              <p:tags r:id="rId45"/>
            </p:custDataLst>
          </p:nvPr>
        </p:nvSpPr>
        <p:spPr>
          <a:xfrm rot="10800000" flipV="1">
            <a:off x="5969000" y="2021205"/>
            <a:ext cx="5620385" cy="25450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>
            <p:custDataLst>
              <p:tags r:id="rId46"/>
            </p:custDataLst>
          </p:nvPr>
        </p:nvSpPr>
        <p:spPr>
          <a:xfrm>
            <a:off x="6696710" y="4836160"/>
            <a:ext cx="5121275" cy="13950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前面我们建立好了如何将图片映射到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Prior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主要解决生成问题，离散化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无法进行随机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采样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第一个特征：直接从 PixelCNN 学到的 初始分布 随机采样。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后续特征：PixelCNN 根据 前面已采样出的特征 条件概率分布，推断当前特征的分布，并从中随机采样。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使用了类似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LLM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原理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  <p:pic>
        <p:nvPicPr>
          <p:cNvPr id="55" name="图片 54"/>
          <p:cNvPicPr>
            <a:picLocks noChangeAspect="1"/>
          </p:cNvPicPr>
          <p:nvPr>
            <p:custDataLst>
              <p:tags r:id="rId47"/>
            </p:custDataLst>
          </p:nvPr>
        </p:nvPicPr>
        <p:blipFill>
          <a:blip r:embed="rId48"/>
          <a:stretch>
            <a:fillRect/>
          </a:stretch>
        </p:blipFill>
        <p:spPr>
          <a:xfrm>
            <a:off x="6014720" y="15240"/>
            <a:ext cx="1760855" cy="1905000"/>
          </a:xfrm>
          <a:prstGeom prst="rect">
            <a:avLst/>
          </a:prstGeom>
        </p:spPr>
      </p:pic>
      <p:sp>
        <p:nvSpPr>
          <p:cNvPr id="56" name="文本框 55"/>
          <p:cNvSpPr txBox="1"/>
          <p:nvPr>
            <p:custDataLst>
              <p:tags r:id="rId49"/>
            </p:custDataLst>
          </p:nvPr>
        </p:nvSpPr>
        <p:spPr>
          <a:xfrm>
            <a:off x="7878445" y="797560"/>
            <a:ext cx="3802380" cy="746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导致的问题可能会让图像生成的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很像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GAN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946900" cy="558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762750" y="558800"/>
            <a:ext cx="5153660" cy="16884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487160" y="3057525"/>
            <a:ext cx="5704840" cy="380047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1451610" y="1574800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假设真实数据为1，来自生成的数据为0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35" y="558800"/>
            <a:ext cx="6946265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如果判别器完美，则最终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V(D,G)=0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但凡判别器不是完美的，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V(D,G)&lt;0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所以辨别器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的目标是最大化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生成器的目标是最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小化第二项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尽可能犯错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6946900" y="2120265"/>
            <a:ext cx="4878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流程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将初始概率分布映射到真实分布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上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判别器优化，靠近虚线为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靠近实线为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(c)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生成器优化，变得更靠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近真实分布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完美优化，判别器对所有输入判断为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0.5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7065645" y="0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离散点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真实的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分布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绿色实线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生成器拟合的分布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蓝色虚线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判别器的判别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1993900" y="3977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真实样本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和噪声样本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都采样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1993900" y="4739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对辨别器求梯度，进行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3"/>
            </p:custDataLst>
          </p:nvPr>
        </p:nvSpPr>
        <p:spPr>
          <a:xfrm>
            <a:off x="1993900" y="5755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对生成器求梯度，仅更新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第二部分，进行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1993900" y="6263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总的循环进行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399665" y="188595"/>
            <a:ext cx="7392670" cy="270954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399665" y="3262630"/>
            <a:ext cx="6931660" cy="350583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5"/>
            </p:custDataLst>
          </p:nvPr>
        </p:nvSpPr>
        <p:spPr>
          <a:xfrm>
            <a:off x="-86995" y="3991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顶层编码器提取图像高层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-86995" y="462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-86995" y="5007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结合高层特征和原图，用底层编码器提取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86995" y="551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-86995" y="589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编码器接受两个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量化特征重建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-86995" y="640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根据损失函数更新模型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930005" y="424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将量化数据加入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字典中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9057005" y="4766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训练自回归模型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建立潜变量索引之间的关系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训练成功的模型可以一次预测每个潜变量出现的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9057005" y="5909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从概率分布中随机采样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潜变量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9057005" y="6290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全新图像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167005" y="2213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256x256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6"/>
            </p:custDataLst>
          </p:nvPr>
        </p:nvSpPr>
        <p:spPr>
          <a:xfrm>
            <a:off x="167005" y="132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64x64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7"/>
            </p:custDataLst>
          </p:nvPr>
        </p:nvSpPr>
        <p:spPr>
          <a:xfrm>
            <a:off x="167005" y="562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高层采样为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1360170" y="2975610"/>
            <a:ext cx="84975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训练模型的潜变量模型后验作为生成图像的潜变量模型先验</a:t>
            </a:r>
            <a:endParaRPr lang="zh-CN" altLang="en-US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DALL·</a:t>
            </a:r>
            <a:r>
              <a:rPr lang="en-US" altLang="zh-CN"/>
              <a:t>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3350" y="4740910"/>
            <a:ext cx="5067300" cy="11684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3"/>
            </p:custDataLst>
          </p:nvPr>
        </p:nvSpPr>
        <p:spPr>
          <a:xfrm>
            <a:off x="28575" y="4561205"/>
            <a:ext cx="192405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和图像生成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的同时出现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4"/>
            </p:custDataLst>
          </p:nvPr>
        </p:nvSpPr>
        <p:spPr>
          <a:xfrm>
            <a:off x="2020570" y="4561205"/>
            <a:ext cx="197993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2369820" y="5831205"/>
            <a:ext cx="133731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推断出的文本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6"/>
            </p:custDataLst>
          </p:nvPr>
        </p:nvSpPr>
        <p:spPr>
          <a:xfrm>
            <a:off x="4000500" y="5845175"/>
            <a:ext cx="153416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Transformer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学习到的文本和潜变量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同时出现的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7"/>
            </p:custDataLst>
          </p:nvPr>
        </p:nvSpPr>
        <p:spPr>
          <a:xfrm>
            <a:off x="2912110" y="6466205"/>
            <a:ext cx="197993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408940" y="5450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为超参数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时为标准的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ELBO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9"/>
            </p:custDataLst>
          </p:nvPr>
        </p:nvSpPr>
        <p:spPr>
          <a:xfrm>
            <a:off x="5594350" y="4053205"/>
            <a:ext cx="6495415" cy="2714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Stage 1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设置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8192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向量的均匀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将每一个大尺度图像通过卷积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下采样转化为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的特征，然后让这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1024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个特征分别对应到概率最大的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上的词典中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解决离散梯度不可导的方法和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VQ-VAE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使用straight-through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estimator不同，这里使用Gumbel-softmax 松弛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作者发现在优化时用更大的𝛽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效果更好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更大的正则项，潜空间的后验分布和先验分布的差距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endParaRPr lang="en-US" altLang="zh-CN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Stage 2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（训练自回归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prior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将指导文本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(256token)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和图像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(32x32,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取自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codebook)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拼接成一个序列，当文本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token&lt;256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时补上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padding</a:t>
            </a:r>
            <a:b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Transformer Decoder-only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，使用上图三种不同的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注意力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0"/>
            </p:custDataLst>
          </p:nvPr>
        </p:nvSpPr>
        <p:spPr>
          <a:xfrm>
            <a:off x="5507990" y="6382385"/>
            <a:ext cx="6582410" cy="7188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Stage1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训练编码器参数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Φ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和解码器参数𝜃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 Stage2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训练潜变量先验分布模型参数𝛙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  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95400" y="0"/>
            <a:ext cx="10794365" cy="3257550"/>
          </a:xfrm>
          <a:prstGeom prst="rect">
            <a:avLst/>
          </a:prstGeom>
        </p:spPr>
      </p:pic>
      <p:sp>
        <p:nvSpPr>
          <p:cNvPr id="21" name="文本框 20"/>
          <p:cNvSpPr txBox="1"/>
          <p:nvPr>
            <p:custDataLst>
              <p:tags r:id="rId13"/>
            </p:custDataLst>
          </p:nvPr>
        </p:nvSpPr>
        <p:spPr>
          <a:xfrm>
            <a:off x="1004570" y="2856865"/>
            <a:ext cx="3574415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文本只能看到当前位置之前的文本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图像-图像：图像 token 只能看到当前位置之前同一行的最多 5 个图像 token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文本-图像：图像 token 可以看到全部文本 token。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图像-文本：文本 token 看不到任何图像 token。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14"/>
            </p:custDataLst>
          </p:nvPr>
        </p:nvSpPr>
        <p:spPr>
          <a:xfrm>
            <a:off x="4433570" y="2876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图像由看到行变成看到列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其他与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相同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15"/>
            </p:custDataLst>
          </p:nvPr>
        </p:nvSpPr>
        <p:spPr>
          <a:xfrm>
            <a:off x="6592570" y="3130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与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b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相同，但是为了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GPU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优化做了转置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文本框 23"/>
          <p:cNvSpPr txBox="1"/>
          <p:nvPr>
            <p:custDataLst>
              <p:tags r:id="rId16"/>
            </p:custDataLst>
          </p:nvPr>
        </p:nvSpPr>
        <p:spPr>
          <a:xfrm>
            <a:off x="9386570" y="3003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图像只能看到当前位置之前局部卷积邻域内的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token(11x11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卷积核内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133350" y="4443095"/>
            <a:ext cx="5374005" cy="23253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18"/>
            </p:custDataLst>
          </p:nvPr>
        </p:nvSpPr>
        <p:spPr>
          <a:xfrm>
            <a:off x="408940" y="6212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优化方程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5594350" y="4053840"/>
            <a:ext cx="6597015" cy="27146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133985" y="0"/>
            <a:ext cx="11930380" cy="39001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1"/>
            </p:custDataLst>
          </p:nvPr>
        </p:nvSpPr>
        <p:spPr>
          <a:xfrm>
            <a:off x="27940" y="370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掩码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方式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I-GPT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151130"/>
            <a:ext cx="3352800" cy="673100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293110" y="236855"/>
            <a:ext cx="3713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可以理解为将一个高维的图像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，高维图像的概率等于每个小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054850" y="236855"/>
            <a:ext cx="2425700" cy="5207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9344660" y="109855"/>
            <a:ext cx="284734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最小化负对数似然损失来优化模型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让模型生成整个图像的序列概率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我们这里的优化不是让恢复的图像靠近原图，而是让生成图像的patch序列拟合原图patch的序列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0" y="1421130"/>
            <a:ext cx="4305300" cy="6858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4563110" y="1506855"/>
            <a:ext cx="71259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随机 mask 出一部分 patch ，然后训练模型去预测被 mask 的 patch 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让模型在看到部分信息的情况下，去补全被 mask 掉的部分 patch，从而学到更丰富、更全面的图像潜在分布信息。</a:t>
            </a:r>
            <a:endParaRPr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444625" y="2724785"/>
            <a:ext cx="9785985" cy="252984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-252730" y="3474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将图像转化为较低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分辨率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3"/>
            </p:custDataLst>
          </p:nvPr>
        </p:nvSpPr>
        <p:spPr>
          <a:xfrm>
            <a:off x="-252730" y="4490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将低分辨率图像转化为一维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3904615" y="2458085"/>
            <a:ext cx="197866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让模型预测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序列，与初始序列进行对比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5"/>
            </p:custDataLst>
          </p:nvPr>
        </p:nvSpPr>
        <p:spPr>
          <a:xfrm>
            <a:off x="6090920" y="245808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后的序列，让模型预测被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6"/>
            </p:custDataLst>
          </p:nvPr>
        </p:nvSpPr>
        <p:spPr>
          <a:xfrm>
            <a:off x="8797925" y="238442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Linear Probe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固定预训练模型，仅训练最后的线性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分类器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7"/>
            </p:custDataLst>
          </p:nvPr>
        </p:nvSpPr>
        <p:spPr>
          <a:xfrm>
            <a:off x="8797925" y="517842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微调整个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8"/>
            </p:custDataLst>
          </p:nvPr>
        </p:nvSpPr>
        <p:spPr>
          <a:xfrm>
            <a:off x="208915" y="5760085"/>
            <a:ext cx="1110615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生成方式是根据自回归模型生成一个全新的一维序列，然后反向建模成一个低分辨率图像</a:t>
            </a:r>
            <a:endParaRPr lang="zh-CN" sz="20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Diffusion </a:t>
            </a:r>
            <a:r>
              <a:rPr lang="en-US" altLang="zh-CN"/>
              <a:t>Model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779520" y="0"/>
            <a:ext cx="4410710" cy="322199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3818890"/>
            <a:ext cx="3067685" cy="68961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5"/>
            </p:custDataLst>
          </p:nvPr>
        </p:nvSpPr>
        <p:spPr>
          <a:xfrm>
            <a:off x="0" y="3357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初始图像通过相同的加噪一步一步变成高斯分布</a:t>
            </a:r>
            <a:br>
              <a:rPr 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为步长，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可调节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5347970"/>
            <a:ext cx="3459480" cy="73787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0" y="500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当前步的概率等于初始的图像连乘加噪条件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808085" y="3945890"/>
            <a:ext cx="2928620" cy="743585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636000" y="3357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将高斯噪声分布作为初始概率分布额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逆马尔科夫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2" name="图片 11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4596130" y="3495040"/>
            <a:ext cx="3251200" cy="151384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4431030" y="5528945"/>
            <a:ext cx="3492500" cy="8128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16"/>
            </p:custDataLst>
          </p:nvPr>
        </p:nvSpPr>
        <p:spPr>
          <a:xfrm>
            <a:off x="4572000" y="3103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用神经网络计算的每一步概率拟合正向过程每一步的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后验概率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7"/>
            </p:custDataLst>
          </p:nvPr>
        </p:nvSpPr>
        <p:spPr>
          <a:xfrm>
            <a:off x="4572000" y="4881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第二项熵项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不参与学习，主要用于配平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公式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8"/>
            </p:custDataLst>
          </p:nvPr>
        </p:nvSpPr>
        <p:spPr>
          <a:xfrm>
            <a:off x="457200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反向过程的每一步最大化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635" y="3221990"/>
            <a:ext cx="3458845" cy="35464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8636635" y="3221990"/>
            <a:ext cx="3458845" cy="35464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4699635" y="3103880"/>
            <a:ext cx="3458845" cy="36645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22"/>
            </p:custDataLst>
          </p:nvPr>
        </p:nvSpPr>
        <p:spPr>
          <a:xfrm>
            <a:off x="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正向过程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文本框 19"/>
          <p:cNvSpPr txBox="1"/>
          <p:nvPr>
            <p:custDataLst>
              <p:tags r:id="rId23"/>
            </p:custDataLst>
          </p:nvPr>
        </p:nvSpPr>
        <p:spPr>
          <a:xfrm>
            <a:off x="863600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反向过程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文本框 20"/>
          <p:cNvSpPr txBox="1"/>
          <p:nvPr>
            <p:custDataLst>
              <p:tags r:id="rId24"/>
            </p:custDataLst>
          </p:nvPr>
        </p:nvSpPr>
        <p:spPr>
          <a:xfrm>
            <a:off x="4699000" y="6405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优化目标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DDPM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70485"/>
            <a:ext cx="5554345" cy="14624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7630" y="3746500"/>
            <a:ext cx="4775200" cy="6350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1755140" y="4373880"/>
            <a:ext cx="120967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正向过程噪声的真实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均值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3025140" y="4373880"/>
            <a:ext cx="120967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反向过程模型预测的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均值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687195" y="4881880"/>
            <a:ext cx="26162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最小化两个噪声之间的欧式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距离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400685" y="3230880"/>
            <a:ext cx="352679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固定噪声方差，只学习均值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引入方差会有更复杂的情况，导致训练不稳定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仅训练均值也能达到很好的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效果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0645" y="5262880"/>
            <a:ext cx="6212205" cy="1325245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7610475" y="429260"/>
            <a:ext cx="352679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虽然整个过程只使用了一个噪声，通过调节比值来加噪和和去噪，实际上每一步比值不同都会生成全新的均值供模型进行学习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828290" y="1611630"/>
            <a:ext cx="6603365" cy="161925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-12700" y="1826260"/>
            <a:ext cx="2977515" cy="830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从分布中随机采样图像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随机采样一个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时间步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从标准高斯采样噪声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用于原图上添加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最小化模型预测噪声和时间步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对应的噪声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的平方误差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9258300" y="1826260"/>
            <a:ext cx="2977515" cy="14039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初始化随机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噪声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迭代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除了第一步外的每一步随机采样一个高斯噪声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对模型第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步，预测需要减去的噪声恢复到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T-1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步，然后加上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来确保样本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多样性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DD</a:t>
            </a:r>
            <a:r>
              <a:rPr lang="en-US" altLang="zh-CN"/>
              <a:t>IM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3350" y="3062605"/>
            <a:ext cx="4521200" cy="7620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133350" y="2186940"/>
            <a:ext cx="452120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我们如果想知道模型从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x0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生成中间时刻的概率，只需要知道模型从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x0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生成最终时刻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回退到中间时刻的概率的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063490" y="3062605"/>
            <a:ext cx="6858000" cy="6477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6206490" y="2186940"/>
            <a:ext cx="507492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解释了模型如何根据xt和x0得到xt-1的概率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只需要知道x0和xt的均值和方差，就可以推导任何中间步骤的概率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endParaRPr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Diffusion Beat </a:t>
            </a:r>
            <a:r>
              <a:rPr lang="en-US" altLang="zh-CN"/>
              <a:t>GANs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4160" y="501650"/>
            <a:ext cx="4127500" cy="23876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166370" y="92710"/>
            <a:ext cx="452120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固定每个注意力头的通道数，增加注意力头数，从 1 增加到 8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固定注意力头数量，调整每个头的通道数，从 32 增加到 128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3468370" y="219710"/>
            <a:ext cx="452120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2000" b="1">
                <a:latin typeface="微软雅黑" charset="0"/>
                <a:ea typeface="微软雅黑" charset="0"/>
                <a:cs typeface="微软雅黑" charset="0"/>
              </a:rPr>
              <a:t>FID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越小越好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255135" y="2859405"/>
            <a:ext cx="7936865" cy="3998595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4832985" y="1616710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第一个基础模型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ch: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通道数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res: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残差数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mutil-res att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多分辨率注意力层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biggan up/down BigGAN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上下采样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skip rescale: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残差链接做重缩放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越往下改进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越好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8642985" y="1616710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注意力头数和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通道数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越往下改进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越好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64160" y="4833620"/>
            <a:ext cx="3060700" cy="11176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387985" y="4410710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Addition + GroupNorm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：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DDPM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使用的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AdaGN：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后续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改进方法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Cog</a:t>
            </a:r>
            <a:r>
              <a:rPr lang="en-US" altLang="zh-CN"/>
              <a:t>View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74140" y="3789680"/>
            <a:ext cx="9356090" cy="30689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442845" y="0"/>
            <a:ext cx="7306945" cy="327914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5"/>
            </p:custDataLst>
          </p:nvPr>
        </p:nvSpPr>
        <p:spPr>
          <a:xfrm>
            <a:off x="382270" y="1929130"/>
            <a:ext cx="206057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将文本映射成</a:t>
            </a:r>
            <a:r>
              <a:rPr lang="en-US" altLang="zh-CN" sz="16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endParaRPr lang="en-US" altLang="zh-CN" sz="16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6621145" y="405130"/>
            <a:ext cx="2907030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将图像离散化成离散潜特征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4874260" y="2310130"/>
            <a:ext cx="3177540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加入分隔符拼接</a:t>
            </a:r>
            <a:b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对图像和文本分别优化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3827145" y="3199130"/>
            <a:ext cx="372681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将文本</a:t>
            </a:r>
            <a:r>
              <a:rPr lang="en-US" altLang="zh-CN" sz="16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图像混合特征共同映射到词典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3281045" y="3834130"/>
            <a:ext cx="5542280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600" b="1">
                <a:latin typeface="微软雅黑" charset="0"/>
                <a:ea typeface="微软雅黑" charset="0"/>
                <a:cs typeface="微软雅黑" charset="0"/>
              </a:rPr>
              <a:t>Sandwich-LN</a:t>
            </a: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对的结构和对大参数反向传播的优化效果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Classified Free </a:t>
            </a:r>
            <a:r>
              <a:rPr lang="en-US" altLang="zh-CN"/>
              <a:t>Diffusion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4879975" y="607060"/>
            <a:ext cx="6663055" cy="211518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4929505" y="3428365"/>
            <a:ext cx="6613525" cy="268986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1864995" y="970915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从图像文本对中抽取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一个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有一定的概率遮蔽文本，类似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BERT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SNR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中随机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采样𝜆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随机采样噪声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根据随机采样的𝜆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和噪声生成加噪的中间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状态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用文本指导的噪声来拟合真实噪声𝜀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1864995" y="4145915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初始生成采样一个随机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噪声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多轮循环去噪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用文本指导生成和纯模型生成的噪声做插值，突出文本部分的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影响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生成的噪声对当前随机噪声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去噪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在优化后噪声的基础上添加一点随机噪声，提高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多样性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7"/>
            </p:custDataLst>
          </p:nvPr>
        </p:nvSpPr>
        <p:spPr>
          <a:xfrm>
            <a:off x="1906270" y="532130"/>
            <a:ext cx="206057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训练过程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1906270" y="3707130"/>
            <a:ext cx="206057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DALL·</a:t>
            </a:r>
            <a:r>
              <a:rPr lang="en-US" altLang="zh-CN"/>
              <a:t>E2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84530" y="692150"/>
            <a:ext cx="4945380" cy="215328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3"/>
            </p:custDataLst>
          </p:nvPr>
        </p:nvSpPr>
        <p:spPr>
          <a:xfrm>
            <a:off x="2501265" y="365760"/>
            <a:ext cx="332422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对比学习对齐图像文本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信息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2231390" y="2704465"/>
            <a:ext cx="204660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扩散模型根据文本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embed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生成图像初始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embed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6436360" y="2721610"/>
            <a:ext cx="5407025" cy="1071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多层级联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用上一层的小尺度图像作为引导生成更大图像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具体操作是将本层生成图像增加噪声，并通过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转化为新的图像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embed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知道大尺度图像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0" y="40005"/>
            <a:ext cx="332422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将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DALL·E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的自回归模型变成扩散模型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268085" y="271145"/>
            <a:ext cx="5840730" cy="2390140"/>
          </a:xfrm>
          <a:prstGeom prst="rect">
            <a:avLst/>
          </a:prstGeom>
        </p:spPr>
      </p:pic>
      <p:sp>
        <p:nvSpPr>
          <p:cNvPr id="38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2486025" y="366395"/>
            <a:ext cx="3339465" cy="13068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2358390" y="1763395"/>
            <a:ext cx="1795780" cy="19596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: 圆角 36"/>
          <p:cNvSpPr/>
          <p:nvPr>
            <p:custDataLst>
              <p:tags r:id="rId11"/>
            </p:custDataLst>
          </p:nvPr>
        </p:nvSpPr>
        <p:spPr>
          <a:xfrm rot="10800000" flipV="1">
            <a:off x="4009390" y="1762760"/>
            <a:ext cx="1795780" cy="114490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4" name="直接连接符 13"/>
          <p:cNvCxnSpPr/>
          <p:nvPr/>
        </p:nvCxnSpPr>
        <p:spPr>
          <a:xfrm flipV="1">
            <a:off x="5842635" y="316230"/>
            <a:ext cx="408305" cy="1464945"/>
          </a:xfrm>
          <a:prstGeom prst="line">
            <a:avLst/>
          </a:prstGeom>
          <a:ln w="38100" cap="flat" cmpd="sng">
            <a:solidFill>
              <a:schemeClr val="tx1"/>
            </a:solidFill>
            <a:prstDash val="solid"/>
            <a:miter lim="800000"/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>
            <p:custDataLst>
              <p:tags r:id="rId12"/>
            </p:custDataLst>
          </p:nvPr>
        </p:nvCxnSpPr>
        <p:spPr>
          <a:xfrm flipV="1">
            <a:off x="5842635" y="2682240"/>
            <a:ext cx="381635" cy="241935"/>
          </a:xfrm>
          <a:prstGeom prst="line">
            <a:avLst/>
          </a:prstGeom>
          <a:ln w="38100" cap="flat" cmpd="sng">
            <a:solidFill>
              <a:schemeClr val="tx1"/>
            </a:solidFill>
            <a:prstDash val="solid"/>
            <a:miter lim="800000"/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BEAUTIFY_FLAG" val=""/>
</p:tagLst>
</file>

<file path=ppt/tags/tag170.xml><?xml version="1.0" encoding="utf-8"?>
<p:tagLst xmlns:p="http://schemas.openxmlformats.org/presentationml/2006/main">
  <p:tag name="KSO_WM_BEAUTIFY_FLAG" val=""/>
</p:tagLst>
</file>

<file path=ppt/tags/tag171.xml><?xml version="1.0" encoding="utf-8"?>
<p:tagLst xmlns:p="http://schemas.openxmlformats.org/presentationml/2006/main">
  <p:tag name="KSO_WM_BEAUTIFY_FLAG" val=""/>
</p:tagLst>
</file>

<file path=ppt/tags/tag172.xml><?xml version="1.0" encoding="utf-8"?>
<p:tagLst xmlns:p="http://schemas.openxmlformats.org/presentationml/2006/main">
  <p:tag name="KSO_WM_BEAUTIFY_FLAG" val="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BEAUTIFY_FLAG" val=""/>
</p:tagLst>
</file>

<file path=ppt/tags/tag178.xml><?xml version="1.0" encoding="utf-8"?>
<p:tagLst xmlns:p="http://schemas.openxmlformats.org/presentationml/2006/main">
  <p:tag name="KSO_WM_BEAUTIFY_FLAG" val="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ags/tag187.xml><?xml version="1.0" encoding="utf-8"?>
<p:tagLst xmlns:p="http://schemas.openxmlformats.org/presentationml/2006/main">
  <p:tag name="KSO_WM_BEAUTIFY_FLAG" val=""/>
</p:tagLst>
</file>

<file path=ppt/tags/tag188.xml><?xml version="1.0" encoding="utf-8"?>
<p:tagLst xmlns:p="http://schemas.openxmlformats.org/presentationml/2006/main">
  <p:tag name="KSO_WM_BEAUTIFY_FLAG" val=""/>
</p:tagLst>
</file>

<file path=ppt/tags/tag189.xml><?xml version="1.0" encoding="utf-8"?>
<p:tagLst xmlns:p="http://schemas.openxmlformats.org/presentationml/2006/main">
  <p:tag name="KSO_WM_BEAUTIFY_FLAG" val=""/>
</p:tagLst>
</file>

<file path=ppt/tags/tag190.xml><?xml version="1.0" encoding="utf-8"?>
<p:tagLst xmlns:p="http://schemas.openxmlformats.org/presentationml/2006/main">
  <p:tag name="KSO_WM_BEAUTIFY_FLAG" val=""/>
</p:tagLst>
</file>

<file path=ppt/tags/tag191.xml><?xml version="1.0" encoding="utf-8"?>
<p:tagLst xmlns:p="http://schemas.openxmlformats.org/presentationml/2006/main">
  <p:tag name="KSO_WM_BEAUTIFY_FLAG" val=""/>
</p:tagLst>
</file>

<file path=ppt/tags/tag192.xml><?xml version="1.0" encoding="utf-8"?>
<p:tagLst xmlns:p="http://schemas.openxmlformats.org/presentationml/2006/main">
  <p:tag name="KSO_WM_BEAUTIFY_FLAG" val=""/>
</p:tagLst>
</file>

<file path=ppt/tags/tag193.xml><?xml version="1.0" encoding="utf-8"?>
<p:tagLst xmlns:p="http://schemas.openxmlformats.org/presentationml/2006/main">
  <p:tag name="KSO_WM_BEAUTIFY_FLAG" val=""/>
</p:tagLst>
</file>

<file path=ppt/tags/tag194.xml><?xml version="1.0" encoding="utf-8"?>
<p:tagLst xmlns:p="http://schemas.openxmlformats.org/presentationml/2006/main">
  <p:tag name="KSO_WM_BEAUTIFY_FLAG" val=""/>
</p:tagLst>
</file>

<file path=ppt/tags/tag195.xml><?xml version="1.0" encoding="utf-8"?>
<p:tagLst xmlns:p="http://schemas.openxmlformats.org/presentationml/2006/main">
  <p:tag name="KSO_WM_BEAUTIFY_FLAG" val=""/>
</p:tagLst>
</file>

<file path=ppt/tags/tag196.xml><?xml version="1.0" encoding="utf-8"?>
<p:tagLst xmlns:p="http://schemas.openxmlformats.org/presentationml/2006/main">
  <p:tag name="KSO_WM_BEAUTIFY_FLAG" val="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BEAUTIFY_FLAG" val=""/>
</p:tagLst>
</file>

<file path=ppt/tags/tag199.xml><?xml version="1.0" encoding="utf-8"?>
<p:tagLst xmlns:p="http://schemas.openxmlformats.org/presentationml/2006/main">
  <p:tag name="KSO_WM_BEAUTIFY_FLAG" val=""/>
</p:tagLst>
</file>

<file path=ppt/tags/tag200.xml><?xml version="1.0" encoding="utf-8"?>
<p:tagLst xmlns:p="http://schemas.openxmlformats.org/presentationml/2006/main">
  <p:tag name="KSO_WM_BEAUTIFY_FLAG" val=""/>
</p:tagLst>
</file>

<file path=ppt/tags/tag201.xml><?xml version="1.0" encoding="utf-8"?>
<p:tagLst xmlns:p="http://schemas.openxmlformats.org/presentationml/2006/main">
  <p:tag name="KSO_WM_BEAUTIFY_FLAG" val=""/>
</p:tagLst>
</file>

<file path=ppt/tags/tag202.xml><?xml version="1.0" encoding="utf-8"?>
<p:tagLst xmlns:p="http://schemas.openxmlformats.org/presentationml/2006/main">
  <p:tag name="KSO_WM_BEAUTIFY_FLAG" val=""/>
</p:tagLst>
</file>

<file path=ppt/tags/tag203.xml><?xml version="1.0" encoding="utf-8"?>
<p:tagLst xmlns:p="http://schemas.openxmlformats.org/presentationml/2006/main">
  <p:tag name="KSO_WM_BEAUTIFY_FLAG" val=""/>
</p:tagLst>
</file>

<file path=ppt/tags/tag204.xml><?xml version="1.0" encoding="utf-8"?>
<p:tagLst xmlns:p="http://schemas.openxmlformats.org/presentationml/2006/main">
  <p:tag name="KSO_WM_BEAUTIFY_FLAG" val=""/>
</p:tagLst>
</file>

<file path=ppt/tags/tag205.xml><?xml version="1.0" encoding="utf-8"?>
<p:tagLst xmlns:p="http://schemas.openxmlformats.org/presentationml/2006/main">
  <p:tag name="KSO_WM_BEAUTIFY_FLAG" val=""/>
</p:tagLst>
</file>

<file path=ppt/tags/tag206.xml><?xml version="1.0" encoding="utf-8"?>
<p:tagLst xmlns:p="http://schemas.openxmlformats.org/presentationml/2006/main">
  <p:tag name="KSO_WM_BEAUTIFY_FLAG" val=""/>
</p:tagLst>
</file>

<file path=ppt/tags/tag207.xml><?xml version="1.0" encoding="utf-8"?>
<p:tagLst xmlns:p="http://schemas.openxmlformats.org/presentationml/2006/main">
  <p:tag name="KSO_WM_BEAUTIFY_FLAG" val=""/>
</p:tagLst>
</file>

<file path=ppt/tags/tag208.xml><?xml version="1.0" encoding="utf-8"?>
<p:tagLst xmlns:p="http://schemas.openxmlformats.org/presentationml/2006/main">
  <p:tag name="KSO_WM_BEAUTIFY_FLAG" val=""/>
</p:tagLst>
</file>

<file path=ppt/tags/tag209.xml><?xml version="1.0" encoding="utf-8"?>
<p:tagLst xmlns:p="http://schemas.openxmlformats.org/presentationml/2006/main">
  <p:tag name="KSO_WM_BEAUTIFY_FLAG" val=""/>
</p:tagLst>
</file>

<file path=ppt/tags/tag210.xml><?xml version="1.0" encoding="utf-8"?>
<p:tagLst xmlns:p="http://schemas.openxmlformats.org/presentationml/2006/main">
  <p:tag name="KSO_WM_BEAUTIFY_FLAG" val=""/>
</p:tagLst>
</file>

<file path=ppt/tags/tag211.xml><?xml version="1.0" encoding="utf-8"?>
<p:tagLst xmlns:p="http://schemas.openxmlformats.org/presentationml/2006/main">
  <p:tag name="KSO_WM_BEAUTIFY_FLAG" val=""/>
</p:tagLst>
</file>

<file path=ppt/tags/tag212.xml><?xml version="1.0" encoding="utf-8"?>
<p:tagLst xmlns:p="http://schemas.openxmlformats.org/presentationml/2006/main">
  <p:tag name="KSO_WM_BEAUTIFY_FLAG" val=""/>
</p:tagLst>
</file>

<file path=ppt/tags/tag213.xml><?xml version="1.0" encoding="utf-8"?>
<p:tagLst xmlns:p="http://schemas.openxmlformats.org/presentationml/2006/main">
  <p:tag name="KSO_WM_BEAUTIFY_FLAG" val=""/>
</p:tagLst>
</file>

<file path=ppt/tags/tag214.xml><?xml version="1.0" encoding="utf-8"?>
<p:tagLst xmlns:p="http://schemas.openxmlformats.org/presentationml/2006/main">
  <p:tag name="KSO_WM_BEAUTIFY_FLAG" val=""/>
</p:tagLst>
</file>

<file path=ppt/tags/tag215.xml><?xml version="1.0" encoding="utf-8"?>
<p:tagLst xmlns:p="http://schemas.openxmlformats.org/presentationml/2006/main">
  <p:tag name="KSO_WM_BEAUTIFY_FLAG" val=""/>
</p:tagLst>
</file>

<file path=ppt/tags/tag216.xml><?xml version="1.0" encoding="utf-8"?>
<p:tagLst xmlns:p="http://schemas.openxmlformats.org/presentationml/2006/main">
  <p:tag name="KSO_WM_BEAUTIFY_FLAG" val=""/>
</p:tagLst>
</file>

<file path=ppt/tags/tag217.xml><?xml version="1.0" encoding="utf-8"?>
<p:tagLst xmlns:p="http://schemas.openxmlformats.org/presentationml/2006/main">
  <p:tag name="KSO_WM_BEAUTIFY_FLAG" val=""/>
</p:tagLst>
</file>

<file path=ppt/tags/tag218.xml><?xml version="1.0" encoding="utf-8"?>
<p:tagLst xmlns:p="http://schemas.openxmlformats.org/presentationml/2006/main">
  <p:tag name="KSO_WM_BEAUTIFY_FLAG" val=""/>
</p:tagLst>
</file>

<file path=ppt/tags/tag219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4718</Words>
  <Application>WPS 演示</Application>
  <PresentationFormat>宽屏</PresentationFormat>
  <Paragraphs>293</Paragraphs>
  <Slides>28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43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BatangChe</vt:lpstr>
      <vt:lpstr>Apple SD Gothic Neo</vt:lpstr>
      <vt:lpstr>DejaVuMathTeXGyre</vt:lpstr>
      <vt:lpstr>WPS</vt:lpstr>
      <vt:lpstr>VAE</vt:lpstr>
      <vt:lpstr>PowerPoint 演示文稿</vt:lpstr>
      <vt:lpstr>PowerPoint 演示文稿</vt:lpstr>
      <vt:lpstr>VQ-VAE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57</cp:revision>
  <dcterms:created xsi:type="dcterms:W3CDTF">2025-06-30T05:44:44Z</dcterms:created>
  <dcterms:modified xsi:type="dcterms:W3CDTF">2025-06-30T05:44:44Z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9906DE13316D6A8AC9A25F6855788AF2_43</vt:lpwstr>
  </property>
</Properties>
</file>