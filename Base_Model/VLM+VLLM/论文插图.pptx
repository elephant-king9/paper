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  <p:sldId id="279" r:id="rId24"/>
    <p:sldId id="280" r:id="rId25"/>
    <p:sldId id="281" r:id="rId26"/>
    <p:sldId id="282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83"/>
        <p:guide pos="37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2.png"/><Relationship Id="rId3" Type="http://schemas.openxmlformats.org/officeDocument/2006/relationships/tags" Target="../tags/tag5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tags" Target="../tags/tag22.xml"/><Relationship Id="rId20" Type="http://schemas.openxmlformats.org/officeDocument/2006/relationships/tags" Target="../tags/tag21.xml"/><Relationship Id="rId2" Type="http://schemas.openxmlformats.org/officeDocument/2006/relationships/image" Target="../media/image1.png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image" Target="../media/image4.png"/><Relationship Id="rId3" Type="http://schemas.openxmlformats.org/officeDocument/2006/relationships/tags" Target="../tags/tag31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image" Target="../media/image3.png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image" Target="../media/image5.png"/><Relationship Id="rId1" Type="http://schemas.openxmlformats.org/officeDocument/2006/relationships/tags" Target="../tags/tag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4.xml"/><Relationship Id="rId2" Type="http://schemas.openxmlformats.org/officeDocument/2006/relationships/image" Target="../media/image6.png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image" Target="../media/image7.png"/><Relationship Id="rId10" Type="http://schemas.openxmlformats.org/officeDocument/2006/relationships/tags" Target="../tags/tag65.xml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image" Target="../media/image11.png"/><Relationship Id="rId7" Type="http://schemas.openxmlformats.org/officeDocument/2006/relationships/tags" Target="../tags/tag78.xml"/><Relationship Id="rId6" Type="http://schemas.openxmlformats.org/officeDocument/2006/relationships/image" Target="../media/image10.png"/><Relationship Id="rId5" Type="http://schemas.openxmlformats.org/officeDocument/2006/relationships/tags" Target="../tags/tag77.xml"/><Relationship Id="rId4" Type="http://schemas.openxmlformats.org/officeDocument/2006/relationships/image" Target="../media/image9.png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01.xml"/><Relationship Id="rId33" Type="http://schemas.openxmlformats.org/officeDocument/2006/relationships/tags" Target="../tags/tag100.xml"/><Relationship Id="rId32" Type="http://schemas.openxmlformats.org/officeDocument/2006/relationships/tags" Target="../tags/tag99.xml"/><Relationship Id="rId31" Type="http://schemas.openxmlformats.org/officeDocument/2006/relationships/tags" Target="../tags/tag98.xml"/><Relationship Id="rId30" Type="http://schemas.openxmlformats.org/officeDocument/2006/relationships/tags" Target="../tags/tag97.xml"/><Relationship Id="rId3" Type="http://schemas.openxmlformats.org/officeDocument/2006/relationships/tags" Target="../tags/tag76.xml"/><Relationship Id="rId29" Type="http://schemas.openxmlformats.org/officeDocument/2006/relationships/tags" Target="../tags/tag96.xml"/><Relationship Id="rId28" Type="http://schemas.openxmlformats.org/officeDocument/2006/relationships/tags" Target="../tags/tag95.xml"/><Relationship Id="rId27" Type="http://schemas.openxmlformats.org/officeDocument/2006/relationships/tags" Target="../tags/tag94.xml"/><Relationship Id="rId26" Type="http://schemas.openxmlformats.org/officeDocument/2006/relationships/tags" Target="../tags/tag93.xml"/><Relationship Id="rId25" Type="http://schemas.openxmlformats.org/officeDocument/2006/relationships/tags" Target="../tags/tag92.xml"/><Relationship Id="rId24" Type="http://schemas.openxmlformats.org/officeDocument/2006/relationships/tags" Target="../tags/tag91.xml"/><Relationship Id="rId23" Type="http://schemas.openxmlformats.org/officeDocument/2006/relationships/tags" Target="../tags/tag90.xml"/><Relationship Id="rId22" Type="http://schemas.openxmlformats.org/officeDocument/2006/relationships/tags" Target="../tags/tag89.xml"/><Relationship Id="rId21" Type="http://schemas.openxmlformats.org/officeDocument/2006/relationships/image" Target="../media/image14.png"/><Relationship Id="rId20" Type="http://schemas.openxmlformats.org/officeDocument/2006/relationships/tags" Target="../tags/tag88.xml"/><Relationship Id="rId2" Type="http://schemas.openxmlformats.org/officeDocument/2006/relationships/image" Target="../media/image8.png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3.png"/><Relationship Id="rId11" Type="http://schemas.openxmlformats.org/officeDocument/2006/relationships/tags" Target="../tags/tag80.xml"/><Relationship Id="rId10" Type="http://schemas.openxmlformats.org/officeDocument/2006/relationships/image" Target="../media/image12.png"/><Relationship Id="rId1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16.png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136.xml"/><Relationship Id="rId36" Type="http://schemas.openxmlformats.org/officeDocument/2006/relationships/tags" Target="../tags/tag135.xml"/><Relationship Id="rId35" Type="http://schemas.openxmlformats.org/officeDocument/2006/relationships/tags" Target="../tags/tag134.xml"/><Relationship Id="rId34" Type="http://schemas.openxmlformats.org/officeDocument/2006/relationships/tags" Target="../tags/tag133.xml"/><Relationship Id="rId33" Type="http://schemas.openxmlformats.org/officeDocument/2006/relationships/tags" Target="../tags/tag132.xml"/><Relationship Id="rId32" Type="http://schemas.openxmlformats.org/officeDocument/2006/relationships/tags" Target="../tags/tag131.xml"/><Relationship Id="rId31" Type="http://schemas.openxmlformats.org/officeDocument/2006/relationships/tags" Target="../tags/tag130.xml"/><Relationship Id="rId30" Type="http://schemas.openxmlformats.org/officeDocument/2006/relationships/tags" Target="../tags/tag129.xml"/><Relationship Id="rId3" Type="http://schemas.openxmlformats.org/officeDocument/2006/relationships/tags" Target="../tags/tag103.xml"/><Relationship Id="rId29" Type="http://schemas.openxmlformats.org/officeDocument/2006/relationships/tags" Target="../tags/tag128.xml"/><Relationship Id="rId28" Type="http://schemas.openxmlformats.org/officeDocument/2006/relationships/tags" Target="../tags/tag127.xml"/><Relationship Id="rId27" Type="http://schemas.openxmlformats.org/officeDocument/2006/relationships/tags" Target="../tags/tag126.xml"/><Relationship Id="rId26" Type="http://schemas.openxmlformats.org/officeDocument/2006/relationships/tags" Target="../tags/tag125.xml"/><Relationship Id="rId25" Type="http://schemas.openxmlformats.org/officeDocument/2006/relationships/tags" Target="../tags/tag124.xml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tags" Target="../tags/tag121.xml"/><Relationship Id="rId21" Type="http://schemas.openxmlformats.org/officeDocument/2006/relationships/tags" Target="../tags/tag120.xml"/><Relationship Id="rId20" Type="http://schemas.openxmlformats.org/officeDocument/2006/relationships/tags" Target="../tags/tag119.xml"/><Relationship Id="rId2" Type="http://schemas.openxmlformats.org/officeDocument/2006/relationships/image" Target="../media/image15.png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image" Target="../media/image17.png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45.xml"/><Relationship Id="rId1" Type="http://schemas.openxmlformats.org/officeDocument/2006/relationships/tags" Target="../tags/tag1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image" Target="../media/image19.png"/><Relationship Id="rId3" Type="http://schemas.openxmlformats.org/officeDocument/2006/relationships/tags" Target="../tags/tag147.xml"/><Relationship Id="rId2" Type="http://schemas.openxmlformats.org/officeDocument/2006/relationships/image" Target="../media/image18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23.png"/><Relationship Id="rId7" Type="http://schemas.openxmlformats.org/officeDocument/2006/relationships/tags" Target="../tags/tag158.xml"/><Relationship Id="rId6" Type="http://schemas.openxmlformats.org/officeDocument/2006/relationships/image" Target="../media/image22.png"/><Relationship Id="rId5" Type="http://schemas.openxmlformats.org/officeDocument/2006/relationships/tags" Target="../tags/tag157.xml"/><Relationship Id="rId4" Type="http://schemas.openxmlformats.org/officeDocument/2006/relationships/image" Target="../media/image21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187.xml"/><Relationship Id="rId37" Type="http://schemas.openxmlformats.org/officeDocument/2006/relationships/tags" Target="../tags/tag186.xml"/><Relationship Id="rId36" Type="http://schemas.openxmlformats.org/officeDocument/2006/relationships/tags" Target="../tags/tag185.xml"/><Relationship Id="rId35" Type="http://schemas.openxmlformats.org/officeDocument/2006/relationships/tags" Target="../tags/tag184.xml"/><Relationship Id="rId34" Type="http://schemas.openxmlformats.org/officeDocument/2006/relationships/tags" Target="../tags/tag183.xml"/><Relationship Id="rId33" Type="http://schemas.openxmlformats.org/officeDocument/2006/relationships/tags" Target="../tags/tag182.xml"/><Relationship Id="rId32" Type="http://schemas.openxmlformats.org/officeDocument/2006/relationships/tags" Target="../tags/tag181.xml"/><Relationship Id="rId31" Type="http://schemas.openxmlformats.org/officeDocument/2006/relationships/tags" Target="../tags/tag180.xml"/><Relationship Id="rId30" Type="http://schemas.openxmlformats.org/officeDocument/2006/relationships/tags" Target="../tags/tag179.xml"/><Relationship Id="rId3" Type="http://schemas.openxmlformats.org/officeDocument/2006/relationships/tags" Target="../tags/tag156.xml"/><Relationship Id="rId29" Type="http://schemas.openxmlformats.org/officeDocument/2006/relationships/tags" Target="../tags/tag178.xml"/><Relationship Id="rId28" Type="http://schemas.openxmlformats.org/officeDocument/2006/relationships/tags" Target="../tags/tag177.xml"/><Relationship Id="rId27" Type="http://schemas.openxmlformats.org/officeDocument/2006/relationships/tags" Target="../tags/tag176.xml"/><Relationship Id="rId26" Type="http://schemas.openxmlformats.org/officeDocument/2006/relationships/tags" Target="../tags/tag175.xml"/><Relationship Id="rId25" Type="http://schemas.openxmlformats.org/officeDocument/2006/relationships/tags" Target="../tags/tag174.xml"/><Relationship Id="rId24" Type="http://schemas.openxmlformats.org/officeDocument/2006/relationships/tags" Target="../tags/tag173.xml"/><Relationship Id="rId23" Type="http://schemas.openxmlformats.org/officeDocument/2006/relationships/tags" Target="../tags/tag172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image" Target="../media/image20.png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image" Target="../media/image24.png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image" Target="../media/image27.png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image" Target="../media/image26.png"/><Relationship Id="rId3" Type="http://schemas.openxmlformats.org/officeDocument/2006/relationships/tags" Target="../tags/tag189.xml"/><Relationship Id="rId2" Type="http://schemas.openxmlformats.org/officeDocument/2006/relationships/image" Target="../media/image25.png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00.xml"/><Relationship Id="rId15" Type="http://schemas.openxmlformats.org/officeDocument/2006/relationships/tags" Target="../tags/tag199.xml"/><Relationship Id="rId14" Type="http://schemas.openxmlformats.org/officeDocument/2006/relationships/tags" Target="../tags/tag198.xml"/><Relationship Id="rId13" Type="http://schemas.openxmlformats.org/officeDocument/2006/relationships/tags" Target="../tags/tag19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tags" Target="../tags/tag18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image" Target="../media/image29.png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image" Target="../media/image28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20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image" Target="../media/image31.png"/><Relationship Id="rId3" Type="http://schemas.openxmlformats.org/officeDocument/2006/relationships/tags" Target="../tags/tag21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31.xml"/><Relationship Id="rId2" Type="http://schemas.openxmlformats.org/officeDocument/2006/relationships/image" Target="../media/image30.png"/><Relationship Id="rId19" Type="http://schemas.openxmlformats.org/officeDocument/2006/relationships/tags" Target="../tags/tag230.xml"/><Relationship Id="rId18" Type="http://schemas.openxmlformats.org/officeDocument/2006/relationships/tags" Target="../tags/tag229.xml"/><Relationship Id="rId17" Type="http://schemas.openxmlformats.org/officeDocument/2006/relationships/tags" Target="../tags/tag228.xml"/><Relationship Id="rId16" Type="http://schemas.openxmlformats.org/officeDocument/2006/relationships/tags" Target="../tags/tag227.xml"/><Relationship Id="rId15" Type="http://schemas.openxmlformats.org/officeDocument/2006/relationships/tags" Target="../tags/tag2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CLIP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: 圆角 36"/>
          <p:cNvSpPr/>
          <p:nvPr>
            <p:custDataLst>
              <p:tags r:id="rId1"/>
            </p:custDataLst>
          </p:nvPr>
        </p:nvSpPr>
        <p:spPr>
          <a:xfrm rot="10800000" flipV="1">
            <a:off x="180975" y="285115"/>
            <a:ext cx="6445250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91360" y="6527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存在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回答不符合预期，风格混乱等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 flipV="1">
            <a:off x="5245100" y="1129665"/>
            <a:ext cx="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150" y="907415"/>
            <a:ext cx="8573770" cy="31724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03590" y="2840355"/>
            <a:ext cx="3788410" cy="401764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79705" y="4859655"/>
            <a:ext cx="2477770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图像编码器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采取两种架构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ResNet50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改进版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 ViT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扩展方式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宽度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深度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分辨率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0" y="131445"/>
            <a:ext cx="3420745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文本编码器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Transformer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12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512dim8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头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扩展方式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只扩宽度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(dim)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不加深度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(layer)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: 圆角 36"/>
          <p:cNvSpPr/>
          <p:nvPr>
            <p:custDataLst>
              <p:tags r:id="rId7"/>
            </p:custDataLst>
          </p:nvPr>
        </p:nvSpPr>
        <p:spPr>
          <a:xfrm rot="10800000" flipV="1">
            <a:off x="965835" y="1212850"/>
            <a:ext cx="1093470" cy="10083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: 圆角 36"/>
          <p:cNvSpPr/>
          <p:nvPr>
            <p:custDataLst>
              <p:tags r:id="rId8"/>
            </p:custDataLst>
          </p:nvPr>
        </p:nvSpPr>
        <p:spPr>
          <a:xfrm rot="10800000" flipV="1">
            <a:off x="965835" y="2591435"/>
            <a:ext cx="1093470" cy="10083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36"/>
          <p:cNvSpPr/>
          <p:nvPr>
            <p:custDataLst>
              <p:tags r:id="rId9"/>
            </p:custDataLst>
          </p:nvPr>
        </p:nvSpPr>
        <p:spPr>
          <a:xfrm rot="10800000" flipV="1">
            <a:off x="179705" y="4864100"/>
            <a:ext cx="2478405" cy="12573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10"/>
            </p:custDataLst>
          </p:nvPr>
        </p:nvSpPr>
        <p:spPr>
          <a:xfrm rot="10800000" flipV="1">
            <a:off x="57150" y="118745"/>
            <a:ext cx="3363595" cy="10077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11"/>
            </p:custDataLst>
          </p:nvPr>
        </p:nvCxnSpPr>
        <p:spPr>
          <a:xfrm flipV="1">
            <a:off x="1512570" y="3599815"/>
            <a:ext cx="0" cy="12858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16" idx="1"/>
          </p:cNvCxnSpPr>
          <p:nvPr>
            <p:custDataLst>
              <p:tags r:id="rId12"/>
            </p:custDataLst>
          </p:nvPr>
        </p:nvCxnSpPr>
        <p:spPr>
          <a:xfrm flipV="1">
            <a:off x="2059305" y="1139190"/>
            <a:ext cx="213995" cy="577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2059305" y="1842135"/>
            <a:ext cx="2143760" cy="209042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3719195" y="4103370"/>
            <a:ext cx="2477770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构建相似度矩阵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每一格式余弦相似度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对角线为正样本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其他为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负样本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4027170" y="4057650"/>
            <a:ext cx="1898650" cy="10090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连接符 16"/>
          <p:cNvCxnSpPr>
            <a:stCxn id="13" idx="2"/>
          </p:cNvCxnSpPr>
          <p:nvPr>
            <p:custDataLst>
              <p:tags r:id="rId16"/>
            </p:custDataLst>
          </p:nvPr>
        </p:nvCxnSpPr>
        <p:spPr>
          <a:xfrm>
            <a:off x="3131185" y="3932555"/>
            <a:ext cx="847090" cy="7156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4297045" y="118110"/>
            <a:ext cx="2479040" cy="23552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3826510" y="209550"/>
            <a:ext cx="3420745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测试阶段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将单词转化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通过文本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编码器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矩形: 圆角 36"/>
          <p:cNvSpPr/>
          <p:nvPr>
            <p:custDataLst>
              <p:tags r:id="rId19"/>
            </p:custDataLst>
          </p:nvPr>
        </p:nvSpPr>
        <p:spPr>
          <a:xfrm rot="10800000" flipV="1">
            <a:off x="6776720" y="2486025"/>
            <a:ext cx="1626870" cy="91757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8403590" y="1048385"/>
            <a:ext cx="3789045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计算图像和文本编码器后的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匹配度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8497570" y="923925"/>
            <a:ext cx="3694430" cy="52705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endCxn id="22" idx="2"/>
          </p:cNvCxnSpPr>
          <p:nvPr>
            <p:custDataLst>
              <p:tags r:id="rId22"/>
            </p:custDataLst>
          </p:nvPr>
        </p:nvCxnSpPr>
        <p:spPr>
          <a:xfrm flipV="1">
            <a:off x="8497570" y="1450975"/>
            <a:ext cx="1847215" cy="1022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: 圆角 36"/>
          <p:cNvSpPr/>
          <p:nvPr>
            <p:custDataLst>
              <p:tags r:id="rId23"/>
            </p:custDataLst>
          </p:nvPr>
        </p:nvSpPr>
        <p:spPr>
          <a:xfrm rot="10800000" flipV="1">
            <a:off x="6196965" y="4490085"/>
            <a:ext cx="5995035" cy="5784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6473825" y="4699635"/>
            <a:ext cx="2035810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投影到多模态空间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矩形: 圆角 36"/>
          <p:cNvSpPr/>
          <p:nvPr>
            <p:custDataLst>
              <p:tags r:id="rId25"/>
            </p:custDataLst>
          </p:nvPr>
        </p:nvSpPr>
        <p:spPr>
          <a:xfrm rot="10800000" flipV="1">
            <a:off x="6323965" y="5118735"/>
            <a:ext cx="5382895" cy="40322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6531610" y="5166995"/>
            <a:ext cx="2035810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相似度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矩阵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6531610" y="5697855"/>
            <a:ext cx="2035810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对角线为正样本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计算对比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矩形: 圆角 36"/>
          <p:cNvSpPr/>
          <p:nvPr>
            <p:custDataLst>
              <p:tags r:id="rId28"/>
            </p:custDataLst>
          </p:nvPr>
        </p:nvSpPr>
        <p:spPr>
          <a:xfrm rot="10800000" flipV="1">
            <a:off x="6450965" y="5668645"/>
            <a:ext cx="5740400" cy="67246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ViLT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28265" y="111125"/>
            <a:ext cx="6936105" cy="2071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22755" y="2562225"/>
            <a:ext cx="8747760" cy="33337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3026410" y="5638800"/>
            <a:ext cx="2477770" cy="91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矩形: 圆角 36"/>
          <p:cNvSpPr/>
          <p:nvPr>
            <p:custDataLst>
              <p:tags r:id="rId6"/>
            </p:custDataLst>
          </p:nvPr>
        </p:nvSpPr>
        <p:spPr>
          <a:xfrm rot="10800000" flipV="1">
            <a:off x="8179435" y="111125"/>
            <a:ext cx="1384300" cy="207200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>
            <p:custDataLst>
              <p:tags r:id="rId7"/>
            </p:custDataLst>
          </p:nvPr>
        </p:nvCxnSpPr>
        <p:spPr>
          <a:xfrm flipV="1">
            <a:off x="1781175" y="2149475"/>
            <a:ext cx="6417945" cy="412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 flipH="1" flipV="1">
            <a:off x="9535160" y="2149475"/>
            <a:ext cx="907415" cy="412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444625" y="5853430"/>
            <a:ext cx="438785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文本模态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Word Embedding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映射为向量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添加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CLS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对每个向量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+0(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代表文本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位置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信息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5651500" y="6012180"/>
            <a:ext cx="438785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图像模态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图像被划分为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patch(32x32)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，线性投影映射为向量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添加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CLS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，同时对每个向量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+1(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代表图像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位置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信息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矩形: 圆角 36"/>
          <p:cNvSpPr/>
          <p:nvPr>
            <p:custDataLst>
              <p:tags r:id="rId11"/>
            </p:custDataLst>
          </p:nvPr>
        </p:nvSpPr>
        <p:spPr>
          <a:xfrm rot="10800000" flipV="1">
            <a:off x="1723390" y="4271010"/>
            <a:ext cx="3721735" cy="25044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12"/>
            </p:custDataLst>
          </p:nvPr>
        </p:nvSpPr>
        <p:spPr>
          <a:xfrm rot="10800000" flipV="1">
            <a:off x="5504180" y="4270375"/>
            <a:ext cx="4966335" cy="25044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-635" y="3428365"/>
            <a:ext cx="8503920" cy="7899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0" y="3428365"/>
            <a:ext cx="239776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ViT-Encoder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使用预训练好的ViT-B/32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ViT Encoder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2591435" y="2514600"/>
            <a:ext cx="239776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判断图文是否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匹配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4582795" y="2514600"/>
            <a:ext cx="239776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预测被遮挡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6440170" y="2504440"/>
            <a:ext cx="239776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图文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对齐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矩形: 圆角 36"/>
          <p:cNvSpPr/>
          <p:nvPr>
            <p:custDataLst>
              <p:tags r:id="rId18"/>
            </p:custDataLst>
          </p:nvPr>
        </p:nvSpPr>
        <p:spPr>
          <a:xfrm rot="10800000" flipV="1">
            <a:off x="3026410" y="2503805"/>
            <a:ext cx="8503920" cy="46926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8689340" y="2503805"/>
            <a:ext cx="239776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使用三种损失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635" y="5227320"/>
            <a:ext cx="5444490" cy="680720"/>
          </a:xfrm>
          <a:prstGeom prst="roundRect">
            <a:avLst>
              <a:gd name="adj" fmla="val 10039"/>
            </a:avLst>
          </a:prstGeom>
          <a:noFill/>
          <a:ln w="38100">
            <a:solidFill>
              <a:srgbClr val="99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-229870" y="5221605"/>
            <a:ext cx="285877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BERT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存在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WordPiece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分词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可能把一个词分为多个子词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本模型不拆分，对整词遮挡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矩形: 圆角 36"/>
          <p:cNvSpPr/>
          <p:nvPr>
            <p:custDataLst>
              <p:tags r:id="rId22"/>
            </p:custDataLst>
          </p:nvPr>
        </p:nvSpPr>
        <p:spPr>
          <a:xfrm rot="10800000" flipV="1">
            <a:off x="9046210" y="4286885"/>
            <a:ext cx="3145790" cy="1792605"/>
          </a:xfrm>
          <a:prstGeom prst="roundRect">
            <a:avLst>
              <a:gd name="adj" fmla="val 10039"/>
            </a:avLst>
          </a:prstGeom>
          <a:noFill/>
          <a:ln w="38100">
            <a:solidFill>
              <a:srgbClr val="99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10010140" y="4369435"/>
            <a:ext cx="2181860" cy="857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图像增强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RandAugment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默认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但删除颜色翻转和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遮挡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7145" y="71120"/>
            <a:ext cx="6548755" cy="632587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062345" y="893445"/>
            <a:ext cx="557784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前期工作都是对图像模态使用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CNN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提取并通过目标检测提取主体，消耗资源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017770" y="1595755"/>
            <a:ext cx="557784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Pixel-BERT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仅对图像模态使用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CNN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650740" y="2298065"/>
            <a:ext cx="557784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仅对图像模态使用线性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层提取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650740" y="3127375"/>
            <a:ext cx="557784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文本模态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都使用线性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层提取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190490" y="4425315"/>
            <a:ext cx="557784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对于图像部分的计算资源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过多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ALBEF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9415" y="689610"/>
            <a:ext cx="11352530" cy="536321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48410" y="6010910"/>
            <a:ext cx="2757805" cy="847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图像输入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12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提取图像特征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ViT-B/16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280025" y="5986145"/>
            <a:ext cx="275780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文本输入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6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提取文本特征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BERT-base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前六层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310630" y="3054350"/>
            <a:ext cx="275780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特征融合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6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跨模态融合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BERT-base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后六层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735320" y="689610"/>
            <a:ext cx="275780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 MASK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85115" y="1343660"/>
            <a:ext cx="3437255" cy="1329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ITM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如果使用是否匹配很容易就崩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因为正样本的只有一个，其他都是负样本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所以选择不是正确标签但最像的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softmax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第二的作为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负样本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287395" y="3177540"/>
            <a:ext cx="2757805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MoCo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的方法来对比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学习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789035" y="5665470"/>
            <a:ext cx="3168650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动量模型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负责生成对比学习正负样本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负责蒸馏让标签从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one-hot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平滑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1535" y="299085"/>
            <a:ext cx="4883785" cy="814070"/>
          </a:xfrm>
          <a:prstGeom prst="rect">
            <a:avLst/>
          </a:prstGeom>
        </p:spPr>
      </p:pic>
      <p:sp>
        <p:nvSpPr>
          <p:cNvPr id="18" name="矩形: 圆角 36"/>
          <p:cNvSpPr/>
          <p:nvPr>
            <p:custDataLst>
              <p:tags r:id="rId12"/>
            </p:custDataLst>
          </p:nvPr>
        </p:nvSpPr>
        <p:spPr>
          <a:xfrm rot="10800000" flipV="1">
            <a:off x="1682750" y="4162425"/>
            <a:ext cx="1954530" cy="26714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5541645" y="4186555"/>
            <a:ext cx="2269490" cy="26714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: 圆角 36"/>
          <p:cNvSpPr/>
          <p:nvPr>
            <p:custDataLst>
              <p:tags r:id="rId14"/>
            </p:custDataLst>
          </p:nvPr>
        </p:nvSpPr>
        <p:spPr>
          <a:xfrm rot="10800000" flipV="1">
            <a:off x="3482975" y="3054985"/>
            <a:ext cx="2367280" cy="18961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285115" y="1279525"/>
            <a:ext cx="4340860" cy="12769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36"/>
          <p:cNvSpPr/>
          <p:nvPr>
            <p:custDataLst>
              <p:tags r:id="rId16"/>
            </p:custDataLst>
          </p:nvPr>
        </p:nvSpPr>
        <p:spPr>
          <a:xfrm rot="10800000" flipV="1">
            <a:off x="6465570" y="462280"/>
            <a:ext cx="1345565" cy="12769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8789035" y="2922270"/>
            <a:ext cx="3169285" cy="358965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36"/>
          <p:cNvSpPr/>
          <p:nvPr>
            <p:custDataLst>
              <p:tags r:id="rId18"/>
            </p:custDataLst>
          </p:nvPr>
        </p:nvSpPr>
        <p:spPr>
          <a:xfrm rot="10800000" flipV="1">
            <a:off x="5619750" y="1741805"/>
            <a:ext cx="3169285" cy="21374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1455420" y="0"/>
            <a:ext cx="275780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最终优化损失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需要两轮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Forward(MASK T,T)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768985" y="0"/>
            <a:ext cx="4698365" cy="111315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VLMo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29880" y="2947670"/>
            <a:ext cx="3515360" cy="18815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57160" y="607695"/>
            <a:ext cx="4123690" cy="1807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4928870"/>
            <a:ext cx="6373495" cy="19291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6680835" cy="22028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479675" y="1882775"/>
            <a:ext cx="1722120" cy="32607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73495" y="1775460"/>
            <a:ext cx="1095375" cy="289687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2232025" y="4817745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策略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4117340" y="266827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模型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架构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4101465" y="365506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计算三个损失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LTC+LTM+MLM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4248785" y="3095625"/>
            <a:ext cx="1961515" cy="3632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8284845" y="49530"/>
            <a:ext cx="295021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ITC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对比学习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双流架构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CLIP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的思想进行对比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学习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6590665" y="1120775"/>
            <a:ext cx="150558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L=12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层数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Image=Text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8362315" y="2378075"/>
            <a:ext cx="295021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ITM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匹配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ALBEF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的策略，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CLIP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的双流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架构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softmax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第二作为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负样本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6424295" y="3655060"/>
            <a:ext cx="150558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L=12 F=2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单流架构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7830820" y="4928870"/>
            <a:ext cx="3713480" cy="179514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6292850" y="5574030"/>
            <a:ext cx="150558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L=12 F=2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单流架构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8722995" y="4683760"/>
            <a:ext cx="2230120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MLM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BERT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50800" y="514350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首先使用图像单模态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2226310" y="514350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使用文本模态训练时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冻住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Att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和图像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FFN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4528820" y="514350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使用多模态训练时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全部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放开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2226310" y="49530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微调策略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452755" y="1641475"/>
            <a:ext cx="217551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图文检索使用双流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3933825" y="1623060"/>
            <a:ext cx="248920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分类问答推理使用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矩形: 圆角 36"/>
          <p:cNvSpPr/>
          <p:nvPr>
            <p:custDataLst>
              <p:tags r:id="rId30"/>
            </p:custDataLst>
          </p:nvPr>
        </p:nvSpPr>
        <p:spPr>
          <a:xfrm rot="10800000" flipV="1">
            <a:off x="6704330" y="13970"/>
            <a:ext cx="5176520" cy="23298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36"/>
          <p:cNvSpPr/>
          <p:nvPr>
            <p:custDataLst>
              <p:tags r:id="rId31"/>
            </p:custDataLst>
          </p:nvPr>
        </p:nvSpPr>
        <p:spPr>
          <a:xfrm rot="10800000" flipV="1">
            <a:off x="6704330" y="2415540"/>
            <a:ext cx="5176520" cy="22675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36"/>
          <p:cNvSpPr/>
          <p:nvPr>
            <p:custDataLst>
              <p:tags r:id="rId32"/>
            </p:custDataLst>
          </p:nvPr>
        </p:nvSpPr>
        <p:spPr>
          <a:xfrm rot="10800000" flipV="1">
            <a:off x="6680835" y="4707255"/>
            <a:ext cx="5176520" cy="21323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36"/>
          <p:cNvSpPr/>
          <p:nvPr>
            <p:custDataLst>
              <p:tags r:id="rId33"/>
            </p:custDataLst>
          </p:nvPr>
        </p:nvSpPr>
        <p:spPr>
          <a:xfrm rot="10800000" flipV="1">
            <a:off x="50800" y="4712970"/>
            <a:ext cx="6322695" cy="21323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: 圆角 36"/>
          <p:cNvSpPr/>
          <p:nvPr>
            <p:custDataLst>
              <p:tags r:id="rId34"/>
            </p:custDataLst>
          </p:nvPr>
        </p:nvSpPr>
        <p:spPr>
          <a:xfrm rot="10800000" flipV="1">
            <a:off x="50800" y="49530"/>
            <a:ext cx="6539230" cy="21323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BLIP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28190" y="207645"/>
            <a:ext cx="7892415" cy="322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07870" y="4055745"/>
            <a:ext cx="8173085" cy="27800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028190" y="342900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Encoder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ViT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50005" y="342900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E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ncoder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文本模态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获得纯文本特征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146800" y="342900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Encoder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生成融合模态特征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005445" y="342900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Decoder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生成融合模态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710420" y="1982470"/>
            <a:ext cx="243459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Decoder</a:t>
            </a:r>
            <a:b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单向注意力，提高生成能力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GPT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9920605" y="819785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颜色相同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代表使用相同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参数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920605" y="144272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颜色相同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代表使用相同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参数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3099435" y="21717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ALBEF ITC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080760" y="168910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ALBEF ITM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8075295" y="132715"/>
            <a:ext cx="217551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 LM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3573780" y="171450"/>
            <a:ext cx="1151890" cy="6483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: 圆角 36"/>
          <p:cNvSpPr/>
          <p:nvPr>
            <p:custDataLst>
              <p:tags r:id="rId16"/>
            </p:custDataLst>
          </p:nvPr>
        </p:nvSpPr>
        <p:spPr>
          <a:xfrm rot="10800000" flipV="1">
            <a:off x="6550025" y="92710"/>
            <a:ext cx="1260475" cy="647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8463280" y="132080"/>
            <a:ext cx="1260475" cy="6083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36"/>
          <p:cNvSpPr/>
          <p:nvPr>
            <p:custDataLst>
              <p:tags r:id="rId18"/>
            </p:custDataLst>
          </p:nvPr>
        </p:nvSpPr>
        <p:spPr>
          <a:xfrm rot="10800000" flipV="1">
            <a:off x="4582795" y="847725"/>
            <a:ext cx="7301865" cy="4864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36"/>
          <p:cNvSpPr/>
          <p:nvPr>
            <p:custDataLst>
              <p:tags r:id="rId19"/>
            </p:custDataLst>
          </p:nvPr>
        </p:nvSpPr>
        <p:spPr>
          <a:xfrm rot="10800000" flipV="1">
            <a:off x="6477635" y="1458595"/>
            <a:ext cx="5328285" cy="4864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2027555" y="499110"/>
            <a:ext cx="1673225" cy="348615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3959860" y="2736215"/>
            <a:ext cx="2192655" cy="12598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: 圆角 36"/>
          <p:cNvSpPr/>
          <p:nvPr>
            <p:custDataLst>
              <p:tags r:id="rId22"/>
            </p:custDataLst>
          </p:nvPr>
        </p:nvSpPr>
        <p:spPr>
          <a:xfrm rot="10800000" flipV="1">
            <a:off x="6388100" y="2729865"/>
            <a:ext cx="1687195" cy="12598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36"/>
          <p:cNvSpPr/>
          <p:nvPr>
            <p:custDataLst>
              <p:tags r:id="rId23"/>
            </p:custDataLst>
          </p:nvPr>
        </p:nvSpPr>
        <p:spPr>
          <a:xfrm rot="10800000" flipV="1">
            <a:off x="8367395" y="2736215"/>
            <a:ext cx="1687195" cy="12598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36"/>
          <p:cNvSpPr/>
          <p:nvPr>
            <p:custDataLst>
              <p:tags r:id="rId24"/>
            </p:custDataLst>
          </p:nvPr>
        </p:nvSpPr>
        <p:spPr>
          <a:xfrm rot="10800000" flipV="1">
            <a:off x="8660130" y="2007235"/>
            <a:ext cx="3485515" cy="647700"/>
          </a:xfrm>
          <a:prstGeom prst="roundRect">
            <a:avLst>
              <a:gd name="adj" fmla="val 10039"/>
            </a:avLst>
          </a:prstGeom>
          <a:noFill/>
          <a:ln w="38100">
            <a:solidFill>
              <a:srgbClr val="99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36"/>
          <p:cNvSpPr/>
          <p:nvPr>
            <p:custDataLst>
              <p:tags r:id="rId25"/>
            </p:custDataLst>
          </p:nvPr>
        </p:nvSpPr>
        <p:spPr>
          <a:xfrm rot="10800000" flipV="1">
            <a:off x="4582795" y="2069465"/>
            <a:ext cx="3221355" cy="4864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-260350" y="171577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 b="1">
                <a:latin typeface="微软雅黑" charset="0"/>
                <a:ea typeface="微软雅黑" charset="0"/>
                <a:cs typeface="微软雅黑" charset="0"/>
              </a:rPr>
              <a:t>MED</a:t>
            </a:r>
            <a:r>
              <a:rPr lang="zh-CN" altLang="en-US" sz="2800" b="1">
                <a:latin typeface="微软雅黑" charset="0"/>
                <a:ea typeface="微软雅黑" charset="0"/>
                <a:cs typeface="微软雅黑" charset="0"/>
              </a:rPr>
              <a:t>架构</a:t>
            </a:r>
            <a:endParaRPr lang="zh-CN" altLang="en-US" sz="28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9678035" y="485140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2800" b="1">
                <a:latin typeface="微软雅黑" charset="0"/>
                <a:ea typeface="微软雅黑" charset="0"/>
                <a:cs typeface="微软雅黑" charset="0"/>
              </a:rPr>
              <a:t>CapFilt</a:t>
            </a:r>
            <a:endParaRPr sz="28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0" y="431292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爬虫文本对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人工标注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文本对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127000" y="5288915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训练好的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MED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4044315" y="398526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ITC+ITM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理解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过滤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不匹配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4059555" y="649732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为图像生成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字幕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6864985" y="5561330"/>
            <a:ext cx="241808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经过过滤且重新生成的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较为干净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数据集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矩形: 圆角 36"/>
          <p:cNvSpPr/>
          <p:nvPr>
            <p:custDataLst>
              <p:tags r:id="rId33"/>
            </p:custDataLst>
          </p:nvPr>
        </p:nvSpPr>
        <p:spPr>
          <a:xfrm rot="10800000" flipV="1">
            <a:off x="496570" y="4288790"/>
            <a:ext cx="3485515" cy="64706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36"/>
          <p:cNvSpPr/>
          <p:nvPr>
            <p:custDataLst>
              <p:tags r:id="rId34"/>
            </p:custDataLst>
          </p:nvPr>
        </p:nvSpPr>
        <p:spPr>
          <a:xfrm rot="10800000" flipV="1">
            <a:off x="496570" y="5142230"/>
            <a:ext cx="3485515" cy="64706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>
            <p:custDataLst>
              <p:tags r:id="rId35"/>
            </p:custDataLst>
          </p:nvPr>
        </p:nvSpPr>
        <p:spPr>
          <a:xfrm rot="10800000" flipV="1">
            <a:off x="4522470" y="4009390"/>
            <a:ext cx="1402080" cy="9766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: 圆角 36"/>
          <p:cNvSpPr/>
          <p:nvPr>
            <p:custDataLst>
              <p:tags r:id="rId36"/>
            </p:custDataLst>
          </p:nvPr>
        </p:nvSpPr>
        <p:spPr>
          <a:xfrm rot="10800000" flipV="1">
            <a:off x="4203700" y="5843270"/>
            <a:ext cx="2175510" cy="9766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36"/>
          <p:cNvSpPr/>
          <p:nvPr>
            <p:custDataLst>
              <p:tags r:id="rId37"/>
            </p:custDataLst>
          </p:nvPr>
        </p:nvSpPr>
        <p:spPr>
          <a:xfrm rot="10800000" flipV="1">
            <a:off x="6937375" y="5066030"/>
            <a:ext cx="2175510" cy="9766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zh-CN"/>
              <a:t>CoCa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76220" y="1739900"/>
            <a:ext cx="9304020" cy="396621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0" y="2992755"/>
            <a:ext cx="2974975" cy="1169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Attention Pooling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ITC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ViT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提取的特征凝练成一个特征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LM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ViT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提取的特征凝练成多个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特征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220845" y="5861685"/>
            <a:ext cx="297497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直接使用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Decoder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347845" y="1570990"/>
            <a:ext cx="297497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相当于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LM Loss(GPT)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966845" y="3231515"/>
            <a:ext cx="2974975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相当于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ITC Loss(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CLIP)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矩形: 圆角 36"/>
          <p:cNvSpPr/>
          <p:nvPr>
            <p:custDataLst>
              <p:tags r:id="rId7"/>
            </p:custDataLst>
          </p:nvPr>
        </p:nvSpPr>
        <p:spPr>
          <a:xfrm rot="10800000" flipV="1">
            <a:off x="4485005" y="3041015"/>
            <a:ext cx="1950720" cy="4864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36"/>
          <p:cNvSpPr/>
          <p:nvPr>
            <p:custDataLst>
              <p:tags r:id="rId8"/>
            </p:custDataLst>
          </p:nvPr>
        </p:nvSpPr>
        <p:spPr>
          <a:xfrm rot="10800000" flipV="1">
            <a:off x="84455" y="2992755"/>
            <a:ext cx="4136390" cy="11690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9"/>
            </p:custDataLst>
          </p:nvPr>
        </p:nvSpPr>
        <p:spPr>
          <a:xfrm rot="10800000" flipV="1">
            <a:off x="4347210" y="2157730"/>
            <a:ext cx="2733675" cy="40982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36"/>
          <p:cNvSpPr/>
          <p:nvPr>
            <p:custDataLst>
              <p:tags r:id="rId10"/>
            </p:custDataLst>
          </p:nvPr>
        </p:nvSpPr>
        <p:spPr>
          <a:xfrm rot="10800000" flipV="1">
            <a:off x="4347845" y="1484630"/>
            <a:ext cx="2733675" cy="6731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BEiT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68900" y="1887220"/>
            <a:ext cx="7023100" cy="44932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5761990" cy="284416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0" y="2992755"/>
            <a:ext cx="3156585" cy="1532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掩码策略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单模态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mask 15%token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多模态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mask 50%token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单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多模态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:mask 40%patch(BEiTv2)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274695" y="2744470"/>
            <a:ext cx="2091690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统一掩码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信息输入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562600" y="1759585"/>
            <a:ext cx="151130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对于纯视觉任务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只采用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V-FFN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073900" y="1759585"/>
            <a:ext cx="151130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对于纯文本任务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只采用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L-FFN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9319895" y="1584325"/>
            <a:ext cx="228600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对于多模态深度交互任务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全部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运行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5876290" y="6378575"/>
            <a:ext cx="228600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对于多模态检索任务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CLIP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350375" y="6238875"/>
            <a:ext cx="2286000" cy="57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对于多模态生成任务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因果掩码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[Decoder]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遮住未来的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BLIP-2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275840"/>
            <a:ext cx="4622800" cy="2324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73025"/>
            <a:ext cx="7211500" cy="21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67000" y="5193665"/>
            <a:ext cx="4763579" cy="162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05955" y="2679700"/>
            <a:ext cx="5158740" cy="178816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-127000" y="4467860"/>
            <a:ext cx="2509520" cy="1011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可学习的查询向量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32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每个维度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768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最终输出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32x768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送入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ViT257x1024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是压缩表示，提取最有效的图像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语义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238240" y="4848860"/>
            <a:ext cx="133985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SA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互相都能看见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88885" y="5193665"/>
            <a:ext cx="4595192" cy="16200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3583940" y="4721225"/>
            <a:ext cx="2645410" cy="918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文本特征和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32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个图片特征分别计算二分类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logit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32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个平均的作为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logit</a:t>
            </a:r>
            <a:endParaRPr lang="en-US" altLang="zh-CN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0873740" y="4733290"/>
            <a:ext cx="1466215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SA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互相看不见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9236075" y="4696460"/>
            <a:ext cx="2148205" cy="918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CLS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32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个图片特征分别计算相似度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32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个中最大的作为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相似度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4853940" y="3469640"/>
            <a:ext cx="2345690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只看自己，看不到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能看见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QT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看不到未来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-309880" y="6118860"/>
            <a:ext cx="2938780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SA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FFN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都是从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BERT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初始化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CA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是随机初始化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两个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Transformer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共享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SA</a:t>
            </a:r>
            <a:endParaRPr lang="en-US" altLang="zh-CN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7706360" y="4696460"/>
            <a:ext cx="1767205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因为参数量小了，所以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BatchSize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可以很大，所以取消了动量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4980940" y="4105275"/>
            <a:ext cx="2345690" cy="1191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文本只能知道当前位置之前的文本和整张图像信息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2667000" y="4697730"/>
            <a:ext cx="4911090" cy="216027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894965" y="4825365"/>
            <a:ext cx="868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ITM</a:t>
            </a:r>
            <a:endParaRPr lang="zh-CN" altLang="en-US" sz="2400"/>
          </a:p>
        </p:txBody>
      </p:sp>
      <p:sp>
        <p:nvSpPr>
          <p:cNvPr id="26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7635240" y="4667250"/>
            <a:ext cx="4557395" cy="220345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9594215" y="5934710"/>
            <a:ext cx="868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IT</a:t>
            </a:r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C</a:t>
            </a:r>
            <a:endParaRPr lang="en-US" altLang="zh-CN" sz="2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5592445" y="2858770"/>
            <a:ext cx="868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LM</a:t>
            </a:r>
            <a:endParaRPr lang="en-US" altLang="zh-CN" sz="2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29" name="矩形: 圆角 36"/>
          <p:cNvSpPr/>
          <p:nvPr>
            <p:custDataLst>
              <p:tags r:id="rId24"/>
            </p:custDataLst>
          </p:nvPr>
        </p:nvSpPr>
        <p:spPr>
          <a:xfrm rot="10800000" flipV="1">
            <a:off x="4854575" y="2744470"/>
            <a:ext cx="7310755" cy="18503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: 圆角 36"/>
          <p:cNvSpPr/>
          <p:nvPr>
            <p:custDataLst>
              <p:tags r:id="rId25"/>
            </p:custDataLst>
          </p:nvPr>
        </p:nvSpPr>
        <p:spPr>
          <a:xfrm rot="10800000" flipV="1">
            <a:off x="0" y="4104640"/>
            <a:ext cx="2224405" cy="15113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: 圆角 36"/>
          <p:cNvSpPr/>
          <p:nvPr>
            <p:custDataLst>
              <p:tags r:id="rId26"/>
            </p:custDataLst>
          </p:nvPr>
        </p:nvSpPr>
        <p:spPr>
          <a:xfrm rot="10800000" flipV="1">
            <a:off x="45720" y="6070600"/>
            <a:ext cx="2345690" cy="726440"/>
          </a:xfrm>
          <a:prstGeom prst="roundRect">
            <a:avLst>
              <a:gd name="adj" fmla="val 10039"/>
            </a:avLst>
          </a:prstGeom>
          <a:noFill/>
          <a:ln w="38100">
            <a:solidFill>
              <a:srgbClr val="99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36"/>
          <p:cNvSpPr/>
          <p:nvPr>
            <p:custDataLst>
              <p:tags r:id="rId27"/>
            </p:custDataLst>
          </p:nvPr>
        </p:nvSpPr>
        <p:spPr>
          <a:xfrm rot="10800000" flipV="1">
            <a:off x="3170555" y="1457960"/>
            <a:ext cx="789305" cy="33782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>
            <p:custDataLst>
              <p:tags r:id="rId28"/>
            </p:custDataLst>
          </p:nvPr>
        </p:nvCxnSpPr>
        <p:spPr>
          <a:xfrm flipH="1" flipV="1">
            <a:off x="3994785" y="1804035"/>
            <a:ext cx="544830" cy="5568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>
            <p:custDataLst>
              <p:tags r:id="rId29"/>
            </p:custDataLst>
          </p:nvPr>
        </p:nvCxnSpPr>
        <p:spPr>
          <a:xfrm flipV="1">
            <a:off x="47625" y="1804035"/>
            <a:ext cx="312293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: 圆角 36"/>
          <p:cNvSpPr/>
          <p:nvPr>
            <p:custDataLst>
              <p:tags r:id="rId30"/>
            </p:custDataLst>
          </p:nvPr>
        </p:nvSpPr>
        <p:spPr>
          <a:xfrm rot="10800000" flipV="1">
            <a:off x="3170555" y="60960"/>
            <a:ext cx="2147570" cy="10121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: 圆角 36"/>
          <p:cNvSpPr/>
          <p:nvPr>
            <p:custDataLst>
              <p:tags r:id="rId31"/>
            </p:custDataLst>
          </p:nvPr>
        </p:nvSpPr>
        <p:spPr>
          <a:xfrm rot="10800000" flipV="1">
            <a:off x="7051040" y="231140"/>
            <a:ext cx="2509520" cy="77406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7063740" y="266065"/>
            <a:ext cx="2509520" cy="1011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Q-Former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学习后的查询向量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通过全链接层转化为适合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的输入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维度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33"/>
            </p:custDataLst>
          </p:nvPr>
        </p:nvCxnSpPr>
        <p:spPr>
          <a:xfrm flipH="1">
            <a:off x="5318125" y="373380"/>
            <a:ext cx="1776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7190740" y="1336675"/>
            <a:ext cx="2509520" cy="1011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适配两种大模型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1. Decoder-Only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2.Encoder-Decoder</a:t>
            </a:r>
            <a:b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BLIP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进行数据清洗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矩形: 圆角 36"/>
          <p:cNvSpPr/>
          <p:nvPr>
            <p:custDataLst>
              <p:tags r:id="rId35"/>
            </p:custDataLst>
          </p:nvPr>
        </p:nvSpPr>
        <p:spPr>
          <a:xfrm rot="10800000" flipV="1">
            <a:off x="4622800" y="1790065"/>
            <a:ext cx="1339850" cy="9182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4623435" y="2185670"/>
            <a:ext cx="1339850" cy="556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将查询向量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上文一起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送入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9700260" y="381000"/>
            <a:ext cx="2509520" cy="1011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>
                <a:latin typeface="微软雅黑" charset="0"/>
                <a:ea typeface="微软雅黑" charset="0"/>
                <a:cs typeface="微软雅黑" charset="0"/>
              </a:rPr>
              <a:t>BILP-2</a:t>
            </a:r>
            <a:endParaRPr lang="en-US" altLang="zh-CN" sz="4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38"/>
            </p:custDataLst>
          </p:nvPr>
        </p:nvSpPr>
        <p:spPr>
          <a:xfrm>
            <a:off x="9473565" y="1343025"/>
            <a:ext cx="2509520" cy="1011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分步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训练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Step1: Q-Former(Image Encoder)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Step2: Q-Former(LLM)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Flamingo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44795" y="3157220"/>
            <a:ext cx="6847840" cy="28822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0350" y="2783205"/>
            <a:ext cx="5084445" cy="378968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1332230" y="6118860"/>
            <a:ext cx="2456815" cy="66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来自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64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个可学习的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KV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来自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ResNet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提取的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图像特征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7104380" y="5883275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tanh gating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标量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作用是让刚开始训练时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参数置零（不起作用）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开始学习只有文本特征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(CA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不起作用，文本残差链接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随着学习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tanh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逐渐不是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0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，相当于逐渐引入图像信息（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40330" y="13970"/>
            <a:ext cx="6706235" cy="3143250"/>
          </a:xfrm>
          <a:prstGeom prst="rect">
            <a:avLst/>
          </a:prstGeom>
        </p:spPr>
      </p:pic>
      <p:sp>
        <p:nvSpPr>
          <p:cNvPr id="41" name="矩形: 圆角 36"/>
          <p:cNvSpPr/>
          <p:nvPr>
            <p:custDataLst>
              <p:tags r:id="rId9"/>
            </p:custDataLst>
          </p:nvPr>
        </p:nvSpPr>
        <p:spPr>
          <a:xfrm rot="10800000" flipV="1">
            <a:off x="2782570" y="871855"/>
            <a:ext cx="2744470" cy="141351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: 圆角 36"/>
          <p:cNvSpPr/>
          <p:nvPr>
            <p:custDataLst>
              <p:tags r:id="rId10"/>
            </p:custDataLst>
          </p:nvPr>
        </p:nvSpPr>
        <p:spPr>
          <a:xfrm rot="10800000" flipV="1">
            <a:off x="6096635" y="1291590"/>
            <a:ext cx="2743835" cy="5645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11"/>
            </p:custDataLst>
          </p:nvPr>
        </p:nvSpPr>
        <p:spPr>
          <a:xfrm rot="10800000" flipV="1">
            <a:off x="0" y="3067685"/>
            <a:ext cx="5189855" cy="37903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: 圆角 36"/>
          <p:cNvSpPr/>
          <p:nvPr>
            <p:custDataLst>
              <p:tags r:id="rId12"/>
            </p:custDataLst>
          </p:nvPr>
        </p:nvSpPr>
        <p:spPr>
          <a:xfrm rot="10800000" flipV="1">
            <a:off x="5527040" y="3067685"/>
            <a:ext cx="6664960" cy="379031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>
            <p:custDataLst>
              <p:tags r:id="rId13"/>
            </p:custDataLst>
          </p:nvPr>
        </p:nvCxnSpPr>
        <p:spPr>
          <a:xfrm flipV="1">
            <a:off x="198120" y="2282190"/>
            <a:ext cx="2591435" cy="7867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14"/>
            </p:custDataLst>
          </p:nvPr>
        </p:nvCxnSpPr>
        <p:spPr>
          <a:xfrm flipV="1">
            <a:off x="5077460" y="2294255"/>
            <a:ext cx="387350" cy="8591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5"/>
            </p:custDataLst>
          </p:nvPr>
        </p:nvCxnSpPr>
        <p:spPr>
          <a:xfrm flipV="1">
            <a:off x="5646420" y="1856105"/>
            <a:ext cx="450215" cy="13093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16"/>
            </p:custDataLst>
          </p:nvPr>
        </p:nvCxnSpPr>
        <p:spPr>
          <a:xfrm flipH="1" flipV="1">
            <a:off x="8840470" y="1856105"/>
            <a:ext cx="3114040" cy="12128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LLaVA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53025" y="0"/>
            <a:ext cx="6354445" cy="415099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524000" y="532765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初始信息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CoCo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数据集为例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图像描述（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Image Caption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物体检测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标注（Bounding Boxes）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016000" y="1764030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VQA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根据拥有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Caption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Bound Box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通过问答的形式生成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对话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016000" y="2472055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完整描述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对图像进行更详细的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描述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1016000" y="3228975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复杂推理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结合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，并提出更深层次的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17370" y="4082415"/>
            <a:ext cx="6565900" cy="21082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617220" y="6004560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图像进入冻结的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VE(CLIP ViT-L/14)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617220" y="4969510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简单的线性投影映射到与文本维度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一致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7456805" y="4709795"/>
            <a:ext cx="462026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两阶段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固定视觉编码器和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，对投影层断到端微调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优化：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Caption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和数据集原始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Caption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固定视觉编码器，对投影层和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Caption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优化数据集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+ScienceQA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: 圆角 36"/>
          <p:cNvSpPr/>
          <p:nvPr>
            <p:custDataLst>
              <p:tags r:id="rId12"/>
            </p:custDataLst>
          </p:nvPr>
        </p:nvSpPr>
        <p:spPr>
          <a:xfrm rot="10800000" flipV="1">
            <a:off x="2106295" y="180340"/>
            <a:ext cx="9400540" cy="145097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1262380" y="1728470"/>
            <a:ext cx="10245090" cy="4895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: 圆角 36"/>
          <p:cNvSpPr/>
          <p:nvPr>
            <p:custDataLst>
              <p:tags r:id="rId14"/>
            </p:custDataLst>
          </p:nvPr>
        </p:nvSpPr>
        <p:spPr>
          <a:xfrm rot="10800000" flipV="1">
            <a:off x="1280795" y="2218055"/>
            <a:ext cx="10245090" cy="7607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1257300" y="2997200"/>
            <a:ext cx="10245090" cy="9232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InstructBL</a:t>
            </a:r>
            <a:r>
              <a:rPr lang="en-US" altLang="zh-CN"/>
              <a:t>IP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06475" y="123825"/>
            <a:ext cx="5758180" cy="3171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71185" y="4018280"/>
            <a:ext cx="6520815" cy="283972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085215" y="99695"/>
            <a:ext cx="13512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描述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87295" y="99695"/>
            <a:ext cx="13512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视觉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推理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860165" y="123825"/>
            <a:ext cx="13512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视觉对话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325110" y="123825"/>
            <a:ext cx="13512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视频问答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80745" y="1298575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图像阅读理解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3650615" y="844550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知识支撑的图像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80745" y="2103755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385060" y="2013585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图像问题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5142865" y="1577340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带文字的图像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描述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5085715" y="2595245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分类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3757295" y="1995805"/>
            <a:ext cx="177038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LLaVA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963535" y="123825"/>
            <a:ext cx="4062730" cy="3894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图像描述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看到一张图，生成自然语言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COCO：最长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用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Web CapFilt：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网络图像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文字筛选（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BLIP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NoCaps: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更具挑战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Flickr30K: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更偏向生活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场景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视觉推理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理解图像并进行逻辑判断、对比、推理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GQA: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复杂结构化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VSR: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空间方位关系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推理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IconQA: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图标识别类推理，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偏考试场景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视觉对话问答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基于图像渡轮对话问答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VD: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具有历史对话上下文的问答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人物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视频回答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处理视频中跨时间问题，输出文本答案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MSVD 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短视频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答案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MSRVTT 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复杂场景视频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iVQA: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互动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式视频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问答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172085" y="3151505"/>
            <a:ext cx="4570730" cy="3894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图像阅读理解问答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读取图像中文字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(OCR)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并回答问题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OCR-VQA: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提取文字信息，强调定位识别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TextVQA: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强调跨模态信息融合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知识支撑的图像问答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答案需要结合图像与外部知识（常识、科学）推理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OKVQA: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图片本身信息不足，多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跳推理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A-OKVQA: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强调泛化性和知识涵盖面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ScienceVQA: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小学科学题目，评估科学常识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图像问答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根据图像回答用户问题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VQAv2: 标准通用问答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，考察基础问答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VizWiz: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图像质量低，评估鲁棒性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图像问题生成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给图像与答案，模拟生成问题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带文字的图像描述</a:t>
            </a:r>
            <a:endParaRPr lang="en-US" altLang="zh-CN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包含重要刻度文字，模型需结合理解生成描述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TextCaps: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OCR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要求高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图像分类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45720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HatefulMemes: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判断是否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为仇恨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言论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4207510" y="3180080"/>
            <a:ext cx="3359150" cy="1464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黄色作为微调训练</a:t>
            </a:r>
            <a:b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白色作为</a:t>
            </a:r>
            <a:r>
              <a:rPr lang="en-US" altLang="zh-CN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zero-shot</a:t>
            </a: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测试</a:t>
            </a:r>
            <a:b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零样本评估方式</a:t>
            </a:r>
            <a:b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学习过相同任务其他数据集</a:t>
            </a:r>
            <a:b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完全为了解过</a:t>
            </a:r>
            <a:r>
              <a:rPr lang="zh-CN" altLang="en-US" sz="16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任务</a:t>
            </a:r>
            <a:endParaRPr lang="zh-CN" altLang="en-US" sz="16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8056880" y="4876165"/>
            <a:ext cx="143192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BLIP-2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相同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多引入指令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适配不同下游任务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8143240" y="4018915"/>
            <a:ext cx="1260475" cy="1995805"/>
          </a:xfrm>
          <a:prstGeom prst="roundRect">
            <a:avLst>
              <a:gd name="adj" fmla="val 10039"/>
            </a:avLst>
          </a:prstGeom>
          <a:noFill/>
          <a:ln w="38100">
            <a:solidFill>
              <a:srgbClr val="99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3217</Words>
  <Application>WPS 演示</Application>
  <PresentationFormat>宽屏</PresentationFormat>
  <Paragraphs>305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LLaVA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40</cp:revision>
  <dcterms:created xsi:type="dcterms:W3CDTF">2025-06-22T13:58:12Z</dcterms:created>
  <dcterms:modified xsi:type="dcterms:W3CDTF">2025-06-22T13:58:12Z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FE2E70ACB1324E524CC6546873196481_41</vt:lpwstr>
  </property>
</Properties>
</file>